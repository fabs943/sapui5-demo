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instieg" id="{c50f63b8-8744-b0e2-46ef-843a8e7daa00}">
          <p14:sldIdLst>
            <p14:sldId id="256"/>
            <p14:sldId id="257"/>
          </p14:sldIdLst>
        </p14:section>
        <p14:section name="Einordnung" id="{7c7cdd1d-71ee-5732-f5e6-038266c316c2}">
          <p14:sldIdLst>
            <p14:sldId id="258"/>
          </p14:sldIdLst>
        </p14:section>
        <p14:section name="Demo" id="{f527c130-a15b-e106-c9bd-97f200c16089}">
          <p14:sldIdLst>
            <p14:sldId id="259"/>
            <p14:sldId id="260"/>
            <p14:sldId id="261"/>
            <p14:sldId id="262"/>
          </p14:sldIdLst>
        </p14:section>
        <p14:section name="Bewertung" id="{a534fe8d-8eeb-5c5f-58e7-b9cad7f4a6f4}">
          <p14:sldIdLst>
            <p14:sldId id="263"/>
            <p14:sldId id="264"/>
            <p14:sldId id="265"/>
          </p14:sldIdLst>
        </p14:section>
        <p14:section name="Shopfloor" id="{c3dd8e35-6b81-a471-08f3-34ea3636b3ac}">
          <p14:sldIdLst>
            <p14:sldId id="266"/>
            <p14:sldId id="267"/>
            <p14:sldId id="268"/>
            <p14:sldId id="269"/>
          </p14:sldIdLst>
        </p14:section>
        <p14:section name="Vorschlag" id="{70658427-cd66-3d6f-7508-e7323a82a575}">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B34"/>
                </a:solidFill>
                <a:latin typeface="+mn-lt"/>
              </a:defRPr>
            </a:pPr>
            <a:r>
              <a:rPr sz="1400" b="0" i="0" u="none" strike="noStrike">
                <a:solidFill>
                  <a:srgbClr val="1B2B34"/>
                </a:solidFill>
                <a:latin typeface="+mn-lt"/>
              </a:rPr>
              <a:t>Codezeilen nach Art</a:t>
            </a:r>
          </a:p>
        </c:rich>
      </c:tx>
      <c:layout/>
      <c:overlay val="0"/>
    </c:title>
    <c:autoTitleDeleted val="0"/>
    <c:plotArea>
      <c:layout/>
      <c:barChart>
        <c:barDir val="bar"/>
        <c:grouping val="clustered"/>
        <c:varyColors val="0"/>
        <c:ser>
          <c:idx val="0"/>
          <c:order val="0"/>
          <c:tx>
            <c:strRef>
              <c:f>Sheet1!$B$1</c:f>
              <c:strCache>
                <c:ptCount val="1"/>
                <c:pt idx="0">
                  <c:v>Fiori Elements</c:v>
                </c:pt>
              </c:strCache>
            </c:strRef>
          </c:tx>
          <c:spPr>
            <a:solidFill>
              <a:srgbClr val="1F8A70"/>
            </a:solidFill>
            <a:effectLst/>
          </c:spPr>
          <c:invertIfNegative val="0"/>
          <c:dLbls>
            <c:numFmt formatCode="#,##0" sourceLinked="0"/>
            <c:txPr>
              <a:bodyPr/>
              <a:lstStyle/>
              <a:p>
                <a:pPr>
                  <a:defRPr b="0" i="0" strike="noStrike" sz="1100" u="none">
                    <a:solidFill>
                      <a:srgbClr val="1B2B34"/>
                    </a:solidFill>
                    <a:latin typeface="+mn-lt"/>
                  </a:defRPr>
                </a:pPr>
              </a:p>
            </c:txPr>
            <c:showLegendKey val="0"/>
            <c:showVal val="1"/>
            <c:showCatName val="0"/>
            <c:showSerName val="0"/>
            <c:showPercent val="0"/>
            <c:showBubbleSize val="0"/>
            <c:showLeaderLines val="0"/>
          </c:dLbls>
          <c:cat>
            <c:multiLvlStrRef>
              <c:f>Sheet1!$A$2:$A$6</c:f>
              <c:multiLvlStrCache>
                <c:ptCount val="5"/>
                <c:lvl>
                  <c:pt idx="0">
                    <c:v>Annotationen</c:v>
                  </c:pt>
                  <c:pt idx="1">
                    <c:v>XML-Views</c:v>
                  </c:pt>
                  <c:pt idx="2">
                    <c:v>JavaScript</c:v>
                  </c:pt>
                  <c:pt idx="3">
                    <c:v>manifest.json</c:v>
                  </c:pt>
                  <c:pt idx="4">
                    <c:v>i18n-Texte</c:v>
                  </c:pt>
                </c:lvl>
              </c:multiLvlStrCache>
            </c:multiLvlStrRef>
          </c:cat>
          <c:val>
            <c:numRef>
              <c:f>Sheet1!$B$2:$B$6</c:f>
              <c:numCache>
                <c:formatCode>General</c:formatCode>
                <c:ptCount val="5"/>
                <c:pt idx="0">
                  <c:v>235</c:v>
                </c:pt>
                <c:pt idx="1">
                  <c:v>0</c:v>
                </c:pt>
                <c:pt idx="2">
                  <c:v>8</c:v>
                </c:pt>
                <c:pt idx="3">
                  <c:v>107</c:v>
                </c:pt>
                <c:pt idx="4">
                  <c:v>2</c:v>
                </c:pt>
              </c:numCache>
            </c:numRef>
          </c:val>
        </c:ser>
        <c:ser>
          <c:idx val="1"/>
          <c:order val="1"/>
          <c:tx>
            <c:strRef>
              <c:f>Sheet1!$C$1</c:f>
              <c:strCache>
                <c:ptCount val="1"/>
                <c:pt idx="0">
                  <c:v>Freestyle</c:v>
                </c:pt>
              </c:strCache>
            </c:strRef>
          </c:tx>
          <c:spPr>
            <a:solidFill>
              <a:srgbClr val="D9661F"/>
            </a:solidFill>
            <a:effectLst/>
          </c:spPr>
          <c:invertIfNegative val="0"/>
          <c:dLbls>
            <c:numFmt formatCode="#,##0" sourceLinked="0"/>
            <c:txPr>
              <a:bodyPr/>
              <a:lstStyle/>
              <a:p>
                <a:pPr>
                  <a:defRPr b="0" i="0" strike="noStrike" sz="1100" u="none">
                    <a:solidFill>
                      <a:srgbClr val="1B2B34"/>
                    </a:solidFill>
                    <a:latin typeface="+mn-lt"/>
                  </a:defRPr>
                </a:pPr>
              </a:p>
            </c:txPr>
            <c:showLegendKey val="0"/>
            <c:showVal val="1"/>
            <c:showCatName val="0"/>
            <c:showSerName val="0"/>
            <c:showPercent val="0"/>
            <c:showBubbleSize val="0"/>
            <c:showLeaderLines val="0"/>
          </c:dLbls>
          <c:cat>
            <c:multiLvlStrRef>
              <c:f>Sheet1!$A$2:$A$6</c:f>
              <c:multiLvlStrCache>
                <c:ptCount val="5"/>
                <c:lvl>
                  <c:pt idx="0">
                    <c:v>Annotationen</c:v>
                  </c:pt>
                  <c:pt idx="1">
                    <c:v>XML-Views</c:v>
                  </c:pt>
                  <c:pt idx="2">
                    <c:v>JavaScript</c:v>
                  </c:pt>
                  <c:pt idx="3">
                    <c:v>manifest.json</c:v>
                  </c:pt>
                  <c:pt idx="4">
                    <c:v>i18n-Texte</c:v>
                  </c:pt>
                </c:lvl>
              </c:multiLvlStrCache>
            </c:multiLvlStrRef>
          </c:cat>
          <c:val>
            <c:numRef>
              <c:f>Sheet1!$C$2:$C$6</c:f>
              <c:numCache>
                <c:formatCode>General</c:formatCode>
                <c:ptCount val="5"/>
                <c:pt idx="0">
                  <c:v>0</c:v>
                </c:pt>
                <c:pt idx="1">
                  <c:v>259</c:v>
                </c:pt>
                <c:pt idx="2">
                  <c:v>246</c:v>
                </c:pt>
                <c:pt idx="3">
                  <c:v>85</c:v>
                </c:pt>
                <c:pt idx="4">
                  <c:v>39</c:v>
                </c:pt>
              </c:numCache>
            </c:numRef>
          </c:val>
        </c:ser>
        <c:dLbls>
          <c:numFmt formatCode="#,##0" sourceLinked="0"/>
          <c:txPr>
            <a:bodyPr/>
            <a:lstStyle/>
            <a:p>
              <a:pPr>
                <a:defRPr b="0" i="0" strike="noStrike" sz="1100" u="none">
                  <a:solidFill>
                    <a:srgbClr val="1B2B34"/>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E727B"/>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2B34"/>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Einstieg: In vielen Gesprächen heißt es aktuell 'wir bauen das in Fiori' oder 'das wird eine SAPUI5-App'. Für Anwender sieht alles gleich aus, im Horizon-Design, mit Filterleiste und Tabelle. Technisch sind das aber drei sehr unterschiedliche Dinge mit sehr unterschiedlichem Aufwand. Heute zeige ich das an einer konkreten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Drei Botschaften: 1) Das Aussehen sagt nichts über den Aufwand. 2) Eine Freestyle-App ist eigene Software, für die wir den kompletten Lebenszyklus tragen. 3) Mein Vorschlag: Fiori Elements ist der Standard, Freestyle die begründete Ausnahme.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drei Varianten: Bei Fiori Elements liefert SAP die komplette Oberflächenlogik, wir beschreiben nur per Annotation, was angezeigt wird. Bei RAP liegen diese Annotationen direkt im ABAP-Backend in CDS, die UI-Schicht ist praktisch leer – das ist der Weg, den SAP für S/4 empfiehlt. Bei Freestyle liefert SAP nur die Bausteine, also Buttons, Tabellen, Eingabefelder. Alles dazwischen bauen und warten wir selbst.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 jetzt live die beiden Apps zeigen (beide laufen lokal). Gleiche Daten aus dem öffentlichen Northwind-OData-Service, gleiche Anforderung. Frage ans Publikum: Welche ist welche? – Man sieht es praktisch nicht. Dann zeigen, was Fiori Elements zusätzlich kann: Varianten speichern, Spalten anpassen, 'Filter anpassen'.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Gemessen mit einem Skript im Demo-Repo (compare.mjs), Leerzeilen und Kommentare nicht mitgezählt. Wichtig ist nicht die Gesamtzahl der Zeilen, sondern die Art: 235 Zeilen Annotationen bei Fiori Elements sind reine Beschreibung. Bei Freestyle sind es rund 500 Zeilen Views und JavaScript mit Event-Handlern, Filterlogik und Navigation – das ist Programmcode, den wir testen und bei jedem Upgrade prüfen müssen. Und das bei weniger Funktionsumfang, wie die nächste Folie zeigt. Mit RAP wären die Annotationen im Backend und deutlich kompakter.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ist der Punkt, der oft übersehen wird: Die Freestyle-App hat schon mehr Code und kann trotzdem weniger. Varianten, Personalisierung, Filter anpassen – all das bekommt Fiori Elements geschenkt. In Freestyle wären das jeweils eigene Entwicklungen, mit eigenem Test- und Wartungsaufwand.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zeigen, wenn Zeit ist: Bei Fiori Elements ergänze ich die Region an drei Stellen in einer Datei, alles andere passiert automatisch. Bei Freestyle muss ich fünf Dateien an acht Stellen anfassen – und danach alles manuell testen, weil jede Stelle eine eigene Fehlerquelle ist. Das ist eine Mini-Änderung. Hochgerechnet auf den Lebenszyklus einer App mit vielen Change Requests wird der Unterschied erheblich.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ist der Kern meiner Botschaft: Mit Freestyle übernehmen wir die volle Verantwortung für eine eigene Frontend-Software. Paketmanagement: Jede App bringt ihre eigenen npm-Abhängigkeiten mit, die regelmäßig aktualisiert werden müssen, auch wegen Sicherheitslücken. Upgrades: SAP entfernt veraltete APIs, das betrifft unseren Code direkt. Bei Fiori Elements migriert SAP die Templates. Dazu kommen Tests, Know-how und Barrierefreiheit. Das ist ein Dauerauftrag, kein Einmalaufwand.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Früher war eine Oberfläche ein Objekt im System, transportiert und mit dem System aktualisiert. Fiori Elements mit RAP kommt diesem Modell am nächsten: Die Logik liegt wieder im Backend, SAP pflegt die Oberfläche. Freestyle dagegen ist klassische Webentwicklung mit eigenem Lebenszyklus neben dem SAP-System.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Ich will Freestyle nicht schlechtreden: Es gibt Anforderungen, für die es genau richtig ist, etwa Planungstafeln oder sehr spezielle Abläufe. Und Fiori Elements hat Grenzen, man muss Annotationen und RAP lernen, und Sonderwünsche gehen nur über das Flexible Programming Model. Aber: Diese Grenzen sind meist kleiner als gedacht, und die Wartungslast von Freestyle ist meist größer als gedacht.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Kollegen aus Lager und Produktion haben recht: Dort zählt jeder Klick, multipliziert mit hunderten Buchungen pro Tag und Schicht. Große Flächen, sichtbare Buttons, wenige Schritte, Scanner. Das ist der häufigste Grund, warum Freestyle gefordert wird. Ich will das ernst nehmen und zeigen, wo der Standard das schon abdeckt und wo die echten technischen Grenzen liegen.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Vieles, was als Grund für Freestyle genannt wird, kann Fiori Elements bereits: Der Cozy-Modus ist genau für Touch gedacht. Aktionen lassen sich fest in die Fußleiste oder direkt in die Tabellenzeile legen, dann ist es ein Klick. Parameter können vorbelegt werden. Handscanner verhalten sich wie eine Tastatur und funktionieren damit überall. Für den Scan per Handy- oder Tablet-Kamera gibt es in SAPUI5 einen fertigen Baustein (BarcodeScannerButton); in Fiori Elements ist er nicht eingebaut, wird aber als kleine Erweiterung ergänzt. Und das Aussehen steuern wir zentral über ein Firmen-Theme statt über CSS in jeder einzelnen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Ehrlich gesagt: Fiori Elements hat hier echte Grenzen. Das Layout folgt festen Floorplans, man kann einen großen grünen Button nicht frei in die Mitte setzen, und eigenes CSS ist nicht vorgesehen. Für Kamera-Scan oder einen echten Scan-Schnellablauf brauchen wir eine Erweiterung. Wichtig für beide Varianten: Der Browser gibt die Kamera nur über HTTPS frei, und bei vielen Scans pro Schicht ist ein Handscanner klar schneller als die Handy-Kamera. Aber auch Freestyle hat Grenzen, die oft übersehen werden: Wer UI5-Controls per CSS umgestaltet, greift in interne Klassen und Strukturen ein. Die sind kein offizielles API, SAP kann sie mit jedem Release ändern – und dann sieht die App nach dem Upgrade plötzlich anders aus oder ist kaputt. Offline können beide nicht ohne Weiteres; dafür gibt es eigene SAP-Lösungen wie das Mobile Development Kit, die man dann separat bewerten müsste.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Daraus ergibt sich eine pragmatische Entscheidungshilfe: Übersichten und Disposition am PC – klar Fiori Elements. Bestätigen am Tablet – Fiori Elements im Touch-Modus mit Aktion direkt in der Zeile. Gelegentlicher Kamera-Scan – Fiori Elements mit dem Scanner-Baustein als Erweiterung. Wenn ein Spezialteil nötig ist, erweitern wir Fiori Elements gezielt. Für einen wirklich scan-getriebenen Schnellablauf, der hunderte Male pro Schicht läuft, ist eine schlanke Freestyle-App gerechtfertigt – aber genau für diesen einen Ablauf, nicht als Nachbau einer kompletten Anwendung. Offline ist ein eigenes Thema und braucht eine eigene Bewertung.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Mein Vorschlag als einfache Leitplanke: Wir prüfen immer zuerst Fiori Elements mit RAP. Reicht das nicht, erweitern wir Fiori Elements gezielt. Erst wenn beides nicht passt, wird Freestyle gebaut – und dann bewusst, mit Begründung, einem Owner und eingeplantem Wartungsbudget. Die drei Prüffragen können wir in jede Anforderungsklärung aufnehmen.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Zusammenfassung: Gleiches Aussehen heißt nicht gleicher Aufwand. Ich schlage vier konkrete Schritte vor und würde gerne heute festhalten, dass Fiori Elements mit RAP unser Standard ist und Freestyle-Apps künftig kurz begründet werden müssen. Fragen?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UNKEL">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6766560" cy="201168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731520" y="3977640"/>
            <a:ext cx="6766560" cy="1371600"/>
          </a:xfrm>
          <a:prstGeom prst="rect">
            <a:avLst/>
          </a:prstGeom>
          <a:noFill/>
          <a:ln/>
        </p:spPr>
        <p:txBody>
          <a:bodyPr wrap="square" rtlCol="0"/>
          <a:lstStyle>
            <a:lvl1pPr indent="0" marL="0">
              <a:buNone/>
              <a:defRPr lang="en-US" sz="2200" dirty="0">
                <a:solidFill>
                  <a:schemeClr val="accent6"/>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HAL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Fiori Elements vs. SAPUI5 Freestyle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3.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3.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3.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6766560" cy="2011680"/>
          </a:xfrm>
          <a:prstGeom prst="rect">
            <a:avLst/>
          </a:prstGeom>
          <a:noFill/>
          <a:ln/>
        </p:spPr>
        <p:txBody>
          <a:bodyPr wrap="square" lIns="0" tIns="0" rIns="0" bIns="0" rtlCol="0" anchor="b"/>
          <a:lstStyle/>
          <a:p>
            <a:pPr algn="l" indent="0" marL="0">
              <a:buNone/>
            </a:pPr>
            <a:r>
              <a:rPr lang="en-US" sz="4800" b="1" dirty="0">
                <a:solidFill>
                  <a:schemeClr val="bg1"/>
                </a:solidFill>
              </a:rPr>
              <a:t>Fiori ist nicht gleich Fiori</a:t>
            </a:r>
            <a:endParaRPr lang="en-US" sz="4800" dirty="0"/>
          </a:p>
        </p:txBody>
      </p:sp>
      <p:sp>
        <p:nvSpPr>
          <p:cNvPr id="3" name="Text 0"/>
          <p:cNvSpPr/>
          <p:nvPr>
            <p:ph idx="101" type="body" hasCustomPrompt="1"/>
          </p:nvPr>
        </p:nvSpPr>
        <p:spPr>
          <a:xfrm>
            <a:off x="731520" y="3977640"/>
            <a:ext cx="6766560" cy="1371600"/>
          </a:xfrm>
          <a:prstGeom prst="rect">
            <a:avLst/>
          </a:prstGeom>
          <a:noFill/>
          <a:ln/>
        </p:spPr>
        <p:txBody>
          <a:bodyPr wrap="square" lIns="0" tIns="0" rIns="0" bIns="0" rtlCol="0" anchor="t"/>
          <a:lstStyle/>
          <a:p>
            <a:pPr indent="0" marL="0">
              <a:buNone/>
            </a:pPr>
            <a:r>
              <a:rPr lang="en-US" sz="2200" dirty="0">
                <a:solidFill>
                  <a:schemeClr val="accent6"/>
                </a:solidFill>
              </a:rPr>
              <a:t>Warum nicht jede Anforderung SAPUI5 Freestyle bedeutet</a:t>
            </a:r>
            <a:endParaRPr lang="en-US" sz="2200" dirty="0"/>
          </a:p>
        </p:txBody>
      </p:sp>
      <p:sp>
        <p:nvSpPr>
          <p:cNvPr id="4" name="Variante 1"/>
          <p:cNvSpPr/>
          <p:nvPr/>
        </p:nvSpPr>
        <p:spPr>
          <a:xfrm>
            <a:off x="8138160" y="1828800"/>
            <a:ext cx="3474720" cy="960120"/>
          </a:xfrm>
          <a:prstGeom prst="roundRect">
            <a:avLst>
              <a:gd name="adj" fmla="val 11429"/>
            </a:avLst>
          </a:prstGeom>
          <a:solidFill>
            <a:schemeClr val="accent1"/>
          </a:solidFill>
          <a:ln/>
        </p:spPr>
      </p:sp>
      <p:sp>
        <p:nvSpPr>
          <p:cNvPr id="5" name="Variante 1 Text"/>
          <p:cNvSpPr txBox="1"/>
          <p:nvPr/>
        </p:nvSpPr>
        <p:spPr>
          <a:xfrm>
            <a:off x="8321040" y="1828800"/>
            <a:ext cx="3108960" cy="960120"/>
          </a:xfrm>
          <a:prstGeom prst="rect">
            <a:avLst/>
          </a:prstGeom>
          <a:noFill/>
          <a:ln/>
        </p:spPr>
        <p:txBody>
          <a:bodyPr wrap="square" lIns="0" tIns="0" rIns="0" bIns="0" rtlCol="0" anchor="ctr"/>
          <a:lstStyle/>
          <a:p>
            <a:pPr indent="0" marL="0">
              <a:buNone/>
            </a:pPr>
            <a:r>
              <a:rPr lang="en-US" sz="1800" b="1" dirty="0">
                <a:solidFill>
                  <a:schemeClr val="bg1"/>
                </a:solidFill>
              </a:rPr>
              <a:t>Fiori Elements</a:t>
            </a:r>
            <a:endParaRPr lang="en-US" sz="1800" dirty="0"/>
          </a:p>
          <a:p>
            <a:pPr indent="0" marL="0">
              <a:buNone/>
            </a:pPr>
            <a:r>
              <a:rPr lang="en-US" sz="1300" dirty="0">
                <a:solidFill>
                  <a:schemeClr val="bg1"/>
                </a:solidFill>
              </a:rPr>
              <a:t>SAP liefert die Oberfläche</a:t>
            </a:r>
            <a:endParaRPr lang="en-US" sz="1800" dirty="0"/>
          </a:p>
        </p:txBody>
      </p:sp>
      <p:sp>
        <p:nvSpPr>
          <p:cNvPr id="6" name="Variante 2"/>
          <p:cNvSpPr/>
          <p:nvPr/>
        </p:nvSpPr>
        <p:spPr>
          <a:xfrm>
            <a:off x="8138160" y="3017520"/>
            <a:ext cx="3474720" cy="960120"/>
          </a:xfrm>
          <a:prstGeom prst="roundRect">
            <a:avLst>
              <a:gd name="adj" fmla="val 11429"/>
            </a:avLst>
          </a:prstGeom>
          <a:solidFill>
            <a:schemeClr val="accent1"/>
          </a:solidFill>
          <a:ln/>
        </p:spPr>
      </p:sp>
      <p:sp>
        <p:nvSpPr>
          <p:cNvPr id="7" name="Variante 2 Text"/>
          <p:cNvSpPr txBox="1"/>
          <p:nvPr/>
        </p:nvSpPr>
        <p:spPr>
          <a:xfrm>
            <a:off x="8321040" y="3017520"/>
            <a:ext cx="3108960" cy="960120"/>
          </a:xfrm>
          <a:prstGeom prst="rect">
            <a:avLst/>
          </a:prstGeom>
          <a:noFill/>
          <a:ln/>
        </p:spPr>
        <p:txBody>
          <a:bodyPr wrap="square" lIns="0" tIns="0" rIns="0" bIns="0" rtlCol="0" anchor="ctr"/>
          <a:lstStyle/>
          <a:p>
            <a:pPr indent="0" marL="0">
              <a:buNone/>
            </a:pPr>
            <a:r>
              <a:rPr lang="en-US" sz="1800" b="1" dirty="0">
                <a:solidFill>
                  <a:schemeClr val="bg1"/>
                </a:solidFill>
              </a:rPr>
              <a:t>RAP + UI-Annotationen</a:t>
            </a:r>
            <a:endParaRPr lang="en-US" sz="1800" dirty="0"/>
          </a:p>
          <a:p>
            <a:pPr indent="0" marL="0">
              <a:buNone/>
            </a:pPr>
            <a:r>
              <a:rPr lang="en-US" sz="1300" dirty="0">
                <a:solidFill>
                  <a:schemeClr val="bg1"/>
                </a:solidFill>
              </a:rPr>
              <a:t>Fiori Elements auf eigenem Backend</a:t>
            </a:r>
            <a:endParaRPr lang="en-US" sz="1800" dirty="0"/>
          </a:p>
        </p:txBody>
      </p:sp>
      <p:sp>
        <p:nvSpPr>
          <p:cNvPr id="8" name="Variante 3"/>
          <p:cNvSpPr/>
          <p:nvPr/>
        </p:nvSpPr>
        <p:spPr>
          <a:xfrm>
            <a:off x="8138160" y="4206240"/>
            <a:ext cx="3474720" cy="960120"/>
          </a:xfrm>
          <a:prstGeom prst="roundRect">
            <a:avLst>
              <a:gd name="adj" fmla="val 11429"/>
            </a:avLst>
          </a:prstGeom>
          <a:solidFill>
            <a:schemeClr val="accent2"/>
          </a:solidFill>
          <a:ln/>
        </p:spPr>
      </p:sp>
      <p:sp>
        <p:nvSpPr>
          <p:cNvPr id="9" name="Variante 3 Text"/>
          <p:cNvSpPr txBox="1"/>
          <p:nvPr/>
        </p:nvSpPr>
        <p:spPr>
          <a:xfrm>
            <a:off x="8321040" y="4206240"/>
            <a:ext cx="3108960" cy="960120"/>
          </a:xfrm>
          <a:prstGeom prst="rect">
            <a:avLst/>
          </a:prstGeom>
          <a:noFill/>
          <a:ln/>
        </p:spPr>
        <p:txBody>
          <a:bodyPr wrap="square" lIns="0" tIns="0" rIns="0" bIns="0" rtlCol="0" anchor="ctr"/>
          <a:lstStyle/>
          <a:p>
            <a:pPr indent="0" marL="0">
              <a:buNone/>
            </a:pPr>
            <a:r>
              <a:rPr lang="en-US" sz="1800" b="1" dirty="0">
                <a:solidFill>
                  <a:schemeClr val="bg1"/>
                </a:solidFill>
              </a:rPr>
              <a:t>SAPUI5 Freestyle</a:t>
            </a:r>
            <a:endParaRPr lang="en-US" sz="1800" dirty="0"/>
          </a:p>
          <a:p>
            <a:pPr indent="0" marL="0">
              <a:buNone/>
            </a:pPr>
            <a:r>
              <a:rPr lang="en-US" sz="1300" dirty="0">
                <a:solidFill>
                  <a:schemeClr val="bg1"/>
                </a:solidFill>
              </a:rPr>
              <a:t>Wir bauen und warten alles selbst</a:t>
            </a:r>
            <a:endParaRPr lang="en-US" sz="1800" dirty="0"/>
          </a:p>
        </p:txBody>
      </p:sp>
      <p:sp>
        <p:nvSpPr>
          <p:cNvPr id="10" name="Text 8"/>
          <p:cNvSpPr txBox="1"/>
          <p:nvPr/>
        </p:nvSpPr>
        <p:spPr>
          <a:xfrm>
            <a:off x="8138160" y="5440680"/>
            <a:ext cx="3474720" cy="365760"/>
          </a:xfrm>
          <a:prstGeom prst="rect">
            <a:avLst/>
          </a:prstGeom>
          <a:noFill/>
          <a:ln/>
        </p:spPr>
        <p:txBody>
          <a:bodyPr wrap="square" lIns="0" tIns="0" rIns="0" bIns="0" rtlCol="0" anchor="ctr"/>
          <a:lstStyle/>
          <a:p>
            <a:pPr indent="0" marL="0">
              <a:buNone/>
            </a:pPr>
            <a:r>
              <a:rPr lang="en-US" sz="1300" i="1" dirty="0">
                <a:solidFill>
                  <a:schemeClr val="accent6"/>
                </a:solidFill>
              </a:rPr>
              <a:t>Alle drei sehen für Anwender gleich aus.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Das Wichtigste in 30 Sekunden</a:t>
            </a:r>
            <a:endParaRPr lang="en-US" sz="3400" dirty="0"/>
          </a:p>
        </p:txBody>
      </p:sp>
      <p:sp>
        <p:nvSpPr>
          <p:cNvPr id="3" name="Karte 1"/>
          <p:cNvSpPr/>
          <p:nvPr/>
        </p:nvSpPr>
        <p:spPr>
          <a:xfrm>
            <a:off x="548640" y="1737360"/>
            <a:ext cx="3474720" cy="4023360"/>
          </a:xfrm>
          <a:prstGeom prst="roundRect">
            <a:avLst>
              <a:gd name="adj" fmla="val 3158"/>
            </a:avLst>
          </a:prstGeom>
          <a:solidFill>
            <a:schemeClr val="bg2"/>
          </a:solidFill>
          <a:ln/>
        </p:spPr>
      </p:sp>
      <p:sp>
        <p:nvSpPr>
          <p:cNvPr id="4" name="Karte 1 Kreis"/>
          <p:cNvSpPr/>
          <p:nvPr/>
        </p:nvSpPr>
        <p:spPr>
          <a:xfrm>
            <a:off x="914400" y="2103120"/>
            <a:ext cx="914400" cy="914400"/>
          </a:xfrm>
          <a:prstGeom prst="ellipse">
            <a:avLst/>
          </a:prstGeom>
          <a:solidFill>
            <a:schemeClr val="tx2"/>
          </a:solidFill>
          <a:ln/>
        </p:spPr>
      </p:sp>
      <p:pic>
        <p:nvPicPr>
          <p:cNvPr id="5" name="Karte 1 Icon" descr="Karte 1">    </p:cNvPr>
          <p:cNvPicPr>
            <a:picLocks noChangeAspect="1"/>
          </p:cNvPicPr>
          <p:nvPr/>
        </p:nvPicPr>
        <p:blipFill>
          <a:blip r:embed="rId1"/>
          <a:stretch>
            <a:fillRect/>
          </a:stretch>
        </p:blipFill>
        <p:spPr>
          <a:xfrm>
            <a:off x="1143000" y="2331720"/>
            <a:ext cx="457200" cy="457200"/>
          </a:xfrm>
          <a:prstGeom prst="rect">
            <a:avLst/>
          </a:prstGeom>
        </p:spPr>
      </p:pic>
      <p:sp>
        <p:nvSpPr>
          <p:cNvPr id="6" name="Text 3"/>
          <p:cNvSpPr txBox="1"/>
          <p:nvPr/>
        </p:nvSpPr>
        <p:spPr>
          <a:xfrm>
            <a:off x="914400" y="3246120"/>
            <a:ext cx="2743200" cy="822960"/>
          </a:xfrm>
          <a:prstGeom prst="rect">
            <a:avLst/>
          </a:prstGeom>
          <a:noFill/>
          <a:ln/>
        </p:spPr>
        <p:txBody>
          <a:bodyPr wrap="square" lIns="0" tIns="0" rIns="0" bIns="0" rtlCol="0" anchor="t"/>
          <a:lstStyle/>
          <a:p>
            <a:pPr indent="0" marL="0">
              <a:buNone/>
            </a:pPr>
            <a:r>
              <a:rPr lang="en-US" sz="2100" b="1" dirty="0">
                <a:solidFill>
                  <a:schemeClr val="tx1"/>
                </a:solidFill>
                <a:latin typeface="Cambria" pitchFamily="34" charset="0"/>
                <a:ea typeface="Cambria" pitchFamily="34" charset="-122"/>
                <a:cs typeface="Cambria" pitchFamily="34" charset="-120"/>
              </a:rPr>
              <a:t>Gleicher Look, anderer Aufwand</a:t>
            </a:r>
            <a:endParaRPr lang="en-US" sz="2100" dirty="0"/>
          </a:p>
        </p:txBody>
      </p:sp>
      <p:sp>
        <p:nvSpPr>
          <p:cNvPr id="7" name="Text 4"/>
          <p:cNvSpPr txBox="1"/>
          <p:nvPr/>
        </p:nvSpPr>
        <p:spPr>
          <a:xfrm>
            <a:off x="914400" y="4114800"/>
            <a:ext cx="2743200" cy="1463040"/>
          </a:xfrm>
          <a:prstGeom prst="rect">
            <a:avLst/>
          </a:prstGeom>
          <a:noFill/>
          <a:ln/>
        </p:spPr>
        <p:txBody>
          <a:bodyPr wrap="square" lIns="0" tIns="0" rIns="0" bIns="0" rtlCol="0" anchor="t"/>
          <a:lstStyle/>
          <a:p>
            <a:pPr indent="0" marL="0">
              <a:buNone/>
            </a:pPr>
            <a:r>
              <a:rPr lang="en-US" sz="1600" dirty="0">
                <a:solidFill>
                  <a:schemeClr val="tx1"/>
                </a:solidFill>
              </a:rPr>
              <a:t>Für Anwender sehen alle Fiori-Apps gleich aus. Technisch liegen Welten dazwischen.</a:t>
            </a:r>
            <a:endParaRPr lang="en-US" sz="1600" dirty="0"/>
          </a:p>
        </p:txBody>
      </p:sp>
      <p:sp>
        <p:nvSpPr>
          <p:cNvPr id="8" name="Karte 2"/>
          <p:cNvSpPr/>
          <p:nvPr/>
        </p:nvSpPr>
        <p:spPr>
          <a:xfrm>
            <a:off x="4343400" y="1737360"/>
            <a:ext cx="3474720" cy="4023360"/>
          </a:xfrm>
          <a:prstGeom prst="roundRect">
            <a:avLst>
              <a:gd name="adj" fmla="val 3158"/>
            </a:avLst>
          </a:prstGeom>
          <a:solidFill>
            <a:schemeClr val="bg2"/>
          </a:solidFill>
          <a:ln/>
        </p:spPr>
      </p:sp>
      <p:sp>
        <p:nvSpPr>
          <p:cNvPr id="9" name="Karte 2 Kreis"/>
          <p:cNvSpPr/>
          <p:nvPr/>
        </p:nvSpPr>
        <p:spPr>
          <a:xfrm>
            <a:off x="4709160" y="2103120"/>
            <a:ext cx="914400" cy="914400"/>
          </a:xfrm>
          <a:prstGeom prst="ellipse">
            <a:avLst/>
          </a:prstGeom>
          <a:solidFill>
            <a:schemeClr val="accent2"/>
          </a:solidFill>
          <a:ln/>
        </p:spPr>
      </p:sp>
      <p:pic>
        <p:nvPicPr>
          <p:cNvPr id="10" name="Karte 2 Icon" descr="Karte 2">    </p:cNvPr>
          <p:cNvPicPr>
            <a:picLocks noChangeAspect="1"/>
          </p:cNvPicPr>
          <p:nvPr/>
        </p:nvPicPr>
        <p:blipFill>
          <a:blip r:embed="rId2"/>
          <a:stretch>
            <a:fillRect/>
          </a:stretch>
        </p:blipFill>
        <p:spPr>
          <a:xfrm>
            <a:off x="4937760" y="2331720"/>
            <a:ext cx="457200" cy="457200"/>
          </a:xfrm>
          <a:prstGeom prst="rect">
            <a:avLst/>
          </a:prstGeom>
        </p:spPr>
      </p:pic>
      <p:sp>
        <p:nvSpPr>
          <p:cNvPr id="11" name="Text 7"/>
          <p:cNvSpPr txBox="1"/>
          <p:nvPr/>
        </p:nvSpPr>
        <p:spPr>
          <a:xfrm>
            <a:off x="4709160" y="3246120"/>
            <a:ext cx="2743200" cy="822960"/>
          </a:xfrm>
          <a:prstGeom prst="rect">
            <a:avLst/>
          </a:prstGeom>
          <a:noFill/>
          <a:ln/>
        </p:spPr>
        <p:txBody>
          <a:bodyPr wrap="square" lIns="0" tIns="0" rIns="0" bIns="0" rtlCol="0" anchor="t"/>
          <a:lstStyle/>
          <a:p>
            <a:pPr indent="0" marL="0">
              <a:buNone/>
            </a:pPr>
            <a:r>
              <a:rPr lang="en-US" sz="2100" b="1" dirty="0">
                <a:solidFill>
                  <a:schemeClr val="tx1"/>
                </a:solidFill>
                <a:latin typeface="Cambria" pitchFamily="34" charset="0"/>
                <a:ea typeface="Cambria" pitchFamily="34" charset="-122"/>
                <a:cs typeface="Cambria" pitchFamily="34" charset="-120"/>
              </a:rPr>
              <a:t>Freestyle = eigene Software</a:t>
            </a:r>
            <a:endParaRPr lang="en-US" sz="2100" dirty="0"/>
          </a:p>
        </p:txBody>
      </p:sp>
      <p:sp>
        <p:nvSpPr>
          <p:cNvPr id="12" name="Text 8"/>
          <p:cNvSpPr txBox="1"/>
          <p:nvPr/>
        </p:nvSpPr>
        <p:spPr>
          <a:xfrm>
            <a:off x="4709160" y="4114800"/>
            <a:ext cx="2743200" cy="1463040"/>
          </a:xfrm>
          <a:prstGeom prst="rect">
            <a:avLst/>
          </a:prstGeom>
          <a:noFill/>
          <a:ln/>
        </p:spPr>
        <p:txBody>
          <a:bodyPr wrap="square" lIns="0" tIns="0" rIns="0" bIns="0" rtlCol="0" anchor="t"/>
          <a:lstStyle/>
          <a:p>
            <a:pPr indent="0" marL="0">
              <a:buNone/>
            </a:pPr>
            <a:r>
              <a:rPr lang="en-US" sz="1600" dirty="0">
                <a:solidFill>
                  <a:schemeClr val="tx1"/>
                </a:solidFill>
              </a:rPr>
              <a:t>Jede Zeile JavaScript gehört uns: entwickeln, testen, aktualisieren, absichern – über Jahre.</a:t>
            </a:r>
            <a:endParaRPr lang="en-US" sz="1600" dirty="0"/>
          </a:p>
        </p:txBody>
      </p:sp>
      <p:sp>
        <p:nvSpPr>
          <p:cNvPr id="13" name="Karte 3"/>
          <p:cNvSpPr/>
          <p:nvPr/>
        </p:nvSpPr>
        <p:spPr>
          <a:xfrm>
            <a:off x="8138160" y="1737360"/>
            <a:ext cx="3474720" cy="4023360"/>
          </a:xfrm>
          <a:prstGeom prst="roundRect">
            <a:avLst>
              <a:gd name="adj" fmla="val 3158"/>
            </a:avLst>
          </a:prstGeom>
          <a:solidFill>
            <a:schemeClr val="bg2"/>
          </a:solidFill>
          <a:ln/>
        </p:spPr>
      </p:sp>
      <p:sp>
        <p:nvSpPr>
          <p:cNvPr id="14" name="Karte 3 Kreis"/>
          <p:cNvSpPr/>
          <p:nvPr/>
        </p:nvSpPr>
        <p:spPr>
          <a:xfrm>
            <a:off x="8503920" y="2103120"/>
            <a:ext cx="914400" cy="914400"/>
          </a:xfrm>
          <a:prstGeom prst="ellipse">
            <a:avLst/>
          </a:prstGeom>
          <a:solidFill>
            <a:schemeClr val="accent1"/>
          </a:solidFill>
          <a:ln/>
        </p:spPr>
      </p:sp>
      <p:pic>
        <p:nvPicPr>
          <p:cNvPr id="15" name="Karte 3 Icon" descr="Karte 3">    </p:cNvPr>
          <p:cNvPicPr>
            <a:picLocks noChangeAspect="1"/>
          </p:cNvPicPr>
          <p:nvPr/>
        </p:nvPicPr>
        <p:blipFill>
          <a:blip r:embed="rId3"/>
          <a:stretch>
            <a:fillRect/>
          </a:stretch>
        </p:blipFill>
        <p:spPr>
          <a:xfrm>
            <a:off x="8732520" y="2331720"/>
            <a:ext cx="457200" cy="457200"/>
          </a:xfrm>
          <a:prstGeom prst="rect">
            <a:avLst/>
          </a:prstGeom>
        </p:spPr>
      </p:pic>
      <p:sp>
        <p:nvSpPr>
          <p:cNvPr id="16" name="Text 11"/>
          <p:cNvSpPr txBox="1"/>
          <p:nvPr/>
        </p:nvSpPr>
        <p:spPr>
          <a:xfrm>
            <a:off x="8503920" y="3246120"/>
            <a:ext cx="2743200" cy="822960"/>
          </a:xfrm>
          <a:prstGeom prst="rect">
            <a:avLst/>
          </a:prstGeom>
          <a:noFill/>
          <a:ln/>
        </p:spPr>
        <p:txBody>
          <a:bodyPr wrap="square" lIns="0" tIns="0" rIns="0" bIns="0" rtlCol="0" anchor="t"/>
          <a:lstStyle/>
          <a:p>
            <a:pPr indent="0" marL="0">
              <a:buNone/>
            </a:pPr>
            <a:r>
              <a:rPr lang="en-US" sz="2100" b="1" dirty="0">
                <a:solidFill>
                  <a:schemeClr val="tx1"/>
                </a:solidFill>
                <a:latin typeface="Cambria" pitchFamily="34" charset="0"/>
                <a:ea typeface="Cambria" pitchFamily="34" charset="-122"/>
                <a:cs typeface="Cambria" pitchFamily="34" charset="-120"/>
              </a:rPr>
              <a:t>Fiori Elements als Standard</a:t>
            </a:r>
            <a:endParaRPr lang="en-US" sz="2100" dirty="0"/>
          </a:p>
        </p:txBody>
      </p:sp>
      <p:sp>
        <p:nvSpPr>
          <p:cNvPr id="17" name="Text 12"/>
          <p:cNvSpPr txBox="1"/>
          <p:nvPr/>
        </p:nvSpPr>
        <p:spPr>
          <a:xfrm>
            <a:off x="8503920" y="4114800"/>
            <a:ext cx="2743200" cy="1463040"/>
          </a:xfrm>
          <a:prstGeom prst="rect">
            <a:avLst/>
          </a:prstGeom>
          <a:noFill/>
          <a:ln/>
        </p:spPr>
        <p:txBody>
          <a:bodyPr wrap="square" lIns="0" tIns="0" rIns="0" bIns="0" rtlCol="0" anchor="t"/>
          <a:lstStyle/>
          <a:p>
            <a:pPr indent="0" marL="0">
              <a:buNone/>
            </a:pPr>
            <a:r>
              <a:rPr lang="en-US" sz="1600" dirty="0">
                <a:solidFill>
                  <a:schemeClr val="tx1"/>
                </a:solidFill>
              </a:rPr>
              <a:t>Freestyle nur als begründete Ausnahme, mit Owner und eingeplantem Wartungsbudget.</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Drei Wege – ein Look</a:t>
            </a:r>
            <a:endParaRPr lang="en-US" sz="3400" dirty="0"/>
          </a:p>
        </p:txBody>
      </p:sp>
      <p:sp>
        <p:nvSpPr>
          <p:cNvPr id="3" name="Text 1"/>
          <p:cNvSpPr txBox="1"/>
          <p:nvPr/>
        </p:nvSpPr>
        <p:spPr>
          <a:xfrm>
            <a:off x="548640" y="1371600"/>
            <a:ext cx="3474720" cy="457200"/>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Fiori Elements</a:t>
            </a:r>
            <a:endParaRPr lang="en-US" sz="2000" dirty="0"/>
          </a:p>
        </p:txBody>
      </p:sp>
      <p:sp>
        <p:nvSpPr>
          <p:cNvPr id="4" name="Fiori Elements SAP"/>
          <p:cNvSpPr/>
          <p:nvPr/>
        </p:nvSpPr>
        <p:spPr>
          <a:xfrm>
            <a:off x="548640" y="1965960"/>
            <a:ext cx="3474720" cy="2651760"/>
          </a:xfrm>
          <a:prstGeom prst="rect">
            <a:avLst/>
          </a:prstGeom>
          <a:solidFill>
            <a:schemeClr val="accent6"/>
          </a:solidFill>
          <a:ln/>
        </p:spPr>
      </p:sp>
      <p:sp>
        <p:nvSpPr>
          <p:cNvPr id="5" name="Text 3"/>
          <p:cNvSpPr txBox="1"/>
          <p:nvPr/>
        </p:nvSpPr>
        <p:spPr>
          <a:xfrm>
            <a:off x="685800" y="2057400"/>
            <a:ext cx="3200400" cy="2468880"/>
          </a:xfrm>
          <a:prstGeom prst="rect">
            <a:avLst/>
          </a:prstGeom>
          <a:noFill/>
          <a:ln/>
        </p:spPr>
        <p:txBody>
          <a:bodyPr wrap="square" lIns="0" tIns="0" rIns="0" bIns="0" rtlCol="0" anchor="t"/>
          <a:lstStyle/>
          <a:p>
            <a:pPr indent="0" marL="0">
              <a:spcAft>
                <a:spcPts val="200"/>
              </a:spcAft>
              <a:buNone/>
            </a:pPr>
            <a:r>
              <a:rPr lang="en-US" sz="1400" b="1" dirty="0">
                <a:solidFill>
                  <a:schemeClr val="accent1"/>
                </a:solidFill>
              </a:rPr>
              <a:t>SAP liefert</a:t>
            </a:r>
            <a:endParaRPr lang="en-US" sz="1400" dirty="0"/>
          </a:p>
          <a:p>
            <a:pPr marL="342900" indent="-342900">
              <a:spcAft>
                <a:spcPts val="200"/>
              </a:spcAft>
              <a:buSzPct val="100000"/>
              <a:buChar char="•"/>
            </a:pPr>
            <a:r>
              <a:rPr lang="en-US" sz="1400" dirty="0">
                <a:solidFill>
                  <a:schemeClr val="tx1"/>
                </a:solidFill>
              </a:rPr>
              <a:t>Floorplans (Liste, Detail)</a:t>
            </a:r>
            <a:endParaRPr lang="en-US" sz="1400" dirty="0"/>
          </a:p>
          <a:p>
            <a:pPr marL="342900" indent="-342900">
              <a:spcAft>
                <a:spcPts val="200"/>
              </a:spcAft>
              <a:buSzPct val="100000"/>
              <a:buChar char="•"/>
            </a:pPr>
            <a:r>
              <a:rPr lang="en-US" sz="1400" dirty="0">
                <a:solidFill>
                  <a:schemeClr val="tx1"/>
                </a:solidFill>
              </a:rPr>
              <a:t>Filter, Tabellen, Export</a:t>
            </a:r>
            <a:endParaRPr lang="en-US" sz="1400" dirty="0"/>
          </a:p>
          <a:p>
            <a:pPr marL="342900" indent="-342900">
              <a:spcAft>
                <a:spcPts val="200"/>
              </a:spcAft>
              <a:buSzPct val="100000"/>
              <a:buChar char="•"/>
            </a:pPr>
            <a:r>
              <a:rPr lang="en-US" sz="1400" dirty="0">
                <a:solidFill>
                  <a:schemeClr val="tx1"/>
                </a:solidFill>
              </a:rPr>
              <a:t>Varianten, Personalisierung</a:t>
            </a:r>
            <a:endParaRPr lang="en-US" sz="1400" dirty="0"/>
          </a:p>
          <a:p>
            <a:pPr marL="342900" indent="-342900">
              <a:spcAft>
                <a:spcPts val="200"/>
              </a:spcAft>
              <a:buSzPct val="100000"/>
              <a:buChar char="•"/>
            </a:pPr>
            <a:r>
              <a:rPr lang="en-US" sz="1400" dirty="0">
                <a:solidFill>
                  <a:schemeClr val="tx1"/>
                </a:solidFill>
              </a:rPr>
              <a:t>Upgrades &amp; Barrierefreiheit</a:t>
            </a:r>
            <a:endParaRPr lang="en-US" sz="1400" dirty="0"/>
          </a:p>
        </p:txBody>
      </p:sp>
      <p:sp>
        <p:nvSpPr>
          <p:cNvPr id="6" name="Fiori Elements Wir"/>
          <p:cNvSpPr/>
          <p:nvPr/>
        </p:nvSpPr>
        <p:spPr>
          <a:xfrm>
            <a:off x="548640" y="4709160"/>
            <a:ext cx="3474720" cy="1325880"/>
          </a:xfrm>
          <a:prstGeom prst="rect">
            <a:avLst/>
          </a:prstGeom>
          <a:solidFill>
            <a:schemeClr val="accent5"/>
          </a:solidFill>
          <a:ln/>
        </p:spPr>
      </p:sp>
      <p:sp>
        <p:nvSpPr>
          <p:cNvPr id="7" name="Text 5"/>
          <p:cNvSpPr txBox="1"/>
          <p:nvPr/>
        </p:nvSpPr>
        <p:spPr>
          <a:xfrm>
            <a:off x="685800" y="4800600"/>
            <a:ext cx="3200400" cy="1143000"/>
          </a:xfrm>
          <a:prstGeom prst="rect">
            <a:avLst/>
          </a:prstGeom>
          <a:noFill/>
          <a:ln/>
        </p:spPr>
        <p:txBody>
          <a:bodyPr wrap="square" lIns="0" tIns="0" rIns="0" bIns="0" rtlCol="0" anchor="t"/>
          <a:lstStyle/>
          <a:p>
            <a:pPr indent="0" marL="0">
              <a:spcAft>
                <a:spcPts val="200"/>
              </a:spcAft>
              <a:buNone/>
            </a:pPr>
            <a:r>
              <a:rPr lang="en-US" sz="1400" b="1" dirty="0">
                <a:solidFill>
                  <a:schemeClr val="accent2"/>
                </a:solidFill>
              </a:rPr>
              <a:t>Wir entwickeln &amp; warten</a:t>
            </a:r>
            <a:endParaRPr lang="en-US" sz="1400" dirty="0"/>
          </a:p>
          <a:p>
            <a:pPr marL="342900" indent="-342900">
              <a:spcAft>
                <a:spcPts val="200"/>
              </a:spcAft>
              <a:buSzPct val="100000"/>
              <a:buChar char="•"/>
            </a:pPr>
            <a:r>
              <a:rPr lang="en-US" sz="1400" dirty="0">
                <a:solidFill>
                  <a:schemeClr val="tx1"/>
                </a:solidFill>
              </a:rPr>
              <a:t>Annotationen</a:t>
            </a:r>
            <a:endParaRPr lang="en-US" sz="1400" dirty="0"/>
          </a:p>
          <a:p>
            <a:pPr marL="342900" indent="-342900">
              <a:spcAft>
                <a:spcPts val="200"/>
              </a:spcAft>
              <a:buSzPct val="100000"/>
              <a:buChar char="•"/>
            </a:pPr>
            <a:r>
              <a:rPr lang="en-US" sz="1400" dirty="0">
                <a:solidFill>
                  <a:schemeClr val="tx1"/>
                </a:solidFill>
              </a:rPr>
              <a:t>manifest.json</a:t>
            </a:r>
            <a:endParaRPr lang="en-US" sz="1400" dirty="0"/>
          </a:p>
        </p:txBody>
      </p:sp>
      <p:sp>
        <p:nvSpPr>
          <p:cNvPr id="8" name="Text 6"/>
          <p:cNvSpPr txBox="1"/>
          <p:nvPr/>
        </p:nvSpPr>
        <p:spPr>
          <a:xfrm>
            <a:off x="4343400" y="1371600"/>
            <a:ext cx="3474720" cy="457200"/>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RAP + UI-Annotationen</a:t>
            </a:r>
            <a:endParaRPr lang="en-US" sz="2000" dirty="0"/>
          </a:p>
        </p:txBody>
      </p:sp>
      <p:sp>
        <p:nvSpPr>
          <p:cNvPr id="9" name="RAP + UI-Annotationen SAP"/>
          <p:cNvSpPr/>
          <p:nvPr/>
        </p:nvSpPr>
        <p:spPr>
          <a:xfrm>
            <a:off x="4343400" y="1965960"/>
            <a:ext cx="3474720" cy="2286000"/>
          </a:xfrm>
          <a:prstGeom prst="rect">
            <a:avLst/>
          </a:prstGeom>
          <a:solidFill>
            <a:schemeClr val="accent6"/>
          </a:solidFill>
          <a:ln/>
        </p:spPr>
      </p:sp>
      <p:sp>
        <p:nvSpPr>
          <p:cNvPr id="10" name="Text 8"/>
          <p:cNvSpPr txBox="1"/>
          <p:nvPr/>
        </p:nvSpPr>
        <p:spPr>
          <a:xfrm>
            <a:off x="4480560" y="2057400"/>
            <a:ext cx="3200400" cy="2103120"/>
          </a:xfrm>
          <a:prstGeom prst="rect">
            <a:avLst/>
          </a:prstGeom>
          <a:noFill/>
          <a:ln/>
        </p:spPr>
        <p:txBody>
          <a:bodyPr wrap="square" lIns="0" tIns="0" rIns="0" bIns="0" rtlCol="0" anchor="t"/>
          <a:lstStyle/>
          <a:p>
            <a:pPr indent="0" marL="0">
              <a:spcAft>
                <a:spcPts val="200"/>
              </a:spcAft>
              <a:buNone/>
            </a:pPr>
            <a:r>
              <a:rPr lang="en-US" sz="1400" b="1" dirty="0">
                <a:solidFill>
                  <a:schemeClr val="accent1"/>
                </a:solidFill>
              </a:rPr>
              <a:t>SAP liefert</a:t>
            </a:r>
            <a:endParaRPr lang="en-US" sz="1400" dirty="0"/>
          </a:p>
          <a:p>
            <a:pPr marL="342900" indent="-342900">
              <a:spcAft>
                <a:spcPts val="200"/>
              </a:spcAft>
              <a:buSzPct val="100000"/>
              <a:buChar char="•"/>
            </a:pPr>
            <a:r>
              <a:rPr lang="en-US" sz="1400" dirty="0">
                <a:solidFill>
                  <a:schemeClr val="tx1"/>
                </a:solidFill>
              </a:rPr>
              <a:t>Komplette Oberfläche</a:t>
            </a:r>
            <a:endParaRPr lang="en-US" sz="1400" dirty="0"/>
          </a:p>
          <a:p>
            <a:pPr marL="342900" indent="-342900">
              <a:spcAft>
                <a:spcPts val="200"/>
              </a:spcAft>
              <a:buSzPct val="100000"/>
              <a:buChar char="•"/>
            </a:pPr>
            <a:r>
              <a:rPr lang="en-US" sz="1400" dirty="0">
                <a:solidFill>
                  <a:schemeClr val="tx1"/>
                </a:solidFill>
              </a:rPr>
              <a:t>Draft, Sperren, Transaktion</a:t>
            </a:r>
            <a:endParaRPr lang="en-US" sz="1400" dirty="0"/>
          </a:p>
          <a:p>
            <a:pPr marL="342900" indent="-342900">
              <a:spcAft>
                <a:spcPts val="200"/>
              </a:spcAft>
              <a:buSzPct val="100000"/>
              <a:buChar char="•"/>
            </a:pPr>
            <a:r>
              <a:rPr lang="en-US" sz="1400" dirty="0">
                <a:solidFill>
                  <a:schemeClr val="tx1"/>
                </a:solidFill>
              </a:rPr>
              <a:t>OData-Service-Erzeugung</a:t>
            </a:r>
            <a:endParaRPr lang="en-US" sz="1400" dirty="0"/>
          </a:p>
        </p:txBody>
      </p:sp>
      <p:sp>
        <p:nvSpPr>
          <p:cNvPr id="11" name="RAP + UI-Annotationen Wir"/>
          <p:cNvSpPr/>
          <p:nvPr/>
        </p:nvSpPr>
        <p:spPr>
          <a:xfrm>
            <a:off x="4343400" y="4343400"/>
            <a:ext cx="3474720" cy="1691640"/>
          </a:xfrm>
          <a:prstGeom prst="rect">
            <a:avLst/>
          </a:prstGeom>
          <a:solidFill>
            <a:schemeClr val="accent5"/>
          </a:solidFill>
          <a:ln/>
        </p:spPr>
      </p:sp>
      <p:sp>
        <p:nvSpPr>
          <p:cNvPr id="12" name="Text 10"/>
          <p:cNvSpPr txBox="1"/>
          <p:nvPr/>
        </p:nvSpPr>
        <p:spPr>
          <a:xfrm>
            <a:off x="4480560" y="4434840"/>
            <a:ext cx="3200400" cy="1508760"/>
          </a:xfrm>
          <a:prstGeom prst="rect">
            <a:avLst/>
          </a:prstGeom>
          <a:noFill/>
          <a:ln/>
        </p:spPr>
        <p:txBody>
          <a:bodyPr wrap="square" lIns="0" tIns="0" rIns="0" bIns="0" rtlCol="0" anchor="t"/>
          <a:lstStyle/>
          <a:p>
            <a:pPr indent="0" marL="0">
              <a:spcAft>
                <a:spcPts val="200"/>
              </a:spcAft>
              <a:buNone/>
            </a:pPr>
            <a:r>
              <a:rPr lang="en-US" sz="1400" b="1" dirty="0">
                <a:solidFill>
                  <a:schemeClr val="accent2"/>
                </a:solidFill>
              </a:rPr>
              <a:t>Wir entwickeln &amp; warten</a:t>
            </a:r>
            <a:endParaRPr lang="en-US" sz="1400" dirty="0"/>
          </a:p>
          <a:p>
            <a:pPr marL="342900" indent="-342900">
              <a:spcAft>
                <a:spcPts val="200"/>
              </a:spcAft>
              <a:buSzPct val="100000"/>
              <a:buChar char="•"/>
            </a:pPr>
            <a:r>
              <a:rPr lang="en-US" sz="1400" dirty="0">
                <a:solidFill>
                  <a:schemeClr val="tx1"/>
                </a:solidFill>
              </a:rPr>
              <a:t>CDS-Modell &amp; Verhalten (ABAP)</a:t>
            </a:r>
            <a:endParaRPr lang="en-US" sz="1400" dirty="0"/>
          </a:p>
          <a:p>
            <a:pPr marL="342900" indent="-342900">
              <a:spcAft>
                <a:spcPts val="200"/>
              </a:spcAft>
              <a:buSzPct val="100000"/>
              <a:buChar char="•"/>
            </a:pPr>
            <a:r>
              <a:rPr lang="en-US" sz="1400" dirty="0">
                <a:solidFill>
                  <a:schemeClr val="tx1"/>
                </a:solidFill>
              </a:rPr>
              <a:t>UI-Annotationen im Backend</a:t>
            </a:r>
            <a:endParaRPr lang="en-US" sz="1400" dirty="0"/>
          </a:p>
        </p:txBody>
      </p:sp>
      <p:sp>
        <p:nvSpPr>
          <p:cNvPr id="13" name="Text 11"/>
          <p:cNvSpPr txBox="1"/>
          <p:nvPr/>
        </p:nvSpPr>
        <p:spPr>
          <a:xfrm>
            <a:off x="8138160" y="1371600"/>
            <a:ext cx="3474720" cy="457200"/>
          </a:xfrm>
          <a:prstGeom prst="rect">
            <a:avLst/>
          </a:prstGeom>
          <a:noFill/>
          <a:ln/>
        </p:spPr>
        <p:txBody>
          <a:bodyPr wrap="square" lIns="0" tIns="0" rIns="0" bIns="0" rtlCol="0" anchor="ctr"/>
          <a:lstStyle/>
          <a:p>
            <a:pPr indent="0" marL="0">
              <a:buNone/>
            </a:pPr>
            <a:r>
              <a:rPr lang="en-US" sz="2000" b="1" dirty="0">
                <a:solidFill>
                  <a:schemeClr val="accent2"/>
                </a:solidFill>
                <a:latin typeface="Cambria" pitchFamily="34" charset="0"/>
                <a:ea typeface="Cambria" pitchFamily="34" charset="-122"/>
                <a:cs typeface="Cambria" pitchFamily="34" charset="-120"/>
              </a:rPr>
              <a:t>SAPUI5 Freestyle</a:t>
            </a:r>
            <a:endParaRPr lang="en-US" sz="2000" dirty="0"/>
          </a:p>
        </p:txBody>
      </p:sp>
      <p:sp>
        <p:nvSpPr>
          <p:cNvPr id="14" name="SAPUI5 Freestyle SAP"/>
          <p:cNvSpPr/>
          <p:nvPr/>
        </p:nvSpPr>
        <p:spPr>
          <a:xfrm>
            <a:off x="8138160" y="1965960"/>
            <a:ext cx="3474720" cy="1143000"/>
          </a:xfrm>
          <a:prstGeom prst="rect">
            <a:avLst/>
          </a:prstGeom>
          <a:solidFill>
            <a:schemeClr val="accent6"/>
          </a:solidFill>
          <a:ln/>
        </p:spPr>
      </p:sp>
      <p:sp>
        <p:nvSpPr>
          <p:cNvPr id="15" name="Text 13"/>
          <p:cNvSpPr txBox="1"/>
          <p:nvPr/>
        </p:nvSpPr>
        <p:spPr>
          <a:xfrm>
            <a:off x="8275320" y="2057400"/>
            <a:ext cx="3200400" cy="960120"/>
          </a:xfrm>
          <a:prstGeom prst="rect">
            <a:avLst/>
          </a:prstGeom>
          <a:noFill/>
          <a:ln/>
        </p:spPr>
        <p:txBody>
          <a:bodyPr wrap="square" lIns="0" tIns="0" rIns="0" bIns="0" rtlCol="0" anchor="t"/>
          <a:lstStyle/>
          <a:p>
            <a:pPr indent="0" marL="0">
              <a:spcAft>
                <a:spcPts val="200"/>
              </a:spcAft>
              <a:buNone/>
            </a:pPr>
            <a:r>
              <a:rPr lang="en-US" sz="1400" b="1" dirty="0">
                <a:solidFill>
                  <a:schemeClr val="accent1"/>
                </a:solidFill>
              </a:rPr>
              <a:t>SAP liefert</a:t>
            </a:r>
            <a:endParaRPr lang="en-US" sz="1400" dirty="0"/>
          </a:p>
          <a:p>
            <a:pPr marL="342900" indent="-342900">
              <a:spcAft>
                <a:spcPts val="200"/>
              </a:spcAft>
              <a:buSzPct val="100000"/>
              <a:buChar char="•"/>
            </a:pPr>
            <a:r>
              <a:rPr lang="en-US" sz="1400" dirty="0">
                <a:solidFill>
                  <a:schemeClr val="tx1"/>
                </a:solidFill>
              </a:rPr>
              <a:t>UI5-Bibliotheken (Controls)</a:t>
            </a:r>
            <a:endParaRPr lang="en-US" sz="1400" dirty="0"/>
          </a:p>
        </p:txBody>
      </p:sp>
      <p:sp>
        <p:nvSpPr>
          <p:cNvPr id="16" name="SAPUI5 Freestyle Wir"/>
          <p:cNvSpPr/>
          <p:nvPr/>
        </p:nvSpPr>
        <p:spPr>
          <a:xfrm>
            <a:off x="8138160" y="3200400"/>
            <a:ext cx="3474720" cy="2834640"/>
          </a:xfrm>
          <a:prstGeom prst="rect">
            <a:avLst/>
          </a:prstGeom>
          <a:solidFill>
            <a:schemeClr val="accent5"/>
          </a:solidFill>
          <a:ln/>
        </p:spPr>
      </p:sp>
      <p:sp>
        <p:nvSpPr>
          <p:cNvPr id="17" name="Text 15"/>
          <p:cNvSpPr txBox="1"/>
          <p:nvPr/>
        </p:nvSpPr>
        <p:spPr>
          <a:xfrm>
            <a:off x="8275320" y="3291840"/>
            <a:ext cx="3200400" cy="2651760"/>
          </a:xfrm>
          <a:prstGeom prst="rect">
            <a:avLst/>
          </a:prstGeom>
          <a:noFill/>
          <a:ln/>
        </p:spPr>
        <p:txBody>
          <a:bodyPr wrap="square" lIns="0" tIns="0" rIns="0" bIns="0" rtlCol="0" anchor="t"/>
          <a:lstStyle/>
          <a:p>
            <a:pPr indent="0" marL="0">
              <a:spcAft>
                <a:spcPts val="200"/>
              </a:spcAft>
              <a:buNone/>
            </a:pPr>
            <a:r>
              <a:rPr lang="en-US" sz="1400" b="1" dirty="0">
                <a:solidFill>
                  <a:schemeClr val="accent2"/>
                </a:solidFill>
              </a:rPr>
              <a:t>Wir entwickeln &amp; warten</a:t>
            </a:r>
            <a:endParaRPr lang="en-US" sz="1400" dirty="0"/>
          </a:p>
          <a:p>
            <a:pPr marL="342900" indent="-342900">
              <a:spcAft>
                <a:spcPts val="200"/>
              </a:spcAft>
              <a:buSzPct val="100000"/>
              <a:buChar char="•"/>
            </a:pPr>
            <a:r>
              <a:rPr lang="en-US" sz="1400" dirty="0">
                <a:solidFill>
                  <a:schemeClr val="tx1"/>
                </a:solidFill>
              </a:rPr>
              <a:t>Views, Controller, Fragmente</a:t>
            </a:r>
            <a:endParaRPr lang="en-US" sz="1400" dirty="0"/>
          </a:p>
          <a:p>
            <a:pPr marL="342900" indent="-342900">
              <a:spcAft>
                <a:spcPts val="200"/>
              </a:spcAft>
              <a:buSzPct val="100000"/>
              <a:buChar char="•"/>
            </a:pPr>
            <a:r>
              <a:rPr lang="en-US" sz="1400" dirty="0">
                <a:solidFill>
                  <a:schemeClr val="tx1"/>
                </a:solidFill>
              </a:rPr>
              <a:t>Routing, Filter-, Exportlogik</a:t>
            </a:r>
            <a:endParaRPr lang="en-US" sz="1400" dirty="0"/>
          </a:p>
          <a:p>
            <a:pPr marL="342900" indent="-342900">
              <a:spcAft>
                <a:spcPts val="200"/>
              </a:spcAft>
              <a:buSzPct val="100000"/>
              <a:buChar char="•"/>
            </a:pPr>
            <a:r>
              <a:rPr lang="en-US" sz="1400" dirty="0">
                <a:solidFill>
                  <a:schemeClr val="tx1"/>
                </a:solidFill>
              </a:rPr>
              <a:t>Wertehilfen, Fehlerbehandlung</a:t>
            </a:r>
            <a:endParaRPr lang="en-US" sz="1400" dirty="0"/>
          </a:p>
          <a:p>
            <a:pPr marL="342900" indent="-342900">
              <a:spcAft>
                <a:spcPts val="200"/>
              </a:spcAft>
              <a:buSzPct val="100000"/>
              <a:buChar char="•"/>
            </a:pPr>
            <a:r>
              <a:rPr lang="en-US" sz="1400" dirty="0">
                <a:solidFill>
                  <a:schemeClr val="tx1"/>
                </a:solidFill>
              </a:rPr>
              <a:t>Tests, npm-Pakete, Upgrades</a:t>
            </a:r>
            <a:endParaRPr lang="en-US" sz="1400" dirty="0"/>
          </a:p>
        </p:txBody>
      </p:sp>
      <p:sp>
        <p:nvSpPr>
          <p:cNvPr id="18" name="Text 16"/>
          <p:cNvSpPr txBox="1"/>
          <p:nvPr/>
        </p:nvSpPr>
        <p:spPr>
          <a:xfrm>
            <a:off x="548640" y="6080760"/>
            <a:ext cx="10972800" cy="274320"/>
          </a:xfrm>
          <a:prstGeom prst="rect">
            <a:avLst/>
          </a:prstGeom>
          <a:noFill/>
          <a:ln/>
        </p:spPr>
        <p:txBody>
          <a:bodyPr wrap="square" lIns="0" tIns="0" rIns="0" bIns="0" rtlCol="0" anchor="ctr"/>
          <a:lstStyle/>
          <a:p>
            <a:pPr indent="0" marL="0">
              <a:buNone/>
            </a:pPr>
            <a:r>
              <a:rPr lang="en-US" sz="1100" i="1" dirty="0">
                <a:solidFill>
                  <a:schemeClr val="accent4"/>
                </a:solidFill>
              </a:rPr>
              <a:t>Schematische Darstellung: Die Flächen zeigen, wer welchen Teil verantwortet.</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Die Demo: eine Anforderung, zwei Umsetzungen</a:t>
            </a:r>
            <a:endParaRPr lang="en-US" sz="3400" dirty="0"/>
          </a:p>
        </p:txBody>
      </p:sp>
      <p:sp>
        <p:nvSpPr>
          <p:cNvPr id="3" name="Anforderung"/>
          <p:cNvSpPr/>
          <p:nvPr/>
        </p:nvSpPr>
        <p:spPr>
          <a:xfrm>
            <a:off x="548640" y="1325880"/>
            <a:ext cx="11064240" cy="914400"/>
          </a:xfrm>
          <a:prstGeom prst="roundRect">
            <a:avLst>
              <a:gd name="adj" fmla="val 10000"/>
            </a:avLst>
          </a:prstGeom>
          <a:solidFill>
            <a:schemeClr val="bg2"/>
          </a:solidFill>
          <a:ln/>
        </p:spPr>
      </p:sp>
      <p:sp>
        <p:nvSpPr>
          <p:cNvPr id="4" name="Text 2"/>
          <p:cNvSpPr txBox="1"/>
          <p:nvPr/>
        </p:nvSpPr>
        <p:spPr>
          <a:xfrm>
            <a:off x="777240" y="1325880"/>
            <a:ext cx="10607040" cy="914400"/>
          </a:xfrm>
          <a:prstGeom prst="rect">
            <a:avLst/>
          </a:prstGeom>
          <a:noFill/>
          <a:ln/>
        </p:spPr>
        <p:txBody>
          <a:bodyPr wrap="square" lIns="0" tIns="0" rIns="0" bIns="0" rtlCol="0" anchor="ctr"/>
          <a:lstStyle/>
          <a:p>
            <a:pPr indent="0" marL="0">
              <a:buNone/>
            </a:pPr>
            <a:r>
              <a:rPr lang="en-US" sz="1600" i="1" dirty="0">
                <a:solidFill>
                  <a:schemeClr val="tx1"/>
                </a:solidFill>
              </a:rPr>
              <a:t>„Bestellübersicht mit Filter nach Kunde, Land und Datum, Sortierung und Excel-Export. Per Klick die Details mit Kopf-, Versand- und Positionsdaten.“</a:t>
            </a:r>
            <a:endParaRPr lang="en-US" sz="1600" dirty="0"/>
          </a:p>
        </p:txBody>
      </p:sp>
      <p:sp>
        <p:nvSpPr>
          <p:cNvPr id="5" name="Text 3"/>
          <p:cNvSpPr txBox="1"/>
          <p:nvPr/>
        </p:nvSpPr>
        <p:spPr>
          <a:xfrm>
            <a:off x="548640" y="2468880"/>
            <a:ext cx="5394960" cy="365760"/>
          </a:xfrm>
          <a:prstGeom prst="rect">
            <a:avLst/>
          </a:prstGeom>
          <a:noFill/>
          <a:ln/>
        </p:spPr>
        <p:txBody>
          <a:bodyPr wrap="square" lIns="0" tIns="0" rIns="0" bIns="0" rtlCol="0" anchor="ctr"/>
          <a:lstStyle/>
          <a:p>
            <a:pPr indent="0" marL="0">
              <a:buNone/>
            </a:pPr>
            <a:r>
              <a:rPr lang="en-US" sz="1800" b="1" dirty="0">
                <a:solidFill>
                  <a:schemeClr val="accent1"/>
                </a:solidFill>
              </a:rPr>
              <a:t>Fiori Elements</a:t>
            </a:r>
            <a:endParaRPr lang="en-US" sz="1800" dirty="0"/>
          </a:p>
        </p:txBody>
      </p:sp>
      <p:pic>
        <p:nvPicPr>
          <p:cNvPr id="6" name="Screenshot Fiori Elements" descr="Screenshot Fiori Elements">    </p:cNvPr>
          <p:cNvPicPr>
            <a:picLocks noChangeAspect="1"/>
          </p:cNvPicPr>
          <p:nvPr/>
        </p:nvPicPr>
        <p:blipFill>
          <a:blip r:embed="rId1"/>
          <a:stretch>
            <a:fillRect/>
          </a:stretch>
        </p:blipFill>
        <p:spPr>
          <a:xfrm>
            <a:off x="548640" y="2880360"/>
            <a:ext cx="5394960" cy="3273552"/>
          </a:xfrm>
          <a:prstGeom prst="rect">
            <a:avLst/>
          </a:prstGeom>
        </p:spPr>
      </p:pic>
      <p:sp>
        <p:nvSpPr>
          <p:cNvPr id="7" name="Rahmen Fiori Elements"/>
          <p:cNvSpPr/>
          <p:nvPr/>
        </p:nvSpPr>
        <p:spPr>
          <a:xfrm>
            <a:off x="548640" y="2880360"/>
            <a:ext cx="5394960" cy="3273552"/>
          </a:xfrm>
          <a:prstGeom prst="rect">
            <a:avLst/>
          </a:prstGeom>
          <a:ln w="9525">
            <a:solidFill>
              <a:srgbClr val="5E727B"/>
            </a:solidFill>
            <a:prstDash val="solid"/>
          </a:ln>
        </p:spPr>
      </p:sp>
      <p:sp>
        <p:nvSpPr>
          <p:cNvPr id="8" name="Text 5"/>
          <p:cNvSpPr txBox="1"/>
          <p:nvPr/>
        </p:nvSpPr>
        <p:spPr>
          <a:xfrm>
            <a:off x="6217920" y="2468880"/>
            <a:ext cx="5394960" cy="365760"/>
          </a:xfrm>
          <a:prstGeom prst="rect">
            <a:avLst/>
          </a:prstGeom>
          <a:noFill/>
          <a:ln/>
        </p:spPr>
        <p:txBody>
          <a:bodyPr wrap="square" lIns="0" tIns="0" rIns="0" bIns="0" rtlCol="0" anchor="ctr"/>
          <a:lstStyle/>
          <a:p>
            <a:pPr indent="0" marL="0">
              <a:buNone/>
            </a:pPr>
            <a:r>
              <a:rPr lang="en-US" sz="1800" b="1" dirty="0">
                <a:solidFill>
                  <a:schemeClr val="accent2"/>
                </a:solidFill>
              </a:rPr>
              <a:t>SAPUI5 Freestyle</a:t>
            </a:r>
            <a:endParaRPr lang="en-US" sz="1800" dirty="0"/>
          </a:p>
        </p:txBody>
      </p:sp>
      <p:pic>
        <p:nvPicPr>
          <p:cNvPr id="9" name="Screenshot SAPUI5 Freestyle" descr="Screenshot SAPUI5 Freestyle">    </p:cNvPr>
          <p:cNvPicPr>
            <a:picLocks noChangeAspect="1"/>
          </p:cNvPicPr>
          <p:nvPr/>
        </p:nvPicPr>
        <p:blipFill>
          <a:blip r:embed="rId2"/>
          <a:stretch>
            <a:fillRect/>
          </a:stretch>
        </p:blipFill>
        <p:spPr>
          <a:xfrm>
            <a:off x="6217920" y="2880360"/>
            <a:ext cx="5394960" cy="3273552"/>
          </a:xfrm>
          <a:prstGeom prst="rect">
            <a:avLst/>
          </a:prstGeom>
        </p:spPr>
      </p:pic>
      <p:sp>
        <p:nvSpPr>
          <p:cNvPr id="10" name="Rahmen SAPUI5 Freestyle"/>
          <p:cNvSpPr/>
          <p:nvPr/>
        </p:nvSpPr>
        <p:spPr>
          <a:xfrm>
            <a:off x="6217920" y="2880360"/>
            <a:ext cx="5394960" cy="3273552"/>
          </a:xfrm>
          <a:prstGeom prst="rect">
            <a:avLst/>
          </a:prstGeom>
          <a:ln w="9525">
            <a:solidFill>
              <a:srgbClr val="5E727B"/>
            </a:solidFill>
            <a:prstDash val="solid"/>
          </a:ln>
        </p:spPr>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Was hinter der gleichen Oberfläche steckt</a:t>
            </a:r>
            <a:endParaRPr lang="en-US" sz="3400" dirty="0"/>
          </a:p>
        </p:txBody>
      </p:sp>
      <p:sp>
        <p:nvSpPr>
          <p:cNvPr id="3" name="Kennzahl 1"/>
          <p:cNvSpPr/>
          <p:nvPr/>
        </p:nvSpPr>
        <p:spPr>
          <a:xfrm>
            <a:off x="548640" y="1463040"/>
            <a:ext cx="4754880" cy="1965960"/>
          </a:xfrm>
          <a:prstGeom prst="roundRect">
            <a:avLst>
              <a:gd name="adj" fmla="val 5581"/>
            </a:avLst>
          </a:prstGeom>
          <a:solidFill>
            <a:schemeClr val="bg2"/>
          </a:solidFill>
          <a:ln/>
        </p:spPr>
      </p:sp>
      <p:sp>
        <p:nvSpPr>
          <p:cNvPr id="4" name="Text 2"/>
          <p:cNvSpPr txBox="1"/>
          <p:nvPr/>
        </p:nvSpPr>
        <p:spPr>
          <a:xfrm>
            <a:off x="777240" y="1645920"/>
            <a:ext cx="2011680" cy="1005840"/>
          </a:xfrm>
          <a:prstGeom prst="rect">
            <a:avLst/>
          </a:prstGeom>
          <a:noFill/>
          <a:ln/>
        </p:spPr>
        <p:txBody>
          <a:bodyPr wrap="square" lIns="0" tIns="0" rIns="0" bIns="0" rtlCol="0" anchor="ctr"/>
          <a:lstStyle/>
          <a:p>
            <a:pPr indent="0" marL="0">
              <a:buNone/>
            </a:pPr>
            <a:r>
              <a:rPr lang="en-US" sz="6000" b="1" dirty="0">
                <a:solidFill>
                  <a:schemeClr val="accent1"/>
                </a:solidFill>
                <a:latin typeface="Cambria" pitchFamily="34" charset="0"/>
                <a:ea typeface="Cambria" pitchFamily="34" charset="-122"/>
                <a:cs typeface="Cambria" pitchFamily="34" charset="-120"/>
              </a:rPr>
              <a:t>8</a:t>
            </a:r>
            <a:endParaRPr lang="en-US" sz="6000" dirty="0"/>
          </a:p>
        </p:txBody>
      </p:sp>
      <p:sp>
        <p:nvSpPr>
          <p:cNvPr id="5" name="Text 3"/>
          <p:cNvSpPr txBox="1"/>
          <p:nvPr/>
        </p:nvSpPr>
        <p:spPr>
          <a:xfrm>
            <a:off x="2377440" y="1874520"/>
            <a:ext cx="548640" cy="640080"/>
          </a:xfrm>
          <a:prstGeom prst="rect">
            <a:avLst/>
          </a:prstGeom>
          <a:noFill/>
          <a:ln/>
        </p:spPr>
        <p:txBody>
          <a:bodyPr wrap="square" lIns="0" tIns="0" rIns="0" bIns="0" rtlCol="0" anchor="ctr"/>
          <a:lstStyle/>
          <a:p>
            <a:pPr indent="0" marL="0">
              <a:buNone/>
            </a:pPr>
            <a:r>
              <a:rPr lang="en-US" sz="1800" dirty="0">
                <a:solidFill>
                  <a:schemeClr val="accent4"/>
                </a:solidFill>
              </a:rPr>
              <a:t>vs.</a:t>
            </a:r>
            <a:endParaRPr lang="en-US" sz="1800" dirty="0"/>
          </a:p>
        </p:txBody>
      </p:sp>
      <p:sp>
        <p:nvSpPr>
          <p:cNvPr id="6" name="Text 4"/>
          <p:cNvSpPr txBox="1"/>
          <p:nvPr/>
        </p:nvSpPr>
        <p:spPr>
          <a:xfrm>
            <a:off x="2926080" y="1645920"/>
            <a:ext cx="2194560" cy="1005840"/>
          </a:xfrm>
          <a:prstGeom prst="rect">
            <a:avLst/>
          </a:prstGeom>
          <a:noFill/>
          <a:ln/>
        </p:spPr>
        <p:txBody>
          <a:bodyPr wrap="square" lIns="0" tIns="0" rIns="0" bIns="0" rtlCol="0" anchor="ctr"/>
          <a:lstStyle/>
          <a:p>
            <a:pPr indent="0" marL="0">
              <a:buNone/>
            </a:pPr>
            <a:r>
              <a:rPr lang="en-US" sz="6000" b="1" dirty="0">
                <a:solidFill>
                  <a:schemeClr val="accent2"/>
                </a:solidFill>
                <a:latin typeface="Cambria" pitchFamily="34" charset="0"/>
                <a:ea typeface="Cambria" pitchFamily="34" charset="-122"/>
                <a:cs typeface="Cambria" pitchFamily="34" charset="-120"/>
              </a:rPr>
              <a:t>246</a:t>
            </a:r>
            <a:endParaRPr lang="en-US" sz="6000" dirty="0"/>
          </a:p>
        </p:txBody>
      </p:sp>
      <p:sp>
        <p:nvSpPr>
          <p:cNvPr id="7" name="Text 5"/>
          <p:cNvSpPr txBox="1"/>
          <p:nvPr/>
        </p:nvSpPr>
        <p:spPr>
          <a:xfrm>
            <a:off x="777240" y="2697480"/>
            <a:ext cx="4389120" cy="365760"/>
          </a:xfrm>
          <a:prstGeom prst="rect">
            <a:avLst/>
          </a:prstGeom>
          <a:noFill/>
          <a:ln/>
        </p:spPr>
        <p:txBody>
          <a:bodyPr wrap="square" lIns="0" tIns="0" rIns="0" bIns="0" rtlCol="0" anchor="ctr"/>
          <a:lstStyle/>
          <a:p>
            <a:pPr indent="0" marL="0">
              <a:buNone/>
            </a:pPr>
            <a:r>
              <a:rPr lang="en-US" sz="1600" b="1" dirty="0">
                <a:solidFill>
                  <a:schemeClr val="tx1"/>
                </a:solidFill>
              </a:rPr>
              <a:t>Zeilen eigenes JavaScript</a:t>
            </a:r>
            <a:endParaRPr lang="en-US" sz="1600" dirty="0"/>
          </a:p>
        </p:txBody>
      </p:sp>
      <p:sp>
        <p:nvSpPr>
          <p:cNvPr id="8" name="Text 6"/>
          <p:cNvSpPr txBox="1"/>
          <p:nvPr/>
        </p:nvSpPr>
        <p:spPr>
          <a:xfrm>
            <a:off x="777240" y="3017520"/>
            <a:ext cx="4389120" cy="274320"/>
          </a:xfrm>
          <a:prstGeom prst="rect">
            <a:avLst/>
          </a:prstGeom>
          <a:noFill/>
          <a:ln/>
        </p:spPr>
        <p:txBody>
          <a:bodyPr wrap="square" lIns="0" tIns="0" rIns="0" bIns="0" rtlCol="0" anchor="ctr"/>
          <a:lstStyle/>
          <a:p>
            <a:pPr indent="0" marL="0">
              <a:buNone/>
            </a:pPr>
            <a:r>
              <a:rPr lang="en-US" sz="1200" dirty="0">
                <a:solidFill>
                  <a:schemeClr val="accent1"/>
                </a:solidFill>
              </a:rPr>
              <a:t>Fiori Elements</a:t>
            </a:r>
            <a:pPr indent="0" marL="0">
              <a:buNone/>
            </a:pPr>
            <a:r>
              <a:rPr lang="en-US" sz="1200" dirty="0">
                <a:solidFill>
                  <a:schemeClr val="accent4"/>
                </a:solidFill>
              </a:rPr>
              <a:t>  vs.  </a:t>
            </a:r>
            <a:pPr indent="0" marL="0">
              <a:buNone/>
            </a:pPr>
            <a:r>
              <a:rPr lang="en-US" sz="1200" dirty="0">
                <a:solidFill>
                  <a:schemeClr val="accent2"/>
                </a:solidFill>
              </a:rPr>
              <a:t>Freestyle</a:t>
            </a:r>
            <a:endParaRPr lang="en-US" sz="1200" dirty="0"/>
          </a:p>
        </p:txBody>
      </p:sp>
      <p:sp>
        <p:nvSpPr>
          <p:cNvPr id="9" name="Kennzahl 2"/>
          <p:cNvSpPr/>
          <p:nvPr/>
        </p:nvSpPr>
        <p:spPr>
          <a:xfrm>
            <a:off x="548640" y="3703320"/>
            <a:ext cx="4754880" cy="1965960"/>
          </a:xfrm>
          <a:prstGeom prst="roundRect">
            <a:avLst>
              <a:gd name="adj" fmla="val 5581"/>
            </a:avLst>
          </a:prstGeom>
          <a:solidFill>
            <a:schemeClr val="bg2"/>
          </a:solidFill>
          <a:ln/>
        </p:spPr>
      </p:sp>
      <p:sp>
        <p:nvSpPr>
          <p:cNvPr id="10" name="Text 8"/>
          <p:cNvSpPr txBox="1"/>
          <p:nvPr/>
        </p:nvSpPr>
        <p:spPr>
          <a:xfrm>
            <a:off x="777240" y="3886200"/>
            <a:ext cx="2011680" cy="1005840"/>
          </a:xfrm>
          <a:prstGeom prst="rect">
            <a:avLst/>
          </a:prstGeom>
          <a:noFill/>
          <a:ln/>
        </p:spPr>
        <p:txBody>
          <a:bodyPr wrap="square" lIns="0" tIns="0" rIns="0" bIns="0" rtlCol="0" anchor="ctr"/>
          <a:lstStyle/>
          <a:p>
            <a:pPr indent="0" marL="0">
              <a:buNone/>
            </a:pPr>
            <a:r>
              <a:rPr lang="en-US" sz="6000" b="1" dirty="0">
                <a:solidFill>
                  <a:schemeClr val="accent1"/>
                </a:solidFill>
                <a:latin typeface="Cambria" pitchFamily="34" charset="0"/>
                <a:ea typeface="Cambria" pitchFamily="34" charset="-122"/>
                <a:cs typeface="Cambria" pitchFamily="34" charset="-120"/>
              </a:rPr>
              <a:t>5</a:t>
            </a:r>
            <a:endParaRPr lang="en-US" sz="6000" dirty="0"/>
          </a:p>
        </p:txBody>
      </p:sp>
      <p:sp>
        <p:nvSpPr>
          <p:cNvPr id="11" name="Text 9"/>
          <p:cNvSpPr txBox="1"/>
          <p:nvPr/>
        </p:nvSpPr>
        <p:spPr>
          <a:xfrm>
            <a:off x="2377440" y="4114800"/>
            <a:ext cx="548640" cy="640080"/>
          </a:xfrm>
          <a:prstGeom prst="rect">
            <a:avLst/>
          </a:prstGeom>
          <a:noFill/>
          <a:ln/>
        </p:spPr>
        <p:txBody>
          <a:bodyPr wrap="square" lIns="0" tIns="0" rIns="0" bIns="0" rtlCol="0" anchor="ctr"/>
          <a:lstStyle/>
          <a:p>
            <a:pPr indent="0" marL="0">
              <a:buNone/>
            </a:pPr>
            <a:r>
              <a:rPr lang="en-US" sz="1800" dirty="0">
                <a:solidFill>
                  <a:schemeClr val="accent4"/>
                </a:solidFill>
              </a:rPr>
              <a:t>vs.</a:t>
            </a:r>
            <a:endParaRPr lang="en-US" sz="1800" dirty="0"/>
          </a:p>
        </p:txBody>
      </p:sp>
      <p:sp>
        <p:nvSpPr>
          <p:cNvPr id="12" name="Text 10"/>
          <p:cNvSpPr txBox="1"/>
          <p:nvPr/>
        </p:nvSpPr>
        <p:spPr>
          <a:xfrm>
            <a:off x="2926080" y="3886200"/>
            <a:ext cx="2194560" cy="1005840"/>
          </a:xfrm>
          <a:prstGeom prst="rect">
            <a:avLst/>
          </a:prstGeom>
          <a:noFill/>
          <a:ln/>
        </p:spPr>
        <p:txBody>
          <a:bodyPr wrap="square" lIns="0" tIns="0" rIns="0" bIns="0" rtlCol="0" anchor="ctr"/>
          <a:lstStyle/>
          <a:p>
            <a:pPr indent="0" marL="0">
              <a:buNone/>
            </a:pPr>
            <a:r>
              <a:rPr lang="en-US" sz="6000" b="1" dirty="0">
                <a:solidFill>
                  <a:schemeClr val="accent2"/>
                </a:solidFill>
                <a:latin typeface="Cambria" pitchFamily="34" charset="0"/>
                <a:ea typeface="Cambria" pitchFamily="34" charset="-122"/>
                <a:cs typeface="Cambria" pitchFamily="34" charset="-120"/>
              </a:rPr>
              <a:t>15</a:t>
            </a:r>
            <a:endParaRPr lang="en-US" sz="6000" dirty="0"/>
          </a:p>
        </p:txBody>
      </p:sp>
      <p:sp>
        <p:nvSpPr>
          <p:cNvPr id="13" name="Text 11"/>
          <p:cNvSpPr txBox="1"/>
          <p:nvPr/>
        </p:nvSpPr>
        <p:spPr>
          <a:xfrm>
            <a:off x="777240" y="4937760"/>
            <a:ext cx="4389120" cy="365760"/>
          </a:xfrm>
          <a:prstGeom prst="rect">
            <a:avLst/>
          </a:prstGeom>
          <a:noFill/>
          <a:ln/>
        </p:spPr>
        <p:txBody>
          <a:bodyPr wrap="square" lIns="0" tIns="0" rIns="0" bIns="0" rtlCol="0" anchor="ctr"/>
          <a:lstStyle/>
          <a:p>
            <a:pPr indent="0" marL="0">
              <a:buNone/>
            </a:pPr>
            <a:r>
              <a:rPr lang="en-US" sz="1600" b="1" dirty="0">
                <a:solidFill>
                  <a:schemeClr val="tx1"/>
                </a:solidFill>
              </a:rPr>
              <a:t>Dateien in der App</a:t>
            </a:r>
            <a:endParaRPr lang="en-US" sz="1600" dirty="0"/>
          </a:p>
        </p:txBody>
      </p:sp>
      <p:sp>
        <p:nvSpPr>
          <p:cNvPr id="14" name="Text 12"/>
          <p:cNvSpPr txBox="1"/>
          <p:nvPr/>
        </p:nvSpPr>
        <p:spPr>
          <a:xfrm>
            <a:off x="777240" y="5257800"/>
            <a:ext cx="4389120" cy="274320"/>
          </a:xfrm>
          <a:prstGeom prst="rect">
            <a:avLst/>
          </a:prstGeom>
          <a:noFill/>
          <a:ln/>
        </p:spPr>
        <p:txBody>
          <a:bodyPr wrap="square" lIns="0" tIns="0" rIns="0" bIns="0" rtlCol="0" anchor="ctr"/>
          <a:lstStyle/>
          <a:p>
            <a:pPr indent="0" marL="0">
              <a:buNone/>
            </a:pPr>
            <a:r>
              <a:rPr lang="en-US" sz="1200" dirty="0">
                <a:solidFill>
                  <a:schemeClr val="accent1"/>
                </a:solidFill>
              </a:rPr>
              <a:t>Fiori Elements</a:t>
            </a:r>
            <a:pPr indent="0" marL="0">
              <a:buNone/>
            </a:pPr>
            <a:r>
              <a:rPr lang="en-US" sz="1200" dirty="0">
                <a:solidFill>
                  <a:schemeClr val="accent4"/>
                </a:solidFill>
              </a:rPr>
              <a:t>  vs.  </a:t>
            </a:r>
            <a:pPr indent="0" marL="0">
              <a:buNone/>
            </a:pPr>
            <a:r>
              <a:rPr lang="en-US" sz="1200" dirty="0">
                <a:solidFill>
                  <a:schemeClr val="accent2"/>
                </a:solidFill>
              </a:rPr>
              <a:t>Freestyle</a:t>
            </a:r>
            <a:endParaRPr lang="en-US" sz="1200" dirty="0"/>
          </a:p>
        </p:txBody>
      </p:sp>
      <p:graphicFrame>
        <p:nvGraphicFramePr>
          <p:cNvPr id="15" name="Diagramm Codezeilen" descr=""/>
          <p:cNvGraphicFramePr/>
          <p:nvPr/>
        </p:nvGraphicFramePr>
        <p:xfrm>
          <a:off x="5669280" y="1371600"/>
          <a:ext cx="5943600" cy="4343400"/>
        </p:xfrm>
        <a:graphic xmlns:a="http://schemas.openxmlformats.org/drawingml/2006/main">
          <a:graphicData uri="http://schemas.openxmlformats.org/drawingml/2006/chart">
            <c:chart xmlns:c="http://schemas.openxmlformats.org/drawingml/2006/chart" r:id="rId1"/>
          </a:graphicData>
        </a:graphic>
      </p:graphicFrame>
      <p:sp>
        <p:nvSpPr>
          <p:cNvPr id="16" name="Text 13"/>
          <p:cNvSpPr txBox="1"/>
          <p:nvPr/>
        </p:nvSpPr>
        <p:spPr>
          <a:xfrm>
            <a:off x="5669280" y="5760720"/>
            <a:ext cx="5943600" cy="457200"/>
          </a:xfrm>
          <a:prstGeom prst="rect">
            <a:avLst/>
          </a:prstGeom>
          <a:noFill/>
          <a:ln/>
        </p:spPr>
        <p:txBody>
          <a:bodyPr wrap="square" lIns="0" tIns="0" rIns="0" bIns="0" rtlCol="0" anchor="ctr"/>
          <a:lstStyle/>
          <a:p>
            <a:pPr indent="0" marL="0">
              <a:buNone/>
            </a:pPr>
            <a:r>
              <a:rPr lang="en-US" sz="1300" i="1" dirty="0">
                <a:solidFill>
                  <a:schemeClr val="accent4"/>
                </a:solidFill>
              </a:rPr>
              <a:t>Annotationen sind deklarativ („zeige Feld X“) – ohne Logik, die brechen kann.</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Geschenkt vs. selbst gebaut</a:t>
            </a:r>
            <a:endParaRPr lang="en-US" sz="3400" dirty="0"/>
          </a:p>
        </p:txBody>
      </p:sp>
      <p:graphicFrame>
        <p:nvGraphicFramePr>
          <p:cNvPr id="7" name="Tabelle Funktionen"/>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4297680"/>
                <a:gridCol w="2926080"/>
                <a:gridCol w="3840480"/>
              </a:tblGrid>
              <a:tr h="47548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Funktion</a:t>
                      </a:r>
                      <a:endParaRPr lang="en-US" sz="15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0B3C49"/>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Fiori Elements</a:t>
                      </a:r>
                      <a:endParaRPr lang="en-US" sz="15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0B3C49"/>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SAPUI5 Freestyle</a:t>
                      </a:r>
                      <a:endParaRPr lang="en-US" sz="15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0B3C49"/>
                    </a:solidFill>
                  </a:tcPr>
                </a:tc>
              </a:tr>
              <a:tr h="475488">
                <a:tc>
                  <a:txBody>
                    <a:bodyPr/>
                    <a:lstStyle/>
                    <a:p>
                      <a:pPr indent="0" marL="0">
                        <a:buNone/>
                      </a:pPr>
                      <a:r>
                        <a:rPr lang="en-US" sz="1500" dirty="0">
                          <a:solidFill>
                            <a:srgbClr val="1B2B34"/>
                          </a:solidFill>
                          <a:latin typeface="Calibri" pitchFamily="34" charset="0"/>
                          <a:ea typeface="Calibri" pitchFamily="34" charset="-122"/>
                          <a:cs typeface="Calibri" pitchFamily="34" charset="-120"/>
                        </a:rPr>
                        <a:t>Varianten speichern („Meine Sicht“)</a:t>
                      </a:r>
                      <a:endParaRPr lang="en-US" sz="15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r>
                        <a:rPr lang="en-US" sz="1500" b="1" dirty="0">
                          <a:solidFill>
                            <a:schemeClr val="accent1"/>
                          </a:solidFill>
                          <a:latin typeface="Calibri" pitchFamily="34" charset="0"/>
                          <a:ea typeface="Calibri" pitchFamily="34" charset="-122"/>
                          <a:cs typeface="Calibri" pitchFamily="34" charset="-120"/>
                        </a:rPr>
                        <a:t>eingebaut</a:t>
                      </a:r>
                      <a:endParaRPr lang="en-US" sz="15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r>
                        <a:rPr lang="en-US" sz="1500" b="1" dirty="0">
                          <a:solidFill>
                            <a:schemeClr val="accent2"/>
                          </a:solidFill>
                          <a:latin typeface="Calibri" pitchFamily="34" charset="0"/>
                          <a:ea typeface="Calibri" pitchFamily="34" charset="-122"/>
                          <a:cs typeface="Calibri" pitchFamily="34" charset="-120"/>
                        </a:rPr>
                        <a:t>fehlt – müsste gebaut werden</a:t>
                      </a:r>
                      <a:endParaRPr lang="en-US" sz="15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r>
              <a:tr h="475488">
                <a:tc>
                  <a:txBody>
                    <a:bodyPr/>
                    <a:lstStyle/>
                    <a:p>
                      <a:pPr indent="0" marL="0">
                        <a:buNone/>
                      </a:pPr>
                      <a:r>
                        <a:rPr lang="en-US" sz="1500" dirty="0">
                          <a:solidFill>
                            <a:srgbClr val="1B2B34"/>
                          </a:solidFill>
                          <a:latin typeface="Calibri" pitchFamily="34" charset="0"/>
                          <a:ea typeface="Calibri" pitchFamily="34" charset="-122"/>
                          <a:cs typeface="Calibri" pitchFamily="34" charset="-120"/>
                        </a:rPr>
                        <a:t>Spalten ein-/ausblenden, umsortieren</a:t>
                      </a:r>
                      <a:endParaRPr lang="en-US" sz="15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r>
                        <a:rPr lang="en-US" sz="1500" b="1" dirty="0">
                          <a:solidFill>
                            <a:schemeClr val="accent1"/>
                          </a:solidFill>
                          <a:latin typeface="Calibri" pitchFamily="34" charset="0"/>
                          <a:ea typeface="Calibri" pitchFamily="34" charset="-122"/>
                          <a:cs typeface="Calibri" pitchFamily="34" charset="-120"/>
                        </a:rPr>
                        <a:t>eingebaut</a:t>
                      </a:r>
                      <a:endParaRPr lang="en-US" sz="15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r>
                        <a:rPr lang="en-US" sz="1500" b="1" dirty="0">
                          <a:solidFill>
                            <a:schemeClr val="accent2"/>
                          </a:solidFill>
                          <a:latin typeface="Calibri" pitchFamily="34" charset="0"/>
                          <a:ea typeface="Calibri" pitchFamily="34" charset="-122"/>
                          <a:cs typeface="Calibri" pitchFamily="34" charset="-120"/>
                        </a:rPr>
                        <a:t>fehlt – müsste gebaut werden</a:t>
                      </a:r>
                      <a:endParaRPr lang="en-US" sz="15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r>
              <a:tr h="475488">
                <a:tc>
                  <a:txBody>
                    <a:bodyPr/>
                    <a:lstStyle/>
                    <a:p>
                      <a:pPr indent="0" marL="0">
                        <a:buNone/>
                      </a:pPr>
                      <a:r>
                        <a:rPr lang="en-US" sz="1500" dirty="0">
                          <a:solidFill>
                            <a:srgbClr val="1B2B34"/>
                          </a:solidFill>
                          <a:latin typeface="Calibri" pitchFamily="34" charset="0"/>
                          <a:ea typeface="Calibri" pitchFamily="34" charset="-122"/>
                          <a:cs typeface="Calibri" pitchFamily="34" charset="-120"/>
                        </a:rPr>
                        <a:t>Weitere Filterfelder, Filter-Operatoren</a:t>
                      </a:r>
                      <a:endParaRPr lang="en-US" sz="15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r>
                        <a:rPr lang="en-US" sz="1500" b="1" dirty="0">
                          <a:solidFill>
                            <a:schemeClr val="accent1"/>
                          </a:solidFill>
                          <a:latin typeface="Calibri" pitchFamily="34" charset="0"/>
                          <a:ea typeface="Calibri" pitchFamily="34" charset="-122"/>
                          <a:cs typeface="Calibri" pitchFamily="34" charset="-120"/>
                        </a:rPr>
                        <a:t>eingebaut</a:t>
                      </a:r>
                      <a:endParaRPr lang="en-US" sz="15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r>
                        <a:rPr lang="en-US" sz="1500" b="1" dirty="0">
                          <a:solidFill>
                            <a:schemeClr val="accent2"/>
                          </a:solidFill>
                          <a:latin typeface="Calibri" pitchFamily="34" charset="0"/>
                          <a:ea typeface="Calibri" pitchFamily="34" charset="-122"/>
                          <a:cs typeface="Calibri" pitchFamily="34" charset="-120"/>
                        </a:rPr>
                        <a:t>fehlt – müsste gebaut werden</a:t>
                      </a:r>
                      <a:endParaRPr lang="en-US" sz="15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r>
              <a:tr h="475488">
                <a:tc>
                  <a:txBody>
                    <a:bodyPr/>
                    <a:lstStyle/>
                    <a:p>
                      <a:pPr indent="0" marL="0">
                        <a:buNone/>
                      </a:pPr>
                      <a:r>
                        <a:rPr lang="en-US" sz="1500" dirty="0">
                          <a:solidFill>
                            <a:srgbClr val="1B2B34"/>
                          </a:solidFill>
                          <a:latin typeface="Calibri" pitchFamily="34" charset="0"/>
                          <a:ea typeface="Calibri" pitchFamily="34" charset="-122"/>
                          <a:cs typeface="Calibri" pitchFamily="34" charset="-120"/>
                        </a:rPr>
                        <a:t>Excel-Export</a:t>
                      </a:r>
                      <a:endParaRPr lang="en-US" sz="15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r>
                        <a:rPr lang="en-US" sz="1500" b="1" dirty="0">
                          <a:solidFill>
                            <a:schemeClr val="accent1"/>
                          </a:solidFill>
                          <a:latin typeface="Calibri" pitchFamily="34" charset="0"/>
                          <a:ea typeface="Calibri" pitchFamily="34" charset="-122"/>
                          <a:cs typeface="Calibri" pitchFamily="34" charset="-120"/>
                        </a:rPr>
                        <a:t>eingebaut</a:t>
                      </a:r>
                      <a:endParaRPr lang="en-US" sz="15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r>
                        <a:rPr lang="en-US" sz="1500" b="1" dirty="0">
                          <a:solidFill>
                            <a:schemeClr val="accent2"/>
                          </a:solidFill>
                          <a:latin typeface="Calibri" pitchFamily="34" charset="0"/>
                          <a:ea typeface="Calibri" pitchFamily="34" charset="-122"/>
                          <a:cs typeface="Calibri" pitchFamily="34" charset="-120"/>
                        </a:rPr>
                        <a:t>Eigenbau (Spalten doppelt gepflegt)</a:t>
                      </a:r>
                      <a:endParaRPr lang="en-US" sz="15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r>
              <a:tr h="475488">
                <a:tc>
                  <a:txBody>
                    <a:bodyPr/>
                    <a:lstStyle/>
                    <a:p>
                      <a:pPr indent="0" marL="0">
                        <a:buNone/>
                      </a:pPr>
                      <a:r>
                        <a:rPr lang="en-US" sz="1500" dirty="0">
                          <a:solidFill>
                            <a:srgbClr val="1B2B34"/>
                          </a:solidFill>
                          <a:latin typeface="Calibri" pitchFamily="34" charset="0"/>
                          <a:ea typeface="Calibri" pitchFamily="34" charset="-122"/>
                          <a:cs typeface="Calibri" pitchFamily="34" charset="-120"/>
                        </a:rPr>
                        <a:t>Wertehilfe Kunde</a:t>
                      </a:r>
                      <a:endParaRPr lang="en-US" sz="15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r>
                        <a:rPr lang="en-US" sz="1500" b="1" dirty="0">
                          <a:solidFill>
                            <a:schemeClr val="accent1"/>
                          </a:solidFill>
                          <a:latin typeface="Calibri" pitchFamily="34" charset="0"/>
                          <a:ea typeface="Calibri" pitchFamily="34" charset="-122"/>
                          <a:cs typeface="Calibri" pitchFamily="34" charset="-120"/>
                        </a:rPr>
                        <a:t>1 Annotation</a:t>
                      </a:r>
                      <a:endParaRPr lang="en-US" sz="15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r>
                        <a:rPr lang="en-US" sz="1500" b="1" dirty="0">
                          <a:solidFill>
                            <a:schemeClr val="accent2"/>
                          </a:solidFill>
                          <a:latin typeface="Calibri" pitchFamily="34" charset="0"/>
                          <a:ea typeface="Calibri" pitchFamily="34" charset="-122"/>
                          <a:cs typeface="Calibri" pitchFamily="34" charset="-120"/>
                        </a:rPr>
                        <a:t>Eigenbau (Fragment + 3 Handler)</a:t>
                      </a:r>
                      <a:endParaRPr lang="en-US" sz="15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r>
              <a:tr h="475488">
                <a:tc>
                  <a:txBody>
                    <a:bodyPr/>
                    <a:lstStyle/>
                    <a:p>
                      <a:pPr indent="0" marL="0">
                        <a:buNone/>
                      </a:pPr>
                      <a:r>
                        <a:rPr lang="en-US" sz="1500" dirty="0">
                          <a:solidFill>
                            <a:srgbClr val="1B2B34"/>
                          </a:solidFill>
                          <a:latin typeface="Calibri" pitchFamily="34" charset="0"/>
                          <a:ea typeface="Calibri" pitchFamily="34" charset="-122"/>
                          <a:cs typeface="Calibri" pitchFamily="34" charset="-120"/>
                        </a:rPr>
                        <a:t>Sortieren</a:t>
                      </a:r>
                      <a:endParaRPr lang="en-US" sz="15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r>
                        <a:rPr lang="en-US" sz="1500" b="1" dirty="0">
                          <a:solidFill>
                            <a:schemeClr val="accent1"/>
                          </a:solidFill>
                          <a:latin typeface="Calibri" pitchFamily="34" charset="0"/>
                          <a:ea typeface="Calibri" pitchFamily="34" charset="-122"/>
                          <a:cs typeface="Calibri" pitchFamily="34" charset="-120"/>
                        </a:rPr>
                        <a:t>eingebaut, mehrstufig</a:t>
                      </a:r>
                      <a:endParaRPr lang="en-US" sz="15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r>
                        <a:rPr lang="en-US" sz="1500" b="1" dirty="0">
                          <a:solidFill>
                            <a:schemeClr val="accent2"/>
                          </a:solidFill>
                          <a:latin typeface="Calibri" pitchFamily="34" charset="0"/>
                          <a:ea typeface="Calibri" pitchFamily="34" charset="-122"/>
                          <a:cs typeface="Calibri" pitchFamily="34" charset="-120"/>
                        </a:rPr>
                        <a:t>Eigenbau, nur einstufig</a:t>
                      </a:r>
                      <a:endParaRPr lang="en-US" sz="15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r>
              <a:tr h="475488">
                <a:tc>
                  <a:txBody>
                    <a:bodyPr/>
                    <a:lstStyle/>
                    <a:p>
                      <a:pPr indent="0" marL="0">
                        <a:buNone/>
                      </a:pPr>
                      <a:r>
                        <a:rPr lang="en-US" sz="1500" dirty="0">
                          <a:solidFill>
                            <a:srgbClr val="1B2B34"/>
                          </a:solidFill>
                          <a:latin typeface="Calibri" pitchFamily="34" charset="0"/>
                          <a:ea typeface="Calibri" pitchFamily="34" charset="-122"/>
                          <a:cs typeface="Calibri" pitchFamily="34" charset="-120"/>
                        </a:rPr>
                        <a:t>Barrierefreiheit, Tastatur</a:t>
                      </a:r>
                      <a:endParaRPr lang="en-US" sz="15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r>
                        <a:rPr lang="en-US" sz="1500" b="1" dirty="0">
                          <a:solidFill>
                            <a:schemeClr val="accent1"/>
                          </a:solidFill>
                          <a:latin typeface="Calibri" pitchFamily="34" charset="0"/>
                          <a:ea typeface="Calibri" pitchFamily="34" charset="-122"/>
                          <a:cs typeface="Calibri" pitchFamily="34" charset="-120"/>
                        </a:rPr>
                        <a:t>von SAP getestet</a:t>
                      </a:r>
                      <a:endParaRPr lang="en-US" sz="15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r>
                        <a:rPr lang="en-US" sz="1500" b="1" dirty="0">
                          <a:solidFill>
                            <a:schemeClr val="accent2"/>
                          </a:solidFill>
                          <a:latin typeface="Calibri" pitchFamily="34" charset="0"/>
                          <a:ea typeface="Calibri" pitchFamily="34" charset="-122"/>
                          <a:cs typeface="Calibri" pitchFamily="34" charset="-120"/>
                        </a:rPr>
                        <a:t>unsere Verantwortung</a:t>
                      </a:r>
                      <a:endParaRPr lang="en-US" sz="15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r>
              <a:tr h="475488">
                <a:tc>
                  <a:txBody>
                    <a:bodyPr/>
                    <a:lstStyle/>
                    <a:p>
                      <a:pPr indent="0" marL="0">
                        <a:buNone/>
                      </a:pPr>
                      <a:r>
                        <a:rPr lang="en-US" sz="1500" dirty="0">
                          <a:solidFill>
                            <a:srgbClr val="1B2B34"/>
                          </a:solidFill>
                          <a:latin typeface="Calibri" pitchFamily="34" charset="0"/>
                          <a:ea typeface="Calibri" pitchFamily="34" charset="-122"/>
                          <a:cs typeface="Calibri" pitchFamily="34" charset="-120"/>
                        </a:rPr>
                        <a:t>Neue UX-Features bei Upgrade</a:t>
                      </a:r>
                      <a:endParaRPr lang="en-US" sz="15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r>
                        <a:rPr lang="en-US" sz="1500" b="1" dirty="0">
                          <a:solidFill>
                            <a:schemeClr val="accent1"/>
                          </a:solidFill>
                          <a:latin typeface="Calibri" pitchFamily="34" charset="0"/>
                          <a:ea typeface="Calibri" pitchFamily="34" charset="-122"/>
                          <a:cs typeface="Calibri" pitchFamily="34" charset="-120"/>
                        </a:rPr>
                        <a:t>automatisch</a:t>
                      </a:r>
                      <a:endParaRPr lang="en-US" sz="15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r>
                        <a:rPr lang="en-US" sz="1500" b="1" dirty="0">
                          <a:solidFill>
                            <a:schemeClr val="accent2"/>
                          </a:solidFill>
                          <a:latin typeface="Calibri" pitchFamily="34" charset="0"/>
                          <a:ea typeface="Calibri" pitchFamily="34" charset="-122"/>
                          <a:cs typeface="Calibri" pitchFamily="34" charset="-120"/>
                        </a:rPr>
                        <a:t>manuell nachbauen</a:t>
                      </a:r>
                      <a:endParaRPr lang="en-US" sz="15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Eine kleine Änderung: Feld „Region“ ergänzen</a:t>
            </a:r>
            <a:endParaRPr lang="en-US" sz="3400" dirty="0"/>
          </a:p>
        </p:txBody>
      </p:sp>
      <p:sp>
        <p:nvSpPr>
          <p:cNvPr id="3" name="Text 1"/>
          <p:cNvSpPr txBox="1"/>
          <p:nvPr/>
        </p:nvSpPr>
        <p:spPr>
          <a:xfrm>
            <a:off x="548640" y="1280160"/>
            <a:ext cx="11064240" cy="365760"/>
          </a:xfrm>
          <a:prstGeom prst="rect">
            <a:avLst/>
          </a:prstGeom>
          <a:noFill/>
          <a:ln/>
        </p:spPr>
        <p:txBody>
          <a:bodyPr wrap="square" lIns="0" tIns="0" rIns="0" bIns="0" rtlCol="0" anchor="ctr"/>
          <a:lstStyle/>
          <a:p>
            <a:pPr indent="0" marL="0">
              <a:buNone/>
            </a:pPr>
            <a:r>
              <a:rPr lang="en-US" sz="1600" dirty="0">
                <a:solidFill>
                  <a:schemeClr val="accent4"/>
                </a:solidFill>
              </a:rPr>
              <a:t>Anforderung: Region als Spalte, als Filter und auf der Detailseite.</a:t>
            </a:r>
            <a:endParaRPr lang="en-US" sz="1600" dirty="0"/>
          </a:p>
        </p:txBody>
      </p:sp>
      <p:sp>
        <p:nvSpPr>
          <p:cNvPr id="4" name="Änderung FE"/>
          <p:cNvSpPr/>
          <p:nvPr/>
        </p:nvSpPr>
        <p:spPr>
          <a:xfrm>
            <a:off x="548640" y="1828800"/>
            <a:ext cx="4206240" cy="4297680"/>
          </a:xfrm>
          <a:prstGeom prst="roundRect">
            <a:avLst>
              <a:gd name="adj" fmla="val 2609"/>
            </a:avLst>
          </a:prstGeom>
          <a:solidFill>
            <a:schemeClr val="accent6"/>
          </a:solidFill>
          <a:ln/>
        </p:spPr>
      </p:sp>
      <p:sp>
        <p:nvSpPr>
          <p:cNvPr id="5" name="Text 3"/>
          <p:cNvSpPr txBox="1"/>
          <p:nvPr/>
        </p:nvSpPr>
        <p:spPr>
          <a:xfrm>
            <a:off x="822960" y="2011680"/>
            <a:ext cx="3657600" cy="411480"/>
          </a:xfrm>
          <a:prstGeom prst="rect">
            <a:avLst/>
          </a:prstGeom>
          <a:noFill/>
          <a:ln/>
        </p:spPr>
        <p:txBody>
          <a:bodyPr wrap="square" lIns="0" tIns="0" rIns="0" bIns="0" rtlCol="0" anchor="ctr"/>
          <a:lstStyle/>
          <a:p>
            <a:pPr indent="0" marL="0">
              <a:buNone/>
            </a:pPr>
            <a:r>
              <a:rPr lang="en-US" sz="1800" b="1" dirty="0">
                <a:solidFill>
                  <a:schemeClr val="accent1"/>
                </a:solidFill>
              </a:rPr>
              <a:t>Fiori Elements</a:t>
            </a:r>
            <a:endParaRPr lang="en-US" sz="1800" dirty="0"/>
          </a:p>
        </p:txBody>
      </p:sp>
      <p:sp>
        <p:nvSpPr>
          <p:cNvPr id="6" name="Text 4"/>
          <p:cNvSpPr txBox="1"/>
          <p:nvPr/>
        </p:nvSpPr>
        <p:spPr>
          <a:xfrm>
            <a:off x="822960" y="2468880"/>
            <a:ext cx="3657600" cy="73152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1 Datei · 3 Stellen</a:t>
            </a:r>
            <a:endParaRPr lang="en-US" sz="3200" dirty="0"/>
          </a:p>
        </p:txBody>
      </p:sp>
      <p:sp>
        <p:nvSpPr>
          <p:cNvPr id="7" name="Text 5"/>
          <p:cNvSpPr txBox="1"/>
          <p:nvPr/>
        </p:nvSpPr>
        <p:spPr>
          <a:xfrm>
            <a:off x="822960" y="3383280"/>
            <a:ext cx="3657600" cy="22860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annotation.xml: Filter, Spalte, Detailfeld + Label</a:t>
            </a:r>
            <a:endParaRPr lang="en-US" sz="1500" dirty="0"/>
          </a:p>
          <a:p>
            <a:pPr marL="342900" indent="-342900">
              <a:spcAft>
                <a:spcPts val="600"/>
              </a:spcAft>
              <a:buSzPct val="100000"/>
              <a:buChar char="•"/>
            </a:pPr>
            <a:r>
              <a:rPr lang="en-US" sz="1500" dirty="0">
                <a:solidFill>
                  <a:schemeClr val="tx1"/>
                </a:solidFill>
              </a:rPr>
              <a:t>Export, Sortierung und Personalisierung kommen automatisch mit</a:t>
            </a:r>
            <a:endParaRPr lang="en-US" sz="1500" dirty="0"/>
          </a:p>
        </p:txBody>
      </p:sp>
      <p:sp>
        <p:nvSpPr>
          <p:cNvPr id="8" name="Änderung Freestyle"/>
          <p:cNvSpPr/>
          <p:nvPr/>
        </p:nvSpPr>
        <p:spPr>
          <a:xfrm>
            <a:off x="5029200" y="1828800"/>
            <a:ext cx="6583680" cy="4297680"/>
          </a:xfrm>
          <a:prstGeom prst="roundRect">
            <a:avLst>
              <a:gd name="adj" fmla="val 2553"/>
            </a:avLst>
          </a:prstGeom>
          <a:solidFill>
            <a:schemeClr val="accent5"/>
          </a:solidFill>
          <a:ln/>
        </p:spPr>
      </p:sp>
      <p:sp>
        <p:nvSpPr>
          <p:cNvPr id="9" name="Text 7"/>
          <p:cNvSpPr txBox="1"/>
          <p:nvPr/>
        </p:nvSpPr>
        <p:spPr>
          <a:xfrm>
            <a:off x="5303520" y="2011680"/>
            <a:ext cx="6035040" cy="411480"/>
          </a:xfrm>
          <a:prstGeom prst="rect">
            <a:avLst/>
          </a:prstGeom>
          <a:noFill/>
          <a:ln/>
        </p:spPr>
        <p:txBody>
          <a:bodyPr wrap="square" lIns="0" tIns="0" rIns="0" bIns="0" rtlCol="0" anchor="ctr"/>
          <a:lstStyle/>
          <a:p>
            <a:pPr indent="0" marL="0">
              <a:buNone/>
            </a:pPr>
            <a:r>
              <a:rPr lang="en-US" sz="1800" b="1" dirty="0">
                <a:solidFill>
                  <a:schemeClr val="accent2"/>
                </a:solidFill>
              </a:rPr>
              <a:t>SAPUI5 Freestyle</a:t>
            </a:r>
            <a:endParaRPr lang="en-US" sz="1800" dirty="0"/>
          </a:p>
        </p:txBody>
      </p:sp>
      <p:sp>
        <p:nvSpPr>
          <p:cNvPr id="10" name="Text 8"/>
          <p:cNvSpPr txBox="1"/>
          <p:nvPr/>
        </p:nvSpPr>
        <p:spPr>
          <a:xfrm>
            <a:off x="5303520" y="2468880"/>
            <a:ext cx="6035040" cy="73152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5 Dateien · 8 Stellen</a:t>
            </a:r>
            <a:endParaRPr lang="en-US" sz="3200" dirty="0"/>
          </a:p>
        </p:txBody>
      </p:sp>
      <p:sp>
        <p:nvSpPr>
          <p:cNvPr id="11" name="Datei i18n.properties"/>
          <p:cNvSpPr/>
          <p:nvPr/>
        </p:nvSpPr>
        <p:spPr>
          <a:xfrm>
            <a:off x="5303520" y="3337560"/>
            <a:ext cx="2743200" cy="420624"/>
          </a:xfrm>
          <a:prstGeom prst="roundRect">
            <a:avLst>
              <a:gd name="adj" fmla="val 17391"/>
            </a:avLst>
          </a:prstGeom>
          <a:solidFill>
            <a:schemeClr val="bg1"/>
          </a:solidFill>
          <a:ln/>
        </p:spPr>
      </p:sp>
      <p:sp>
        <p:nvSpPr>
          <p:cNvPr id="12" name="Text 10"/>
          <p:cNvSpPr txBox="1"/>
          <p:nvPr/>
        </p:nvSpPr>
        <p:spPr>
          <a:xfrm>
            <a:off x="5394960" y="3337560"/>
            <a:ext cx="2651760" cy="420624"/>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i18n.properties</a:t>
            </a:r>
            <a:endParaRPr lang="en-US" sz="1300" dirty="0"/>
          </a:p>
        </p:txBody>
      </p:sp>
      <p:sp>
        <p:nvSpPr>
          <p:cNvPr id="13" name="Text 11"/>
          <p:cNvSpPr txBox="1"/>
          <p:nvPr/>
        </p:nvSpPr>
        <p:spPr>
          <a:xfrm>
            <a:off x="8229600" y="3337560"/>
            <a:ext cx="3200400" cy="420624"/>
          </a:xfrm>
          <a:prstGeom prst="rect">
            <a:avLst/>
          </a:prstGeom>
          <a:noFill/>
          <a:ln/>
        </p:spPr>
        <p:txBody>
          <a:bodyPr wrap="square" lIns="0" tIns="0" rIns="0" bIns="0" rtlCol="0" anchor="ctr"/>
          <a:lstStyle/>
          <a:p>
            <a:pPr indent="0" marL="0">
              <a:buNone/>
            </a:pPr>
            <a:r>
              <a:rPr lang="en-US" sz="1400" dirty="0">
                <a:solidFill>
                  <a:schemeClr val="tx1"/>
                </a:solidFill>
              </a:rPr>
              <a:t>neuer Text</a:t>
            </a:r>
            <a:endParaRPr lang="en-US" sz="1400" dirty="0"/>
          </a:p>
        </p:txBody>
      </p:sp>
      <p:sp>
        <p:nvSpPr>
          <p:cNvPr id="14" name="Datei Worklist.view.xml"/>
          <p:cNvSpPr/>
          <p:nvPr/>
        </p:nvSpPr>
        <p:spPr>
          <a:xfrm>
            <a:off x="5303520" y="3867912"/>
            <a:ext cx="2743200" cy="420624"/>
          </a:xfrm>
          <a:prstGeom prst="roundRect">
            <a:avLst>
              <a:gd name="adj" fmla="val 17391"/>
            </a:avLst>
          </a:prstGeom>
          <a:solidFill>
            <a:schemeClr val="bg1"/>
          </a:solidFill>
          <a:ln/>
        </p:spPr>
      </p:sp>
      <p:sp>
        <p:nvSpPr>
          <p:cNvPr id="15" name="Text 13"/>
          <p:cNvSpPr txBox="1"/>
          <p:nvPr/>
        </p:nvSpPr>
        <p:spPr>
          <a:xfrm>
            <a:off x="5394960" y="3867912"/>
            <a:ext cx="2651760" cy="420624"/>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Worklist.view.xml</a:t>
            </a:r>
            <a:endParaRPr lang="en-US" sz="1300" dirty="0"/>
          </a:p>
        </p:txBody>
      </p:sp>
      <p:sp>
        <p:nvSpPr>
          <p:cNvPr id="16" name="Text 14"/>
          <p:cNvSpPr txBox="1"/>
          <p:nvPr/>
        </p:nvSpPr>
        <p:spPr>
          <a:xfrm>
            <a:off x="8229600" y="3867912"/>
            <a:ext cx="3200400" cy="420624"/>
          </a:xfrm>
          <a:prstGeom prst="rect">
            <a:avLst/>
          </a:prstGeom>
          <a:noFill/>
          <a:ln/>
        </p:spPr>
        <p:txBody>
          <a:bodyPr wrap="square" lIns="0" tIns="0" rIns="0" bIns="0" rtlCol="0" anchor="ctr"/>
          <a:lstStyle/>
          <a:p>
            <a:pPr indent="0" marL="0">
              <a:buNone/>
            </a:pPr>
            <a:r>
              <a:rPr lang="en-US" sz="1400" dirty="0">
                <a:solidFill>
                  <a:schemeClr val="tx1"/>
                </a:solidFill>
              </a:rPr>
              <a:t>Filterfeld, Spalte, Zelle</a:t>
            </a:r>
            <a:endParaRPr lang="en-US" sz="1400" dirty="0"/>
          </a:p>
        </p:txBody>
      </p:sp>
      <p:sp>
        <p:nvSpPr>
          <p:cNvPr id="17" name="Datei Worklist.controller.js"/>
          <p:cNvSpPr/>
          <p:nvPr/>
        </p:nvSpPr>
        <p:spPr>
          <a:xfrm>
            <a:off x="5303520" y="4398264"/>
            <a:ext cx="2743200" cy="420624"/>
          </a:xfrm>
          <a:prstGeom prst="roundRect">
            <a:avLst>
              <a:gd name="adj" fmla="val 17391"/>
            </a:avLst>
          </a:prstGeom>
          <a:solidFill>
            <a:schemeClr val="bg1"/>
          </a:solidFill>
          <a:ln/>
        </p:spPr>
      </p:sp>
      <p:sp>
        <p:nvSpPr>
          <p:cNvPr id="18" name="Text 16"/>
          <p:cNvSpPr txBox="1"/>
          <p:nvPr/>
        </p:nvSpPr>
        <p:spPr>
          <a:xfrm>
            <a:off x="5394960" y="4398264"/>
            <a:ext cx="2651760" cy="420624"/>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Worklist.controller.js</a:t>
            </a:r>
            <a:endParaRPr lang="en-US" sz="1300" dirty="0"/>
          </a:p>
        </p:txBody>
      </p:sp>
      <p:sp>
        <p:nvSpPr>
          <p:cNvPr id="19" name="Text 17"/>
          <p:cNvSpPr txBox="1"/>
          <p:nvPr/>
        </p:nvSpPr>
        <p:spPr>
          <a:xfrm>
            <a:off x="8229600" y="4398264"/>
            <a:ext cx="3200400" cy="420624"/>
          </a:xfrm>
          <a:prstGeom prst="rect">
            <a:avLst/>
          </a:prstGeom>
          <a:noFill/>
          <a:ln/>
        </p:spPr>
        <p:txBody>
          <a:bodyPr wrap="square" lIns="0" tIns="0" rIns="0" bIns="0" rtlCol="0" anchor="ctr"/>
          <a:lstStyle/>
          <a:p>
            <a:pPr indent="0" marL="0">
              <a:buNone/>
            </a:pPr>
            <a:r>
              <a:rPr lang="en-US" sz="1400" dirty="0">
                <a:solidFill>
                  <a:schemeClr val="tx1"/>
                </a:solidFill>
              </a:rPr>
              <a:t>Filterlogik, Reset, Export</a:t>
            </a:r>
            <a:endParaRPr lang="en-US" sz="1400" dirty="0"/>
          </a:p>
        </p:txBody>
      </p:sp>
      <p:sp>
        <p:nvSpPr>
          <p:cNvPr id="20" name="Datei SortDialog.fragment.xml"/>
          <p:cNvSpPr/>
          <p:nvPr/>
        </p:nvSpPr>
        <p:spPr>
          <a:xfrm>
            <a:off x="5303520" y="4928616"/>
            <a:ext cx="2743200" cy="420624"/>
          </a:xfrm>
          <a:prstGeom prst="roundRect">
            <a:avLst>
              <a:gd name="adj" fmla="val 17391"/>
            </a:avLst>
          </a:prstGeom>
          <a:solidFill>
            <a:schemeClr val="bg1"/>
          </a:solidFill>
          <a:ln/>
        </p:spPr>
      </p:sp>
      <p:sp>
        <p:nvSpPr>
          <p:cNvPr id="21" name="Text 19"/>
          <p:cNvSpPr txBox="1"/>
          <p:nvPr/>
        </p:nvSpPr>
        <p:spPr>
          <a:xfrm>
            <a:off x="5394960" y="4928616"/>
            <a:ext cx="2651760" cy="420624"/>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SortDialog.fragment.xml</a:t>
            </a:r>
            <a:endParaRPr lang="en-US" sz="1300" dirty="0"/>
          </a:p>
        </p:txBody>
      </p:sp>
      <p:sp>
        <p:nvSpPr>
          <p:cNvPr id="22" name="Text 20"/>
          <p:cNvSpPr txBox="1"/>
          <p:nvPr/>
        </p:nvSpPr>
        <p:spPr>
          <a:xfrm>
            <a:off x="8229600" y="4928616"/>
            <a:ext cx="3200400" cy="420624"/>
          </a:xfrm>
          <a:prstGeom prst="rect">
            <a:avLst/>
          </a:prstGeom>
          <a:noFill/>
          <a:ln/>
        </p:spPr>
        <p:txBody>
          <a:bodyPr wrap="square" lIns="0" tIns="0" rIns="0" bIns="0" rtlCol="0" anchor="ctr"/>
          <a:lstStyle/>
          <a:p>
            <a:pPr indent="0" marL="0">
              <a:buNone/>
            </a:pPr>
            <a:r>
              <a:rPr lang="en-US" sz="1400" dirty="0">
                <a:solidFill>
                  <a:schemeClr val="tx1"/>
                </a:solidFill>
              </a:rPr>
              <a:t>Sortieroption</a:t>
            </a:r>
            <a:endParaRPr lang="en-US" sz="1400" dirty="0"/>
          </a:p>
        </p:txBody>
      </p:sp>
      <p:sp>
        <p:nvSpPr>
          <p:cNvPr id="23" name="Datei Detail.view.xml"/>
          <p:cNvSpPr/>
          <p:nvPr/>
        </p:nvSpPr>
        <p:spPr>
          <a:xfrm>
            <a:off x="5303520" y="5458968"/>
            <a:ext cx="2743200" cy="420624"/>
          </a:xfrm>
          <a:prstGeom prst="roundRect">
            <a:avLst>
              <a:gd name="adj" fmla="val 17391"/>
            </a:avLst>
          </a:prstGeom>
          <a:solidFill>
            <a:schemeClr val="bg1"/>
          </a:solidFill>
          <a:ln/>
        </p:spPr>
      </p:sp>
      <p:sp>
        <p:nvSpPr>
          <p:cNvPr id="24" name="Text 22"/>
          <p:cNvSpPr txBox="1"/>
          <p:nvPr/>
        </p:nvSpPr>
        <p:spPr>
          <a:xfrm>
            <a:off x="5394960" y="5458968"/>
            <a:ext cx="2651760" cy="420624"/>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Detail.view.xml</a:t>
            </a:r>
            <a:endParaRPr lang="en-US" sz="1300" dirty="0"/>
          </a:p>
        </p:txBody>
      </p:sp>
      <p:sp>
        <p:nvSpPr>
          <p:cNvPr id="25" name="Text 23"/>
          <p:cNvSpPr txBox="1"/>
          <p:nvPr/>
        </p:nvSpPr>
        <p:spPr>
          <a:xfrm>
            <a:off x="8229600" y="5458968"/>
            <a:ext cx="3200400" cy="420624"/>
          </a:xfrm>
          <a:prstGeom prst="rect">
            <a:avLst/>
          </a:prstGeom>
          <a:noFill/>
          <a:ln/>
        </p:spPr>
        <p:txBody>
          <a:bodyPr wrap="square" lIns="0" tIns="0" rIns="0" bIns="0" rtlCol="0" anchor="ctr"/>
          <a:lstStyle/>
          <a:p>
            <a:pPr indent="0" marL="0">
              <a:buNone/>
            </a:pPr>
            <a:r>
              <a:rPr lang="en-US" sz="1400" dirty="0">
                <a:solidFill>
                  <a:schemeClr val="tx1"/>
                </a:solidFill>
              </a:rPr>
              <a:t>Label + Feld</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Freestyle heißt: Wir sind in der Pflicht</a:t>
            </a:r>
            <a:endParaRPr lang="en-US" sz="3400" dirty="0"/>
          </a:p>
        </p:txBody>
      </p:sp>
      <p:sp>
        <p:nvSpPr>
          <p:cNvPr id="3" name="Paketmanagement Kreis"/>
          <p:cNvSpPr/>
          <p:nvPr/>
        </p:nvSpPr>
        <p:spPr>
          <a:xfrm>
            <a:off x="548640" y="1463040"/>
            <a:ext cx="731520" cy="731520"/>
          </a:xfrm>
          <a:prstGeom prst="ellipse">
            <a:avLst/>
          </a:prstGeom>
          <a:solidFill>
            <a:schemeClr val="accent2"/>
          </a:solidFill>
          <a:ln/>
        </p:spPr>
      </p:sp>
      <p:pic>
        <p:nvPicPr>
          <p:cNvPr id="4" name="Paketmanagement Icon" descr="Paketmanagement">    </p:cNvPr>
          <p:cNvPicPr>
            <a:picLocks noChangeAspect="1"/>
          </p:cNvPicPr>
          <p:nvPr/>
        </p:nvPicPr>
        <p:blipFill>
          <a:blip r:embed="rId1"/>
          <a:stretch>
            <a:fillRect/>
          </a:stretch>
        </p:blipFill>
        <p:spPr>
          <a:xfrm>
            <a:off x="731520" y="1645920"/>
            <a:ext cx="365760" cy="365760"/>
          </a:xfrm>
          <a:prstGeom prst="rect">
            <a:avLst/>
          </a:prstGeom>
        </p:spPr>
      </p:pic>
      <p:sp>
        <p:nvSpPr>
          <p:cNvPr id="5" name="Text 2"/>
          <p:cNvSpPr txBox="1"/>
          <p:nvPr/>
        </p:nvSpPr>
        <p:spPr>
          <a:xfrm>
            <a:off x="1508760" y="1417320"/>
            <a:ext cx="4389120" cy="384048"/>
          </a:xfrm>
          <a:prstGeom prst="rect">
            <a:avLst/>
          </a:prstGeom>
          <a:noFill/>
          <a:ln/>
        </p:spPr>
        <p:txBody>
          <a:bodyPr wrap="square" lIns="0" tIns="0" rIns="0" bIns="0" rtlCol="0" anchor="ctr"/>
          <a:lstStyle/>
          <a:p>
            <a:pPr indent="0" marL="0">
              <a:buNone/>
            </a:pPr>
            <a:r>
              <a:rPr lang="en-US" sz="1800" b="1" dirty="0">
                <a:solidFill>
                  <a:schemeClr val="tx1"/>
                </a:solidFill>
              </a:rPr>
              <a:t>Paketmanagement</a:t>
            </a:r>
            <a:endParaRPr lang="en-US" sz="1800" dirty="0"/>
          </a:p>
        </p:txBody>
      </p:sp>
      <p:sp>
        <p:nvSpPr>
          <p:cNvPr id="6" name="Text 3"/>
          <p:cNvSpPr txBox="1"/>
          <p:nvPr/>
        </p:nvSpPr>
        <p:spPr>
          <a:xfrm>
            <a:off x="1508760" y="1828800"/>
            <a:ext cx="4389120" cy="960120"/>
          </a:xfrm>
          <a:prstGeom prst="rect">
            <a:avLst/>
          </a:prstGeom>
          <a:noFill/>
          <a:ln/>
        </p:spPr>
        <p:txBody>
          <a:bodyPr wrap="square" lIns="0" tIns="0" rIns="0" bIns="0" rtlCol="0" anchor="t"/>
          <a:lstStyle/>
          <a:p>
            <a:pPr indent="0" marL="0">
              <a:buNone/>
            </a:pPr>
            <a:r>
              <a:rPr lang="en-US" sz="1400" dirty="0">
                <a:solidFill>
                  <a:schemeClr val="tx1"/>
                </a:solidFill>
              </a:rPr>
              <a:t>Jede App hat ihre eigene package.json. Schon das Tooling der Demo: 538 npm-Pakete, die aktuell gehalten werden müssen.</a:t>
            </a:r>
            <a:endParaRPr lang="en-US" sz="1400" dirty="0"/>
          </a:p>
        </p:txBody>
      </p:sp>
      <p:sp>
        <p:nvSpPr>
          <p:cNvPr id="7" name="UI5-Upgrades Kreis"/>
          <p:cNvSpPr/>
          <p:nvPr/>
        </p:nvSpPr>
        <p:spPr>
          <a:xfrm>
            <a:off x="6217920" y="1463040"/>
            <a:ext cx="731520" cy="731520"/>
          </a:xfrm>
          <a:prstGeom prst="ellipse">
            <a:avLst/>
          </a:prstGeom>
          <a:solidFill>
            <a:schemeClr val="accent2"/>
          </a:solidFill>
          <a:ln/>
        </p:spPr>
      </p:sp>
      <p:pic>
        <p:nvPicPr>
          <p:cNvPr id="8" name="UI5-Upgrades Icon" descr="UI5-Upgrades">    </p:cNvPr>
          <p:cNvPicPr>
            <a:picLocks noChangeAspect="1"/>
          </p:cNvPicPr>
          <p:nvPr/>
        </p:nvPicPr>
        <p:blipFill>
          <a:blip r:embed="rId2"/>
          <a:stretch>
            <a:fillRect/>
          </a:stretch>
        </p:blipFill>
        <p:spPr>
          <a:xfrm>
            <a:off x="6400800" y="1645920"/>
            <a:ext cx="365760" cy="365760"/>
          </a:xfrm>
          <a:prstGeom prst="rect">
            <a:avLst/>
          </a:prstGeom>
        </p:spPr>
      </p:pic>
      <p:sp>
        <p:nvSpPr>
          <p:cNvPr id="9" name="Text 5"/>
          <p:cNvSpPr txBox="1"/>
          <p:nvPr/>
        </p:nvSpPr>
        <p:spPr>
          <a:xfrm>
            <a:off x="7178040" y="1417320"/>
            <a:ext cx="4389120" cy="384048"/>
          </a:xfrm>
          <a:prstGeom prst="rect">
            <a:avLst/>
          </a:prstGeom>
          <a:noFill/>
          <a:ln/>
        </p:spPr>
        <p:txBody>
          <a:bodyPr wrap="square" lIns="0" tIns="0" rIns="0" bIns="0" rtlCol="0" anchor="ctr"/>
          <a:lstStyle/>
          <a:p>
            <a:pPr indent="0" marL="0">
              <a:buNone/>
            </a:pPr>
            <a:r>
              <a:rPr lang="en-US" sz="1800" b="1" dirty="0">
                <a:solidFill>
                  <a:schemeClr val="tx1"/>
                </a:solidFill>
              </a:rPr>
              <a:t>UI5-Upgrades</a:t>
            </a:r>
            <a:endParaRPr lang="en-US" sz="1800" dirty="0"/>
          </a:p>
        </p:txBody>
      </p:sp>
      <p:sp>
        <p:nvSpPr>
          <p:cNvPr id="10" name="Text 6"/>
          <p:cNvSpPr txBox="1"/>
          <p:nvPr/>
        </p:nvSpPr>
        <p:spPr>
          <a:xfrm>
            <a:off x="7178040" y="1828800"/>
            <a:ext cx="4389120" cy="960120"/>
          </a:xfrm>
          <a:prstGeom prst="rect">
            <a:avLst/>
          </a:prstGeom>
          <a:noFill/>
          <a:ln/>
        </p:spPr>
        <p:txBody>
          <a:bodyPr wrap="square" lIns="0" tIns="0" rIns="0" bIns="0" rtlCol="0" anchor="t"/>
          <a:lstStyle/>
          <a:p>
            <a:pPr indent="0" marL="0">
              <a:buNone/>
            </a:pPr>
            <a:r>
              <a:rPr lang="en-US" sz="1400" dirty="0">
                <a:solidFill>
                  <a:schemeClr val="tx1"/>
                </a:solidFill>
              </a:rPr>
              <a:t>Veraltete APIs fallen weg (UI5 2.x). Jede Freestyle-App muss geprüft und migriert werden.</a:t>
            </a:r>
            <a:endParaRPr lang="en-US" sz="1400" dirty="0"/>
          </a:p>
        </p:txBody>
      </p:sp>
      <p:sp>
        <p:nvSpPr>
          <p:cNvPr id="11" name="Custom-Code-Logik Kreis"/>
          <p:cNvSpPr/>
          <p:nvPr/>
        </p:nvSpPr>
        <p:spPr>
          <a:xfrm>
            <a:off x="548640" y="3063240"/>
            <a:ext cx="731520" cy="731520"/>
          </a:xfrm>
          <a:prstGeom prst="ellipse">
            <a:avLst/>
          </a:prstGeom>
          <a:solidFill>
            <a:schemeClr val="accent2"/>
          </a:solidFill>
          <a:ln/>
        </p:spPr>
      </p:sp>
      <p:pic>
        <p:nvPicPr>
          <p:cNvPr id="12" name="Custom-Code-Logik Icon" descr="Custom-Code-Logik">    </p:cNvPr>
          <p:cNvPicPr>
            <a:picLocks noChangeAspect="1"/>
          </p:cNvPicPr>
          <p:nvPr/>
        </p:nvPicPr>
        <p:blipFill>
          <a:blip r:embed="rId3"/>
          <a:stretch>
            <a:fillRect/>
          </a:stretch>
        </p:blipFill>
        <p:spPr>
          <a:xfrm>
            <a:off x="731520" y="3246120"/>
            <a:ext cx="365760" cy="365760"/>
          </a:xfrm>
          <a:prstGeom prst="rect">
            <a:avLst/>
          </a:prstGeom>
        </p:spPr>
      </p:pic>
      <p:sp>
        <p:nvSpPr>
          <p:cNvPr id="13" name="Text 8"/>
          <p:cNvSpPr txBox="1"/>
          <p:nvPr/>
        </p:nvSpPr>
        <p:spPr>
          <a:xfrm>
            <a:off x="1508760" y="3017520"/>
            <a:ext cx="4389120" cy="384048"/>
          </a:xfrm>
          <a:prstGeom prst="rect">
            <a:avLst/>
          </a:prstGeom>
          <a:noFill/>
          <a:ln/>
        </p:spPr>
        <p:txBody>
          <a:bodyPr wrap="square" lIns="0" tIns="0" rIns="0" bIns="0" rtlCol="0" anchor="ctr"/>
          <a:lstStyle/>
          <a:p>
            <a:pPr indent="0" marL="0">
              <a:buNone/>
            </a:pPr>
            <a:r>
              <a:rPr lang="en-US" sz="1800" b="1" dirty="0">
                <a:solidFill>
                  <a:schemeClr val="tx1"/>
                </a:solidFill>
              </a:rPr>
              <a:t>Custom-Code-Logik</a:t>
            </a:r>
            <a:endParaRPr lang="en-US" sz="1800" dirty="0"/>
          </a:p>
        </p:txBody>
      </p:sp>
      <p:sp>
        <p:nvSpPr>
          <p:cNvPr id="14" name="Text 9"/>
          <p:cNvSpPr txBox="1"/>
          <p:nvPr/>
        </p:nvSpPr>
        <p:spPr>
          <a:xfrm>
            <a:off x="1508760" y="3429000"/>
            <a:ext cx="4389120" cy="960120"/>
          </a:xfrm>
          <a:prstGeom prst="rect">
            <a:avLst/>
          </a:prstGeom>
          <a:noFill/>
          <a:ln/>
        </p:spPr>
        <p:txBody>
          <a:bodyPr wrap="square" lIns="0" tIns="0" rIns="0" bIns="0" rtlCol="0" anchor="t"/>
          <a:lstStyle/>
          <a:p>
            <a:pPr indent="0" marL="0">
              <a:buNone/>
            </a:pPr>
            <a:r>
              <a:rPr lang="en-US" sz="1400" dirty="0">
                <a:solidFill>
                  <a:schemeClr val="tx1"/>
                </a:solidFill>
              </a:rPr>
              <a:t>Filter, Export, Navigation, Fehlerbehandlung: alles selbst programmiert, alles selbst zu warten.</a:t>
            </a:r>
            <a:endParaRPr lang="en-US" sz="1400" dirty="0"/>
          </a:p>
        </p:txBody>
      </p:sp>
      <p:sp>
        <p:nvSpPr>
          <p:cNvPr id="15" name="Tests Kreis"/>
          <p:cNvSpPr/>
          <p:nvPr/>
        </p:nvSpPr>
        <p:spPr>
          <a:xfrm>
            <a:off x="6217920" y="3063240"/>
            <a:ext cx="731520" cy="731520"/>
          </a:xfrm>
          <a:prstGeom prst="ellipse">
            <a:avLst/>
          </a:prstGeom>
          <a:solidFill>
            <a:schemeClr val="accent2"/>
          </a:solidFill>
          <a:ln/>
        </p:spPr>
      </p:sp>
      <p:pic>
        <p:nvPicPr>
          <p:cNvPr id="16" name="Tests Icon" descr="Tests">    </p:cNvPr>
          <p:cNvPicPr>
            <a:picLocks noChangeAspect="1"/>
          </p:cNvPicPr>
          <p:nvPr/>
        </p:nvPicPr>
        <p:blipFill>
          <a:blip r:embed="rId4"/>
          <a:stretch>
            <a:fillRect/>
          </a:stretch>
        </p:blipFill>
        <p:spPr>
          <a:xfrm>
            <a:off x="6400800" y="3246120"/>
            <a:ext cx="365760" cy="365760"/>
          </a:xfrm>
          <a:prstGeom prst="rect">
            <a:avLst/>
          </a:prstGeom>
        </p:spPr>
      </p:pic>
      <p:sp>
        <p:nvSpPr>
          <p:cNvPr id="17" name="Text 11"/>
          <p:cNvSpPr txBox="1"/>
          <p:nvPr/>
        </p:nvSpPr>
        <p:spPr>
          <a:xfrm>
            <a:off x="7178040" y="3017520"/>
            <a:ext cx="4389120" cy="384048"/>
          </a:xfrm>
          <a:prstGeom prst="rect">
            <a:avLst/>
          </a:prstGeom>
          <a:noFill/>
          <a:ln/>
        </p:spPr>
        <p:txBody>
          <a:bodyPr wrap="square" lIns="0" tIns="0" rIns="0" bIns="0" rtlCol="0" anchor="ctr"/>
          <a:lstStyle/>
          <a:p>
            <a:pPr indent="0" marL="0">
              <a:buNone/>
            </a:pPr>
            <a:r>
              <a:rPr lang="en-US" sz="1800" b="1" dirty="0">
                <a:solidFill>
                  <a:schemeClr val="tx1"/>
                </a:solidFill>
              </a:rPr>
              <a:t>Tests</a:t>
            </a:r>
            <a:endParaRPr lang="en-US" sz="1800" dirty="0"/>
          </a:p>
        </p:txBody>
      </p:sp>
      <p:sp>
        <p:nvSpPr>
          <p:cNvPr id="18" name="Text 12"/>
          <p:cNvSpPr txBox="1"/>
          <p:nvPr/>
        </p:nvSpPr>
        <p:spPr>
          <a:xfrm>
            <a:off x="7178040" y="3429000"/>
            <a:ext cx="4389120" cy="960120"/>
          </a:xfrm>
          <a:prstGeom prst="rect">
            <a:avLst/>
          </a:prstGeom>
          <a:noFill/>
          <a:ln/>
        </p:spPr>
        <p:txBody>
          <a:bodyPr wrap="square" lIns="0" tIns="0" rIns="0" bIns="0" rtlCol="0" anchor="t"/>
          <a:lstStyle/>
          <a:p>
            <a:pPr indent="0" marL="0">
              <a:buNone/>
            </a:pPr>
            <a:r>
              <a:rPr lang="en-US" sz="1400" dirty="0">
                <a:solidFill>
                  <a:schemeClr val="tx1"/>
                </a:solidFill>
              </a:rPr>
              <a:t>Unit- und Oberflächentests (QUnit, OPA5) schreiben und pflegen – sonst bricht jedes Upgrade unbemerkt.</a:t>
            </a:r>
            <a:endParaRPr lang="en-US" sz="1400" dirty="0"/>
          </a:p>
        </p:txBody>
      </p:sp>
      <p:sp>
        <p:nvSpPr>
          <p:cNvPr id="19" name="Know-how Kreis"/>
          <p:cNvSpPr/>
          <p:nvPr/>
        </p:nvSpPr>
        <p:spPr>
          <a:xfrm>
            <a:off x="548640" y="4663440"/>
            <a:ext cx="731520" cy="731520"/>
          </a:xfrm>
          <a:prstGeom prst="ellipse">
            <a:avLst/>
          </a:prstGeom>
          <a:solidFill>
            <a:schemeClr val="accent2"/>
          </a:solidFill>
          <a:ln/>
        </p:spPr>
      </p:sp>
      <p:pic>
        <p:nvPicPr>
          <p:cNvPr id="20" name="Know-how Icon" descr="Know-how">    </p:cNvPr>
          <p:cNvPicPr>
            <a:picLocks noChangeAspect="1"/>
          </p:cNvPicPr>
          <p:nvPr/>
        </p:nvPicPr>
        <p:blipFill>
          <a:blip r:embed="rId5"/>
          <a:stretch>
            <a:fillRect/>
          </a:stretch>
        </p:blipFill>
        <p:spPr>
          <a:xfrm>
            <a:off x="731520" y="4846320"/>
            <a:ext cx="365760" cy="365760"/>
          </a:xfrm>
          <a:prstGeom prst="rect">
            <a:avLst/>
          </a:prstGeom>
        </p:spPr>
      </p:pic>
      <p:sp>
        <p:nvSpPr>
          <p:cNvPr id="21" name="Text 14"/>
          <p:cNvSpPr txBox="1"/>
          <p:nvPr/>
        </p:nvSpPr>
        <p:spPr>
          <a:xfrm>
            <a:off x="1508760" y="4617720"/>
            <a:ext cx="4389120" cy="384048"/>
          </a:xfrm>
          <a:prstGeom prst="rect">
            <a:avLst/>
          </a:prstGeom>
          <a:noFill/>
          <a:ln/>
        </p:spPr>
        <p:txBody>
          <a:bodyPr wrap="square" lIns="0" tIns="0" rIns="0" bIns="0" rtlCol="0" anchor="ctr"/>
          <a:lstStyle/>
          <a:p>
            <a:pPr indent="0" marL="0">
              <a:buNone/>
            </a:pPr>
            <a:r>
              <a:rPr lang="en-US" sz="1800" b="1" dirty="0">
                <a:solidFill>
                  <a:schemeClr val="tx1"/>
                </a:solidFill>
              </a:rPr>
              <a:t>Know-how</a:t>
            </a:r>
            <a:endParaRPr lang="en-US" sz="1800" dirty="0"/>
          </a:p>
        </p:txBody>
      </p:sp>
      <p:sp>
        <p:nvSpPr>
          <p:cNvPr id="22" name="Text 15"/>
          <p:cNvSpPr txBox="1"/>
          <p:nvPr/>
        </p:nvSpPr>
        <p:spPr>
          <a:xfrm>
            <a:off x="1508760" y="5029200"/>
            <a:ext cx="4389120" cy="960120"/>
          </a:xfrm>
          <a:prstGeom prst="rect">
            <a:avLst/>
          </a:prstGeom>
          <a:noFill/>
          <a:ln/>
        </p:spPr>
        <p:txBody>
          <a:bodyPr wrap="square" lIns="0" tIns="0" rIns="0" bIns="0" rtlCol="0" anchor="t"/>
          <a:lstStyle/>
          <a:p>
            <a:pPr indent="0" marL="0">
              <a:buNone/>
            </a:pPr>
            <a:r>
              <a:rPr lang="en-US" sz="1400" dirty="0">
                <a:solidFill>
                  <a:schemeClr val="tx1"/>
                </a:solidFill>
              </a:rPr>
              <a:t>JavaScript, UI5-Framework, Browser-Debugging und Node-Tooling – zusätzlich zu ABAP und OData.</a:t>
            </a:r>
            <a:endParaRPr lang="en-US" sz="1400" dirty="0"/>
          </a:p>
        </p:txBody>
      </p:sp>
      <p:sp>
        <p:nvSpPr>
          <p:cNvPr id="23" name="UX &amp; Barrierefreiheit Kreis"/>
          <p:cNvSpPr/>
          <p:nvPr/>
        </p:nvSpPr>
        <p:spPr>
          <a:xfrm>
            <a:off x="6217920" y="4663440"/>
            <a:ext cx="731520" cy="731520"/>
          </a:xfrm>
          <a:prstGeom prst="ellipse">
            <a:avLst/>
          </a:prstGeom>
          <a:solidFill>
            <a:schemeClr val="accent2"/>
          </a:solidFill>
          <a:ln/>
        </p:spPr>
      </p:sp>
      <p:pic>
        <p:nvPicPr>
          <p:cNvPr id="24" name="UX &amp; Barrierefreiheit Icon" descr="UX &amp; Barrierefreiheit">    </p:cNvPr>
          <p:cNvPicPr>
            <a:picLocks noChangeAspect="1"/>
          </p:cNvPicPr>
          <p:nvPr/>
        </p:nvPicPr>
        <p:blipFill>
          <a:blip r:embed="rId6"/>
          <a:stretch>
            <a:fillRect/>
          </a:stretch>
        </p:blipFill>
        <p:spPr>
          <a:xfrm>
            <a:off x="6400800" y="4846320"/>
            <a:ext cx="365760" cy="365760"/>
          </a:xfrm>
          <a:prstGeom prst="rect">
            <a:avLst/>
          </a:prstGeom>
        </p:spPr>
      </p:pic>
      <p:sp>
        <p:nvSpPr>
          <p:cNvPr id="25" name="Text 17"/>
          <p:cNvSpPr txBox="1"/>
          <p:nvPr/>
        </p:nvSpPr>
        <p:spPr>
          <a:xfrm>
            <a:off x="7178040" y="4617720"/>
            <a:ext cx="4389120" cy="384048"/>
          </a:xfrm>
          <a:prstGeom prst="rect">
            <a:avLst/>
          </a:prstGeom>
          <a:noFill/>
          <a:ln/>
        </p:spPr>
        <p:txBody>
          <a:bodyPr wrap="square" lIns="0" tIns="0" rIns="0" bIns="0" rtlCol="0" anchor="ctr"/>
          <a:lstStyle/>
          <a:p>
            <a:pPr indent="0" marL="0">
              <a:buNone/>
            </a:pPr>
            <a:r>
              <a:rPr lang="en-US" sz="1800" b="1" dirty="0">
                <a:solidFill>
                  <a:schemeClr val="tx1"/>
                </a:solidFill>
              </a:rPr>
              <a:t>UX &amp; Barrierefreiheit</a:t>
            </a:r>
            <a:endParaRPr lang="en-US" sz="1800" dirty="0"/>
          </a:p>
        </p:txBody>
      </p:sp>
      <p:sp>
        <p:nvSpPr>
          <p:cNvPr id="26" name="Text 18"/>
          <p:cNvSpPr txBox="1"/>
          <p:nvPr/>
        </p:nvSpPr>
        <p:spPr>
          <a:xfrm>
            <a:off x="7178040" y="5029200"/>
            <a:ext cx="4389120" cy="960120"/>
          </a:xfrm>
          <a:prstGeom prst="rect">
            <a:avLst/>
          </a:prstGeom>
          <a:noFill/>
          <a:ln/>
        </p:spPr>
        <p:txBody>
          <a:bodyPr wrap="square" lIns="0" tIns="0" rIns="0" bIns="0" rtlCol="0" anchor="t"/>
          <a:lstStyle/>
          <a:p>
            <a:pPr indent="0" marL="0">
              <a:buNone/>
            </a:pPr>
            <a:r>
              <a:rPr lang="en-US" sz="1400" dirty="0">
                <a:solidFill>
                  <a:schemeClr val="tx1"/>
                </a:solidFill>
              </a:rPr>
              <a:t>Fiori-Guidelines und Barrierefreiheit müssen wir selbst sicherstellen und nachweisen.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Das ist nicht mehr die klassische SAP-Welt</a:t>
            </a:r>
            <a:endParaRPr lang="en-US" sz="3400" dirty="0"/>
          </a:p>
        </p:txBody>
      </p:sp>
      <p:graphicFrame>
        <p:nvGraphicFramePr>
          <p:cNvPr id="10" name="Tabelle Vergleich"/>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011680"/>
                <a:gridCol w="2834640"/>
                <a:gridCol w="2926080"/>
                <a:gridCol w="3291840"/>
              </a:tblGrid>
              <a:tr h="731520">
                <a:tc>
                  <a:txBody>
                    <a:bodyPr/>
                    <a:lstStyle/>
                    <a:p>
                      <a:pPr indent="0" marL="0">
                        <a:buNone/>
                      </a:pPr>
                      <a:endParaRPr lang="en-US" sz="16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0B3C4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Klassisch (Dynpro / Web Dynpro)</a:t>
                      </a:r>
                      <a:endParaRPr lang="en-US" sz="16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5E727B"/>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Fiori Elements (+ RAP)</a:t>
                      </a:r>
                      <a:endParaRPr lang="en-US" sz="16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8A70"/>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SAPUI5 Freestyle</a:t>
                      </a:r>
                      <a:endParaRPr lang="en-US" sz="16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D9661F"/>
                    </a:solidFill>
                  </a:tcPr>
                </a:tc>
              </a:tr>
              <a:tr h="731520">
                <a:tc>
                  <a:txBody>
                    <a:bodyPr/>
                    <a:lstStyle/>
                    <a:p>
                      <a:pPr indent="0" marL="0">
                        <a:buNone/>
                      </a:pPr>
                      <a:r>
                        <a:rPr lang="en-US" sz="1600" b="1" dirty="0">
                          <a:solidFill>
                            <a:srgbClr val="1B2B34"/>
                          </a:solidFill>
                          <a:latin typeface="Calibri" pitchFamily="34" charset="0"/>
                          <a:ea typeface="Calibri" pitchFamily="34" charset="-122"/>
                          <a:cs typeface="Calibri" pitchFamily="34" charset="-120"/>
                        </a:rPr>
                        <a:t>UI-Logik liegt in</a:t>
                      </a:r>
                      <a:endParaRPr lang="en-US" sz="16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r>
                        <a:rPr lang="en-US" sz="1600" dirty="0">
                          <a:solidFill>
                            <a:srgbClr val="1B2B34"/>
                          </a:solidFill>
                          <a:latin typeface="Calibri" pitchFamily="34" charset="0"/>
                          <a:ea typeface="Calibri" pitchFamily="34" charset="-122"/>
                          <a:cs typeface="Calibri" pitchFamily="34" charset="-120"/>
                        </a:rPr>
                        <a:t>ABAP, im System</a:t>
                      </a:r>
                      <a:endParaRPr lang="en-US" sz="16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r>
                        <a:rPr lang="en-US" sz="1600" dirty="0">
                          <a:solidFill>
                            <a:srgbClr val="1B2B34"/>
                          </a:solidFill>
                          <a:latin typeface="Calibri" pitchFamily="34" charset="0"/>
                          <a:ea typeface="Calibri" pitchFamily="34" charset="-122"/>
                          <a:cs typeface="Calibri" pitchFamily="34" charset="-120"/>
                        </a:rPr>
                        <a:t>Annotationen (bei RAP im Backend)</a:t>
                      </a:r>
                      <a:endParaRPr lang="en-US" sz="16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r>
                        <a:rPr lang="en-US" sz="1600" dirty="0">
                          <a:solidFill>
                            <a:srgbClr val="1B2B34"/>
                          </a:solidFill>
                          <a:latin typeface="Calibri" pitchFamily="34" charset="0"/>
                          <a:ea typeface="Calibri" pitchFamily="34" charset="-122"/>
                          <a:cs typeface="Calibri" pitchFamily="34" charset="-120"/>
                        </a:rPr>
                        <a:t>JavaScript im Frontend</a:t>
                      </a:r>
                      <a:endParaRPr lang="en-US" sz="16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r>
              <a:tr h="731520">
                <a:tc>
                  <a:txBody>
                    <a:bodyPr/>
                    <a:lstStyle/>
                    <a:p>
                      <a:pPr indent="0" marL="0">
                        <a:buNone/>
                      </a:pPr>
                      <a:r>
                        <a:rPr lang="en-US" sz="1600" b="1" dirty="0">
                          <a:solidFill>
                            <a:srgbClr val="1B2B34"/>
                          </a:solidFill>
                          <a:latin typeface="Calibri" pitchFamily="34" charset="0"/>
                          <a:ea typeface="Calibri" pitchFamily="34" charset="-122"/>
                          <a:cs typeface="Calibri" pitchFamily="34" charset="-120"/>
                        </a:rPr>
                        <a:t>Objekte pro App</a:t>
                      </a:r>
                      <a:endParaRPr lang="en-US" sz="16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r>
                        <a:rPr lang="en-US" sz="1600" dirty="0">
                          <a:solidFill>
                            <a:srgbClr val="1B2B34"/>
                          </a:solidFill>
                          <a:latin typeface="Calibri" pitchFamily="34" charset="0"/>
                          <a:ea typeface="Calibri" pitchFamily="34" charset="-122"/>
                          <a:cs typeface="Calibri" pitchFamily="34" charset="-120"/>
                        </a:rPr>
                        <a:t>1 Programm / Komponente</a:t>
                      </a:r>
                      <a:endParaRPr lang="en-US" sz="16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r>
                        <a:rPr lang="en-US" sz="1600" dirty="0">
                          <a:solidFill>
                            <a:srgbClr val="1B2B34"/>
                          </a:solidFill>
                          <a:latin typeface="Calibri" pitchFamily="34" charset="0"/>
                          <a:ea typeface="Calibri" pitchFamily="34" charset="-122"/>
                          <a:cs typeface="Calibri" pitchFamily="34" charset="-120"/>
                        </a:rPr>
                        <a:t>wenige Dateien</a:t>
                      </a:r>
                      <a:endParaRPr lang="en-US" sz="16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r>
                        <a:rPr lang="en-US" sz="1600" dirty="0">
                          <a:solidFill>
                            <a:srgbClr val="1B2B34"/>
                          </a:solidFill>
                          <a:latin typeface="Calibri" pitchFamily="34" charset="0"/>
                          <a:ea typeface="Calibri" pitchFamily="34" charset="-122"/>
                          <a:cs typeface="Calibri" pitchFamily="34" charset="-120"/>
                        </a:rPr>
                        <a:t>viele: Views, Controller, Fragmente, Formatter …</a:t>
                      </a:r>
                      <a:endParaRPr lang="en-US" sz="16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r>
              <a:tr h="731520">
                <a:tc>
                  <a:txBody>
                    <a:bodyPr/>
                    <a:lstStyle/>
                    <a:p>
                      <a:pPr indent="0" marL="0">
                        <a:buNone/>
                      </a:pPr>
                      <a:r>
                        <a:rPr lang="en-US" sz="1600" b="1" dirty="0">
                          <a:solidFill>
                            <a:srgbClr val="1B2B34"/>
                          </a:solidFill>
                          <a:latin typeface="Calibri" pitchFamily="34" charset="0"/>
                          <a:ea typeface="Calibri" pitchFamily="34" charset="-122"/>
                          <a:cs typeface="Calibri" pitchFamily="34" charset="-120"/>
                        </a:rPr>
                        <a:t>Lebenszyklus</a:t>
                      </a:r>
                      <a:endParaRPr lang="en-US" sz="16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r>
                        <a:rPr lang="en-US" sz="1600" dirty="0">
                          <a:solidFill>
                            <a:srgbClr val="1B2B34"/>
                          </a:solidFill>
                          <a:latin typeface="Calibri" pitchFamily="34" charset="0"/>
                          <a:ea typeface="Calibri" pitchFamily="34" charset="-122"/>
                          <a:cs typeface="Calibri" pitchFamily="34" charset="-120"/>
                        </a:rPr>
                        <a:t>Transport mit dem System</a:t>
                      </a:r>
                      <a:endParaRPr lang="en-US" sz="16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r>
                        <a:rPr lang="en-US" sz="1600" dirty="0">
                          <a:solidFill>
                            <a:srgbClr val="1B2B34"/>
                          </a:solidFill>
                          <a:latin typeface="Calibri" pitchFamily="34" charset="0"/>
                          <a:ea typeface="Calibri" pitchFamily="34" charset="-122"/>
                          <a:cs typeface="Calibri" pitchFamily="34" charset="-120"/>
                        </a:rPr>
                        <a:t>Templates pflegt SAP</a:t>
                      </a:r>
                      <a:endParaRPr lang="en-US" sz="16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r>
                        <a:rPr lang="en-US" sz="1600" dirty="0">
                          <a:solidFill>
                            <a:srgbClr val="1B2B34"/>
                          </a:solidFill>
                          <a:latin typeface="Calibri" pitchFamily="34" charset="0"/>
                          <a:ea typeface="Calibri" pitchFamily="34" charset="-122"/>
                          <a:cs typeface="Calibri" pitchFamily="34" charset="-120"/>
                        </a:rPr>
                        <a:t>npm-Pakete &amp; UI5-Version pflegen wir</a:t>
                      </a:r>
                      <a:endParaRPr lang="en-US" sz="16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r>
              <a:tr h="731520">
                <a:tc>
                  <a:txBody>
                    <a:bodyPr/>
                    <a:lstStyle/>
                    <a:p>
                      <a:pPr indent="0" marL="0">
                        <a:buNone/>
                      </a:pPr>
                      <a:r>
                        <a:rPr lang="en-US" sz="1600" b="1" dirty="0">
                          <a:solidFill>
                            <a:srgbClr val="1B2B34"/>
                          </a:solidFill>
                          <a:latin typeface="Calibri" pitchFamily="34" charset="0"/>
                          <a:ea typeface="Calibri" pitchFamily="34" charset="-122"/>
                          <a:cs typeface="Calibri" pitchFamily="34" charset="-120"/>
                        </a:rPr>
                        <a:t>Upgrade</a:t>
                      </a:r>
                      <a:endParaRPr lang="en-US" sz="16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r>
                        <a:rPr lang="en-US" sz="1600" dirty="0">
                          <a:solidFill>
                            <a:srgbClr val="1B2B34"/>
                          </a:solidFill>
                          <a:latin typeface="Calibri" pitchFamily="34" charset="0"/>
                          <a:ea typeface="Calibri" pitchFamily="34" charset="-122"/>
                          <a:cs typeface="Calibri" pitchFamily="34" charset="-120"/>
                        </a:rPr>
                        <a:t>läuft mit dem System</a:t>
                      </a:r>
                      <a:endParaRPr lang="en-US" sz="16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r>
                        <a:rPr lang="en-US" sz="1600" dirty="0">
                          <a:solidFill>
                            <a:srgbClr val="1B2B34"/>
                          </a:solidFill>
                          <a:latin typeface="Calibri" pitchFamily="34" charset="0"/>
                          <a:ea typeface="Calibri" pitchFamily="34" charset="-122"/>
                          <a:cs typeface="Calibri" pitchFamily="34" charset="-120"/>
                        </a:rPr>
                        <a:t>SAP testet die Templates</a:t>
                      </a:r>
                      <a:endParaRPr lang="en-US" sz="16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r>
                        <a:rPr lang="en-US" sz="1600" dirty="0">
                          <a:solidFill>
                            <a:srgbClr val="1B2B34"/>
                          </a:solidFill>
                          <a:latin typeface="Calibri" pitchFamily="34" charset="0"/>
                          <a:ea typeface="Calibri" pitchFamily="34" charset="-122"/>
                          <a:cs typeface="Calibri" pitchFamily="34" charset="-120"/>
                        </a:rPr>
                        <a:t>wir prüfen und migrieren jede App</a:t>
                      </a:r>
                      <a:endParaRPr lang="en-US" sz="16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r>
              <a:tr h="731520">
                <a:tc>
                  <a:txBody>
                    <a:bodyPr/>
                    <a:lstStyle/>
                    <a:p>
                      <a:pPr indent="0" marL="0">
                        <a:buNone/>
                      </a:pPr>
                      <a:r>
                        <a:rPr lang="en-US" sz="1600" b="1" dirty="0">
                          <a:solidFill>
                            <a:srgbClr val="1B2B34"/>
                          </a:solidFill>
                          <a:latin typeface="Calibri" pitchFamily="34" charset="0"/>
                          <a:ea typeface="Calibri" pitchFamily="34" charset="-122"/>
                          <a:cs typeface="Calibri" pitchFamily="34" charset="-120"/>
                        </a:rPr>
                        <a:t>Know-how</a:t>
                      </a:r>
                      <a:endParaRPr lang="en-US" sz="16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r>
                        <a:rPr lang="en-US" sz="1600" dirty="0">
                          <a:solidFill>
                            <a:srgbClr val="1B2B34"/>
                          </a:solidFill>
                          <a:latin typeface="Calibri" pitchFamily="34" charset="0"/>
                          <a:ea typeface="Calibri" pitchFamily="34" charset="-122"/>
                          <a:cs typeface="Calibri" pitchFamily="34" charset="-120"/>
                        </a:rPr>
                        <a:t>ABAP</a:t>
                      </a:r>
                      <a:endParaRPr lang="en-US" sz="16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r>
                        <a:rPr lang="en-US" sz="1600" dirty="0">
                          <a:solidFill>
                            <a:srgbClr val="1B2B34"/>
                          </a:solidFill>
                          <a:latin typeface="Calibri" pitchFamily="34" charset="0"/>
                          <a:ea typeface="Calibri" pitchFamily="34" charset="-122"/>
                          <a:cs typeface="Calibri" pitchFamily="34" charset="-120"/>
                        </a:rPr>
                        <a:t>ABAP, CDS, Annotationen</a:t>
                      </a:r>
                      <a:endParaRPr lang="en-US" sz="16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r>
                        <a:rPr lang="en-US" sz="1600" dirty="0">
                          <a:solidFill>
                            <a:srgbClr val="1B2B34"/>
                          </a:solidFill>
                          <a:latin typeface="Calibri" pitchFamily="34" charset="0"/>
                          <a:ea typeface="Calibri" pitchFamily="34" charset="-122"/>
                          <a:cs typeface="Calibri" pitchFamily="34" charset="-120"/>
                        </a:rPr>
                        <a:t>ABAP + JavaScript + UI5 + Node-Tooling</a:t>
                      </a:r>
                      <a:endParaRPr lang="en-US" sz="16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Ehrliche Bewertung: kein Schwarz-Weiß</a:t>
            </a:r>
            <a:endParaRPr lang="en-US" sz="3400" dirty="0"/>
          </a:p>
        </p:txBody>
      </p:sp>
      <p:sp>
        <p:nvSpPr>
          <p:cNvPr id="3" name="Wo Freestyle richtig ist"/>
          <p:cNvSpPr/>
          <p:nvPr/>
        </p:nvSpPr>
        <p:spPr>
          <a:xfrm>
            <a:off x="548640" y="1371600"/>
            <a:ext cx="5394960" cy="3200400"/>
          </a:xfrm>
          <a:prstGeom prst="roundRect">
            <a:avLst>
              <a:gd name="adj" fmla="val 3429"/>
            </a:avLst>
          </a:prstGeom>
          <a:solidFill>
            <a:schemeClr val="accent5"/>
          </a:solidFill>
          <a:ln/>
        </p:spPr>
      </p:sp>
      <p:sp>
        <p:nvSpPr>
          <p:cNvPr id="4" name="Wo Freestyle richtig ist Kreis"/>
          <p:cNvSpPr/>
          <p:nvPr/>
        </p:nvSpPr>
        <p:spPr>
          <a:xfrm>
            <a:off x="822960" y="1600200"/>
            <a:ext cx="685800" cy="685800"/>
          </a:xfrm>
          <a:prstGeom prst="ellipse">
            <a:avLst/>
          </a:prstGeom>
          <a:solidFill>
            <a:schemeClr val="accent2"/>
          </a:solidFill>
          <a:ln/>
        </p:spPr>
      </p:sp>
      <p:pic>
        <p:nvPicPr>
          <p:cNvPr id="5" name="Wo Freestyle richtig ist Icon" descr="Wo Freestyle richtig ist">    </p:cNvPr>
          <p:cNvPicPr>
            <a:picLocks noChangeAspect="1"/>
          </p:cNvPicPr>
          <p:nvPr/>
        </p:nvPicPr>
        <p:blipFill>
          <a:blip r:embed="rId1"/>
          <a:stretch>
            <a:fillRect/>
          </a:stretch>
        </p:blipFill>
        <p:spPr>
          <a:xfrm>
            <a:off x="994410" y="1771650"/>
            <a:ext cx="342900" cy="342900"/>
          </a:xfrm>
          <a:prstGeom prst="rect">
            <a:avLst/>
          </a:prstGeom>
        </p:spPr>
      </p:pic>
      <p:sp>
        <p:nvSpPr>
          <p:cNvPr id="6" name="Text 3"/>
          <p:cNvSpPr txBox="1"/>
          <p:nvPr/>
        </p:nvSpPr>
        <p:spPr>
          <a:xfrm>
            <a:off x="1691640" y="1600200"/>
            <a:ext cx="4023360" cy="685800"/>
          </a:xfrm>
          <a:prstGeom prst="rect">
            <a:avLst/>
          </a:prstGeom>
          <a:noFill/>
          <a:ln/>
        </p:spPr>
        <p:txBody>
          <a:bodyPr wrap="square" lIns="0" tIns="0" rIns="0" bIns="0" rtlCol="0" anchor="ctr"/>
          <a:lstStyle/>
          <a:p>
            <a:pPr indent="0" marL="0">
              <a:buNone/>
            </a:pPr>
            <a:r>
              <a:rPr lang="en-US" sz="2000" b="1" dirty="0">
                <a:solidFill>
                  <a:schemeClr val="accent2"/>
                </a:solidFill>
              </a:rPr>
              <a:t>Wo Freestyle richtig ist</a:t>
            </a:r>
            <a:endParaRPr lang="en-US" sz="2000" dirty="0"/>
          </a:p>
        </p:txBody>
      </p:sp>
      <p:sp>
        <p:nvSpPr>
          <p:cNvPr id="7" name="Text 4"/>
          <p:cNvSpPr txBox="1"/>
          <p:nvPr/>
        </p:nvSpPr>
        <p:spPr>
          <a:xfrm>
            <a:off x="822960" y="2514600"/>
            <a:ext cx="4846320" cy="19202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Drag &amp; Drop, Planungstafeln, Gantt</a:t>
            </a:r>
            <a:endParaRPr lang="en-US" sz="1600" dirty="0"/>
          </a:p>
          <a:p>
            <a:pPr marL="342900" indent="-342900">
              <a:spcAft>
                <a:spcPts val="800"/>
              </a:spcAft>
              <a:buSzPct val="100000"/>
              <a:buChar char="•"/>
            </a:pPr>
            <a:r>
              <a:rPr lang="en-US" sz="1600" dirty="0">
                <a:solidFill>
                  <a:schemeClr val="tx1"/>
                </a:solidFill>
              </a:rPr>
              <a:t>Stark grafische oder spielerische Oberflächen</a:t>
            </a:r>
            <a:endParaRPr lang="en-US" sz="1600" dirty="0"/>
          </a:p>
          <a:p>
            <a:pPr marL="342900" indent="-342900">
              <a:spcAft>
                <a:spcPts val="800"/>
              </a:spcAft>
              <a:buSzPct val="100000"/>
              <a:buChar char="•"/>
            </a:pPr>
            <a:r>
              <a:rPr lang="en-US" sz="1600" dirty="0">
                <a:solidFill>
                  <a:schemeClr val="tx1"/>
                </a:solidFill>
              </a:rPr>
              <a:t>Ungewöhnliche Abläufe, die in keinen Floorplan passen</a:t>
            </a:r>
            <a:endParaRPr lang="en-US" sz="1600" dirty="0"/>
          </a:p>
          <a:p>
            <a:pPr marL="342900" indent="-342900">
              <a:spcAft>
                <a:spcPts val="800"/>
              </a:spcAft>
              <a:buSzPct val="100000"/>
              <a:buChar char="•"/>
            </a:pPr>
            <a:r>
              <a:rPr lang="en-US" sz="1600" dirty="0">
                <a:solidFill>
                  <a:schemeClr val="tx1"/>
                </a:solidFill>
              </a:rPr>
              <a:t>Spezielle Geräte- oder Offline-Integration</a:t>
            </a:r>
            <a:endParaRPr lang="en-US" sz="1600" dirty="0"/>
          </a:p>
        </p:txBody>
      </p:sp>
      <p:sp>
        <p:nvSpPr>
          <p:cNvPr id="8" name="Wo Fiori Elements Grenzen hat"/>
          <p:cNvSpPr/>
          <p:nvPr/>
        </p:nvSpPr>
        <p:spPr>
          <a:xfrm>
            <a:off x="6217920" y="1371600"/>
            <a:ext cx="5394960" cy="3200400"/>
          </a:xfrm>
          <a:prstGeom prst="roundRect">
            <a:avLst>
              <a:gd name="adj" fmla="val 3429"/>
            </a:avLst>
          </a:prstGeom>
          <a:solidFill>
            <a:schemeClr val="accent6"/>
          </a:solidFill>
          <a:ln/>
        </p:spPr>
      </p:sp>
      <p:sp>
        <p:nvSpPr>
          <p:cNvPr id="9" name="Wo Fiori Elements Grenzen hat Kreis"/>
          <p:cNvSpPr/>
          <p:nvPr/>
        </p:nvSpPr>
        <p:spPr>
          <a:xfrm>
            <a:off x="6492240" y="1600200"/>
            <a:ext cx="685800" cy="685800"/>
          </a:xfrm>
          <a:prstGeom prst="ellipse">
            <a:avLst/>
          </a:prstGeom>
          <a:solidFill>
            <a:schemeClr val="accent1"/>
          </a:solidFill>
          <a:ln/>
        </p:spPr>
      </p:sp>
      <p:pic>
        <p:nvPicPr>
          <p:cNvPr id="10" name="Wo Fiori Elements Grenzen hat Icon" descr="Wo Fiori Elements Grenzen hat">    </p:cNvPr>
          <p:cNvPicPr>
            <a:picLocks noChangeAspect="1"/>
          </p:cNvPicPr>
          <p:nvPr/>
        </p:nvPicPr>
        <p:blipFill>
          <a:blip r:embed="rId2"/>
          <a:stretch>
            <a:fillRect/>
          </a:stretch>
        </p:blipFill>
        <p:spPr>
          <a:xfrm>
            <a:off x="6663690" y="1771650"/>
            <a:ext cx="342900" cy="342900"/>
          </a:xfrm>
          <a:prstGeom prst="rect">
            <a:avLst/>
          </a:prstGeom>
        </p:spPr>
      </p:pic>
      <p:sp>
        <p:nvSpPr>
          <p:cNvPr id="11" name="Text 7"/>
          <p:cNvSpPr txBox="1"/>
          <p:nvPr/>
        </p:nvSpPr>
        <p:spPr>
          <a:xfrm>
            <a:off x="7360920" y="1600200"/>
            <a:ext cx="4023360" cy="685800"/>
          </a:xfrm>
          <a:prstGeom prst="rect">
            <a:avLst/>
          </a:prstGeom>
          <a:noFill/>
          <a:ln/>
        </p:spPr>
        <p:txBody>
          <a:bodyPr wrap="square" lIns="0" tIns="0" rIns="0" bIns="0" rtlCol="0" anchor="ctr"/>
          <a:lstStyle/>
          <a:p>
            <a:pPr indent="0" marL="0">
              <a:buNone/>
            </a:pPr>
            <a:r>
              <a:rPr lang="en-US" sz="2000" b="1" dirty="0">
                <a:solidFill>
                  <a:schemeClr val="accent1"/>
                </a:solidFill>
              </a:rPr>
              <a:t>Wo Fiori Elements Grenzen hat</a:t>
            </a:r>
            <a:endParaRPr lang="en-US" sz="2000" dirty="0"/>
          </a:p>
        </p:txBody>
      </p:sp>
      <p:sp>
        <p:nvSpPr>
          <p:cNvPr id="12" name="Text 8"/>
          <p:cNvSpPr txBox="1"/>
          <p:nvPr/>
        </p:nvSpPr>
        <p:spPr>
          <a:xfrm>
            <a:off x="6492240" y="2514600"/>
            <a:ext cx="4846320" cy="19202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Layout nur im Rahmen der Floorplans</a:t>
            </a:r>
            <a:endParaRPr lang="en-US" sz="1600" dirty="0"/>
          </a:p>
          <a:p>
            <a:pPr marL="342900" indent="-342900">
              <a:spcAft>
                <a:spcPts val="800"/>
              </a:spcAft>
              <a:buSzPct val="100000"/>
              <a:buChar char="•"/>
            </a:pPr>
            <a:r>
              <a:rPr lang="en-US" sz="1600" dirty="0">
                <a:solidFill>
                  <a:schemeClr val="tx1"/>
                </a:solidFill>
              </a:rPr>
              <a:t>Lernkurve: Annotationen, CDS, RAP</a:t>
            </a:r>
            <a:endParaRPr lang="en-US" sz="1600" dirty="0"/>
          </a:p>
          <a:p>
            <a:pPr marL="342900" indent="-342900">
              <a:spcAft>
                <a:spcPts val="800"/>
              </a:spcAft>
              <a:buSzPct val="100000"/>
              <a:buChar char="•"/>
            </a:pPr>
            <a:r>
              <a:rPr lang="en-US" sz="1600" dirty="0">
                <a:solidFill>
                  <a:schemeClr val="tx1"/>
                </a:solidFill>
              </a:rPr>
              <a:t>Sonderwünsche über Flexible Programming Model (Building Blocks, Custom Sections)</a:t>
            </a:r>
            <a:endParaRPr lang="en-US" sz="1600" dirty="0"/>
          </a:p>
          <a:p>
            <a:pPr marL="342900" indent="-342900">
              <a:spcAft>
                <a:spcPts val="800"/>
              </a:spcAft>
              <a:buSzPct val="100000"/>
              <a:buChar char="•"/>
            </a:pPr>
            <a:r>
              <a:rPr lang="en-US" sz="1600" dirty="0">
                <a:solidFill>
                  <a:schemeClr val="tx1"/>
                </a:solidFill>
              </a:rPr>
              <a:t>Braucht ein sauberes OData-/RAP-Modell</a:t>
            </a:r>
            <a:endParaRPr lang="en-US" sz="1600" dirty="0"/>
          </a:p>
        </p:txBody>
      </p:sp>
      <p:sp>
        <p:nvSpPr>
          <p:cNvPr id="13" name="Leitfrage"/>
          <p:cNvSpPr/>
          <p:nvPr/>
        </p:nvSpPr>
        <p:spPr>
          <a:xfrm>
            <a:off x="548640" y="4892040"/>
            <a:ext cx="11064240" cy="1005840"/>
          </a:xfrm>
          <a:prstGeom prst="roundRect">
            <a:avLst>
              <a:gd name="adj" fmla="val 9091"/>
            </a:avLst>
          </a:prstGeom>
          <a:solidFill>
            <a:schemeClr val="tx2"/>
          </a:solidFill>
          <a:ln/>
        </p:spPr>
      </p:sp>
      <p:sp>
        <p:nvSpPr>
          <p:cNvPr id="14" name="Text 10"/>
          <p:cNvSpPr txBox="1"/>
          <p:nvPr/>
        </p:nvSpPr>
        <p:spPr>
          <a:xfrm>
            <a:off x="777240" y="4892040"/>
            <a:ext cx="10607040" cy="1005840"/>
          </a:xfrm>
          <a:prstGeom prst="rect">
            <a:avLst/>
          </a:prstGeom>
          <a:noFill/>
          <a:ln/>
        </p:spPr>
        <p:txBody>
          <a:bodyPr wrap="square" lIns="0" tIns="0" rIns="0" bIns="0" rtlCol="0" anchor="ctr"/>
          <a:lstStyle/>
          <a:p>
            <a:pPr indent="0" marL="0">
              <a:buNone/>
            </a:pPr>
            <a:r>
              <a:rPr lang="en-US" sz="2000" b="1" dirty="0">
                <a:solidFill>
                  <a:schemeClr val="bg1"/>
                </a:solidFill>
              </a:rPr>
              <a:t>Die Frage ist nicht „Kann man das bauen?“, sondern „Wer wartet das die nächsten Jahre?“</a:t>
            </a:r>
            <a:endParaRPr lang="en-US" sz="2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Lager &amp; Produktion: Jeder Klick kostet Geld</a:t>
            </a:r>
            <a:endParaRPr lang="en-US" sz="3400" dirty="0"/>
          </a:p>
        </p:txBody>
      </p:sp>
      <p:sp>
        <p:nvSpPr>
          <p:cNvPr id="3" name="Text 1"/>
          <p:cNvSpPr txBox="1"/>
          <p:nvPr/>
        </p:nvSpPr>
        <p:spPr>
          <a:xfrm>
            <a:off x="548640" y="1280160"/>
            <a:ext cx="11064240" cy="411480"/>
          </a:xfrm>
          <a:prstGeom prst="rect">
            <a:avLst/>
          </a:prstGeom>
          <a:noFill/>
          <a:ln/>
        </p:spPr>
        <p:txBody>
          <a:bodyPr wrap="square" lIns="0" tIns="0" rIns="0" bIns="0" rtlCol="0" anchor="ctr"/>
          <a:lstStyle/>
          <a:p>
            <a:pPr indent="0" marL="0">
              <a:buNone/>
            </a:pPr>
            <a:r>
              <a:rPr lang="en-US" sz="1600" dirty="0">
                <a:solidFill>
                  <a:schemeClr val="accent4"/>
                </a:solidFill>
              </a:rPr>
              <a:t>Die Anforderungen der Kollegen sind berechtigt – und sie sind die häufigste Begründung für Freestyle.</a:t>
            </a:r>
            <a:endParaRPr lang="en-US" sz="1600" dirty="0"/>
          </a:p>
        </p:txBody>
      </p:sp>
      <p:sp>
        <p:nvSpPr>
          <p:cNvPr id="4" name="Anforderung Große Touch-Flächen"/>
          <p:cNvSpPr/>
          <p:nvPr/>
        </p:nvSpPr>
        <p:spPr>
          <a:xfrm>
            <a:off x="548640" y="1965960"/>
            <a:ext cx="2066544" cy="3291840"/>
          </a:xfrm>
          <a:prstGeom prst="roundRect">
            <a:avLst>
              <a:gd name="adj" fmla="val 5310"/>
            </a:avLst>
          </a:prstGeom>
          <a:solidFill>
            <a:schemeClr val="bg2"/>
          </a:solidFill>
          <a:ln/>
        </p:spPr>
      </p:sp>
      <p:sp>
        <p:nvSpPr>
          <p:cNvPr id="5" name="Große Touch-Flächen Kreis"/>
          <p:cNvSpPr/>
          <p:nvPr/>
        </p:nvSpPr>
        <p:spPr>
          <a:xfrm>
            <a:off x="1216152" y="2240280"/>
            <a:ext cx="731520" cy="731520"/>
          </a:xfrm>
          <a:prstGeom prst="ellipse">
            <a:avLst/>
          </a:prstGeom>
          <a:solidFill>
            <a:schemeClr val="tx2"/>
          </a:solidFill>
          <a:ln/>
        </p:spPr>
      </p:sp>
      <p:pic>
        <p:nvPicPr>
          <p:cNvPr id="6" name="Große Touch-Flächen Icon" descr="Große Touch-Flächen">    </p:cNvPr>
          <p:cNvPicPr>
            <a:picLocks noChangeAspect="1"/>
          </p:cNvPicPr>
          <p:nvPr/>
        </p:nvPicPr>
        <p:blipFill>
          <a:blip r:embed="rId1"/>
          <a:stretch>
            <a:fillRect/>
          </a:stretch>
        </p:blipFill>
        <p:spPr>
          <a:xfrm>
            <a:off x="1399032" y="2423160"/>
            <a:ext cx="365760" cy="365760"/>
          </a:xfrm>
          <a:prstGeom prst="rect">
            <a:avLst/>
          </a:prstGeom>
        </p:spPr>
      </p:pic>
      <p:sp>
        <p:nvSpPr>
          <p:cNvPr id="7" name="Text 4"/>
          <p:cNvSpPr txBox="1"/>
          <p:nvPr/>
        </p:nvSpPr>
        <p:spPr>
          <a:xfrm>
            <a:off x="685800" y="3154680"/>
            <a:ext cx="1792224" cy="685800"/>
          </a:xfrm>
          <a:prstGeom prst="rect">
            <a:avLst/>
          </a:prstGeom>
          <a:noFill/>
          <a:ln/>
        </p:spPr>
        <p:txBody>
          <a:bodyPr wrap="square" lIns="0" tIns="0" rIns="0" bIns="0" rtlCol="0" anchor="t"/>
          <a:lstStyle/>
          <a:p>
            <a:pPr algn="ctr" indent="0" marL="0">
              <a:buNone/>
            </a:pPr>
            <a:r>
              <a:rPr lang="en-US" sz="1700" b="1" dirty="0">
                <a:solidFill>
                  <a:schemeClr val="tx1"/>
                </a:solidFill>
              </a:rPr>
              <a:t>Große Touch-Flächen</a:t>
            </a:r>
            <a:endParaRPr lang="en-US" sz="1700" dirty="0"/>
          </a:p>
        </p:txBody>
      </p:sp>
      <p:sp>
        <p:nvSpPr>
          <p:cNvPr id="8" name="Text 5"/>
          <p:cNvSpPr txBox="1"/>
          <p:nvPr/>
        </p:nvSpPr>
        <p:spPr>
          <a:xfrm>
            <a:off x="685800" y="3886200"/>
            <a:ext cx="1792224" cy="1234440"/>
          </a:xfrm>
          <a:prstGeom prst="rect">
            <a:avLst/>
          </a:prstGeom>
          <a:noFill/>
          <a:ln/>
        </p:spPr>
        <p:txBody>
          <a:bodyPr wrap="square" lIns="0" tIns="0" rIns="0" bIns="0" rtlCol="0" anchor="t"/>
          <a:lstStyle/>
          <a:p>
            <a:pPr algn="ctr" indent="0" marL="0">
              <a:buNone/>
            </a:pPr>
            <a:r>
              <a:rPr lang="en-US" sz="1400" dirty="0">
                <a:solidFill>
                  <a:schemeClr val="tx1"/>
                </a:solidFill>
              </a:rPr>
              <a:t>Bedienung mit Handschuh, am Tablet oder Handscanner</a:t>
            </a:r>
            <a:endParaRPr lang="en-US" sz="1400" dirty="0"/>
          </a:p>
        </p:txBody>
      </p:sp>
      <p:sp>
        <p:nvSpPr>
          <p:cNvPr id="9" name="Anforderung Sichtbare Buttons"/>
          <p:cNvSpPr/>
          <p:nvPr/>
        </p:nvSpPr>
        <p:spPr>
          <a:xfrm>
            <a:off x="2816352" y="1965960"/>
            <a:ext cx="2066544" cy="3291840"/>
          </a:xfrm>
          <a:prstGeom prst="roundRect">
            <a:avLst>
              <a:gd name="adj" fmla="val 5310"/>
            </a:avLst>
          </a:prstGeom>
          <a:solidFill>
            <a:schemeClr val="bg2"/>
          </a:solidFill>
          <a:ln/>
        </p:spPr>
      </p:sp>
      <p:sp>
        <p:nvSpPr>
          <p:cNvPr id="10" name="Sichtbare Buttons Kreis"/>
          <p:cNvSpPr/>
          <p:nvPr/>
        </p:nvSpPr>
        <p:spPr>
          <a:xfrm>
            <a:off x="3483864" y="2240280"/>
            <a:ext cx="731520" cy="731520"/>
          </a:xfrm>
          <a:prstGeom prst="ellipse">
            <a:avLst/>
          </a:prstGeom>
          <a:solidFill>
            <a:schemeClr val="tx2"/>
          </a:solidFill>
          <a:ln/>
        </p:spPr>
      </p:sp>
      <p:pic>
        <p:nvPicPr>
          <p:cNvPr id="11" name="Sichtbare Buttons Icon" descr="Sichtbare Buttons">    </p:cNvPr>
          <p:cNvPicPr>
            <a:picLocks noChangeAspect="1"/>
          </p:cNvPicPr>
          <p:nvPr/>
        </p:nvPicPr>
        <p:blipFill>
          <a:blip r:embed="rId2"/>
          <a:stretch>
            <a:fillRect/>
          </a:stretch>
        </p:blipFill>
        <p:spPr>
          <a:xfrm>
            <a:off x="3666744" y="2423160"/>
            <a:ext cx="365760" cy="365760"/>
          </a:xfrm>
          <a:prstGeom prst="rect">
            <a:avLst/>
          </a:prstGeom>
        </p:spPr>
      </p:pic>
      <p:sp>
        <p:nvSpPr>
          <p:cNvPr id="12" name="Text 8"/>
          <p:cNvSpPr txBox="1"/>
          <p:nvPr/>
        </p:nvSpPr>
        <p:spPr>
          <a:xfrm>
            <a:off x="2953512" y="3154680"/>
            <a:ext cx="1792224" cy="685800"/>
          </a:xfrm>
          <a:prstGeom prst="rect">
            <a:avLst/>
          </a:prstGeom>
          <a:noFill/>
          <a:ln/>
        </p:spPr>
        <p:txBody>
          <a:bodyPr wrap="square" lIns="0" tIns="0" rIns="0" bIns="0" rtlCol="0" anchor="t"/>
          <a:lstStyle/>
          <a:p>
            <a:pPr algn="ctr" indent="0" marL="0">
              <a:buNone/>
            </a:pPr>
            <a:r>
              <a:rPr lang="en-US" sz="1700" b="1" dirty="0">
                <a:solidFill>
                  <a:schemeClr val="tx1"/>
                </a:solidFill>
              </a:rPr>
              <a:t>Sichtbare Buttons</a:t>
            </a:r>
            <a:endParaRPr lang="en-US" sz="1700" dirty="0"/>
          </a:p>
        </p:txBody>
      </p:sp>
      <p:sp>
        <p:nvSpPr>
          <p:cNvPr id="13" name="Text 9"/>
          <p:cNvSpPr txBox="1"/>
          <p:nvPr/>
        </p:nvSpPr>
        <p:spPr>
          <a:xfrm>
            <a:off x="2953512" y="3886200"/>
            <a:ext cx="1792224" cy="1234440"/>
          </a:xfrm>
          <a:prstGeom prst="rect">
            <a:avLst/>
          </a:prstGeom>
          <a:noFill/>
          <a:ln/>
        </p:spPr>
        <p:txBody>
          <a:bodyPr wrap="square" lIns="0" tIns="0" rIns="0" bIns="0" rtlCol="0" anchor="t"/>
          <a:lstStyle/>
          <a:p>
            <a:pPr algn="ctr" indent="0" marL="0">
              <a:buNone/>
            </a:pPr>
            <a:r>
              <a:rPr lang="en-US" sz="1400" dirty="0">
                <a:solidFill>
                  <a:schemeClr val="tx1"/>
                </a:solidFill>
              </a:rPr>
              <a:t>Die Hauptaktion liegt im Blick, nicht im Menü versteckt</a:t>
            </a:r>
            <a:endParaRPr lang="en-US" sz="1400" dirty="0"/>
          </a:p>
        </p:txBody>
      </p:sp>
      <p:sp>
        <p:nvSpPr>
          <p:cNvPr id="14" name="Anforderung Wenige Schritte"/>
          <p:cNvSpPr/>
          <p:nvPr/>
        </p:nvSpPr>
        <p:spPr>
          <a:xfrm>
            <a:off x="5084064" y="1965960"/>
            <a:ext cx="2066544" cy="3291840"/>
          </a:xfrm>
          <a:prstGeom prst="roundRect">
            <a:avLst>
              <a:gd name="adj" fmla="val 5310"/>
            </a:avLst>
          </a:prstGeom>
          <a:solidFill>
            <a:schemeClr val="bg2"/>
          </a:solidFill>
          <a:ln/>
        </p:spPr>
      </p:sp>
      <p:sp>
        <p:nvSpPr>
          <p:cNvPr id="15" name="Wenige Schritte Kreis"/>
          <p:cNvSpPr/>
          <p:nvPr/>
        </p:nvSpPr>
        <p:spPr>
          <a:xfrm>
            <a:off x="5751576" y="2240280"/>
            <a:ext cx="731520" cy="731520"/>
          </a:xfrm>
          <a:prstGeom prst="ellipse">
            <a:avLst/>
          </a:prstGeom>
          <a:solidFill>
            <a:schemeClr val="tx2"/>
          </a:solidFill>
          <a:ln/>
        </p:spPr>
      </p:sp>
      <p:pic>
        <p:nvPicPr>
          <p:cNvPr id="16" name="Wenige Schritte Icon" descr="Wenige Schritte">    </p:cNvPr>
          <p:cNvPicPr>
            <a:picLocks noChangeAspect="1"/>
          </p:cNvPicPr>
          <p:nvPr/>
        </p:nvPicPr>
        <p:blipFill>
          <a:blip r:embed="rId3"/>
          <a:stretch>
            <a:fillRect/>
          </a:stretch>
        </p:blipFill>
        <p:spPr>
          <a:xfrm>
            <a:off x="5934456" y="2423160"/>
            <a:ext cx="365760" cy="365760"/>
          </a:xfrm>
          <a:prstGeom prst="rect">
            <a:avLst/>
          </a:prstGeom>
        </p:spPr>
      </p:pic>
      <p:sp>
        <p:nvSpPr>
          <p:cNvPr id="17" name="Text 12"/>
          <p:cNvSpPr txBox="1"/>
          <p:nvPr/>
        </p:nvSpPr>
        <p:spPr>
          <a:xfrm>
            <a:off x="5221224" y="3154680"/>
            <a:ext cx="1792224" cy="685800"/>
          </a:xfrm>
          <a:prstGeom prst="rect">
            <a:avLst/>
          </a:prstGeom>
          <a:noFill/>
          <a:ln/>
        </p:spPr>
        <p:txBody>
          <a:bodyPr wrap="square" lIns="0" tIns="0" rIns="0" bIns="0" rtlCol="0" anchor="t"/>
          <a:lstStyle/>
          <a:p>
            <a:pPr algn="ctr" indent="0" marL="0">
              <a:buNone/>
            </a:pPr>
            <a:r>
              <a:rPr lang="en-US" sz="1700" b="1" dirty="0">
                <a:solidFill>
                  <a:schemeClr val="tx1"/>
                </a:solidFill>
              </a:rPr>
              <a:t>Wenige Schritte</a:t>
            </a:r>
            <a:endParaRPr lang="en-US" sz="1700" dirty="0"/>
          </a:p>
        </p:txBody>
      </p:sp>
      <p:sp>
        <p:nvSpPr>
          <p:cNvPr id="18" name="Text 13"/>
          <p:cNvSpPr txBox="1"/>
          <p:nvPr/>
        </p:nvSpPr>
        <p:spPr>
          <a:xfrm>
            <a:off x="5221224" y="3886200"/>
            <a:ext cx="1792224" cy="1234440"/>
          </a:xfrm>
          <a:prstGeom prst="rect">
            <a:avLst/>
          </a:prstGeom>
          <a:noFill/>
          <a:ln/>
        </p:spPr>
        <p:txBody>
          <a:bodyPr wrap="square" lIns="0" tIns="0" rIns="0" bIns="0" rtlCol="0" anchor="t"/>
          <a:lstStyle/>
          <a:p>
            <a:pPr algn="ctr" indent="0" marL="0">
              <a:buNone/>
            </a:pPr>
            <a:r>
              <a:rPr lang="en-US" sz="1400" dirty="0">
                <a:solidFill>
                  <a:schemeClr val="tx1"/>
                </a:solidFill>
              </a:rPr>
              <a:t>Scannen, Menge, Bestätigen – ohne Umwege über Listen</a:t>
            </a:r>
            <a:endParaRPr lang="en-US" sz="1400" dirty="0"/>
          </a:p>
        </p:txBody>
      </p:sp>
      <p:sp>
        <p:nvSpPr>
          <p:cNvPr id="19" name="Anforderung Scanner-Bedienung"/>
          <p:cNvSpPr/>
          <p:nvPr/>
        </p:nvSpPr>
        <p:spPr>
          <a:xfrm>
            <a:off x="7351776" y="1965960"/>
            <a:ext cx="2066544" cy="3291840"/>
          </a:xfrm>
          <a:prstGeom prst="roundRect">
            <a:avLst>
              <a:gd name="adj" fmla="val 5310"/>
            </a:avLst>
          </a:prstGeom>
          <a:solidFill>
            <a:schemeClr val="bg2"/>
          </a:solidFill>
          <a:ln/>
        </p:spPr>
      </p:sp>
      <p:sp>
        <p:nvSpPr>
          <p:cNvPr id="20" name="Scanner-Bedienung Kreis"/>
          <p:cNvSpPr/>
          <p:nvPr/>
        </p:nvSpPr>
        <p:spPr>
          <a:xfrm>
            <a:off x="8019288" y="2240280"/>
            <a:ext cx="731520" cy="731520"/>
          </a:xfrm>
          <a:prstGeom prst="ellipse">
            <a:avLst/>
          </a:prstGeom>
          <a:solidFill>
            <a:schemeClr val="tx2"/>
          </a:solidFill>
          <a:ln/>
        </p:spPr>
      </p:sp>
      <p:pic>
        <p:nvPicPr>
          <p:cNvPr id="21" name="Scanner-Bedienung Icon" descr="Scanner-Bedienung">    </p:cNvPr>
          <p:cNvPicPr>
            <a:picLocks noChangeAspect="1"/>
          </p:cNvPicPr>
          <p:nvPr/>
        </p:nvPicPr>
        <p:blipFill>
          <a:blip r:embed="rId4"/>
          <a:stretch>
            <a:fillRect/>
          </a:stretch>
        </p:blipFill>
        <p:spPr>
          <a:xfrm>
            <a:off x="8202168" y="2423160"/>
            <a:ext cx="365760" cy="365760"/>
          </a:xfrm>
          <a:prstGeom prst="rect">
            <a:avLst/>
          </a:prstGeom>
        </p:spPr>
      </p:pic>
      <p:sp>
        <p:nvSpPr>
          <p:cNvPr id="22" name="Text 16"/>
          <p:cNvSpPr txBox="1"/>
          <p:nvPr/>
        </p:nvSpPr>
        <p:spPr>
          <a:xfrm>
            <a:off x="7488936" y="3154680"/>
            <a:ext cx="1792224" cy="685800"/>
          </a:xfrm>
          <a:prstGeom prst="rect">
            <a:avLst/>
          </a:prstGeom>
          <a:noFill/>
          <a:ln/>
        </p:spPr>
        <p:txBody>
          <a:bodyPr wrap="square" lIns="0" tIns="0" rIns="0" bIns="0" rtlCol="0" anchor="t"/>
          <a:lstStyle/>
          <a:p>
            <a:pPr algn="ctr" indent="0" marL="0">
              <a:buNone/>
            </a:pPr>
            <a:r>
              <a:rPr lang="en-US" sz="1700" b="1" dirty="0">
                <a:solidFill>
                  <a:schemeClr val="tx1"/>
                </a:solidFill>
              </a:rPr>
              <a:t>Scanner-Bedienung</a:t>
            </a:r>
            <a:endParaRPr lang="en-US" sz="1700" dirty="0"/>
          </a:p>
        </p:txBody>
      </p:sp>
      <p:sp>
        <p:nvSpPr>
          <p:cNvPr id="23" name="Text 17"/>
          <p:cNvSpPr txBox="1"/>
          <p:nvPr/>
        </p:nvSpPr>
        <p:spPr>
          <a:xfrm>
            <a:off x="7488936" y="3886200"/>
            <a:ext cx="1792224" cy="1234440"/>
          </a:xfrm>
          <a:prstGeom prst="rect">
            <a:avLst/>
          </a:prstGeom>
          <a:noFill/>
          <a:ln/>
        </p:spPr>
        <p:txBody>
          <a:bodyPr wrap="square" lIns="0" tIns="0" rIns="0" bIns="0" rtlCol="0" anchor="t"/>
          <a:lstStyle/>
          <a:p>
            <a:pPr algn="ctr" indent="0" marL="0">
              <a:buNone/>
            </a:pPr>
            <a:r>
              <a:rPr lang="en-US" sz="1400" dirty="0">
                <a:solidFill>
                  <a:schemeClr val="tx1"/>
                </a:solidFill>
              </a:rPr>
              <a:t>Per Handscanner oder Kamera, Fokus springt automatisch weiter</a:t>
            </a:r>
            <a:endParaRPr lang="en-US" sz="1400" dirty="0"/>
          </a:p>
        </p:txBody>
      </p:sp>
      <p:sp>
        <p:nvSpPr>
          <p:cNvPr id="24" name="Anforderung Schnelles Feedback"/>
          <p:cNvSpPr/>
          <p:nvPr/>
        </p:nvSpPr>
        <p:spPr>
          <a:xfrm>
            <a:off x="9619488" y="1965960"/>
            <a:ext cx="2066544" cy="3291840"/>
          </a:xfrm>
          <a:prstGeom prst="roundRect">
            <a:avLst>
              <a:gd name="adj" fmla="val 5310"/>
            </a:avLst>
          </a:prstGeom>
          <a:solidFill>
            <a:schemeClr val="bg2"/>
          </a:solidFill>
          <a:ln/>
        </p:spPr>
      </p:sp>
      <p:sp>
        <p:nvSpPr>
          <p:cNvPr id="25" name="Schnelles Feedback Kreis"/>
          <p:cNvSpPr/>
          <p:nvPr/>
        </p:nvSpPr>
        <p:spPr>
          <a:xfrm>
            <a:off x="10287000" y="2240280"/>
            <a:ext cx="731520" cy="731520"/>
          </a:xfrm>
          <a:prstGeom prst="ellipse">
            <a:avLst/>
          </a:prstGeom>
          <a:solidFill>
            <a:schemeClr val="tx2"/>
          </a:solidFill>
          <a:ln/>
        </p:spPr>
      </p:sp>
      <p:pic>
        <p:nvPicPr>
          <p:cNvPr id="26" name="Schnelles Feedback Icon" descr="Schnelles Feedback">    </p:cNvPr>
          <p:cNvPicPr>
            <a:picLocks noChangeAspect="1"/>
          </p:cNvPicPr>
          <p:nvPr/>
        </p:nvPicPr>
        <p:blipFill>
          <a:blip r:embed="rId5"/>
          <a:stretch>
            <a:fillRect/>
          </a:stretch>
        </p:blipFill>
        <p:spPr>
          <a:xfrm>
            <a:off x="10469880" y="2423160"/>
            <a:ext cx="365760" cy="365760"/>
          </a:xfrm>
          <a:prstGeom prst="rect">
            <a:avLst/>
          </a:prstGeom>
        </p:spPr>
      </p:pic>
      <p:sp>
        <p:nvSpPr>
          <p:cNvPr id="27" name="Text 20"/>
          <p:cNvSpPr txBox="1"/>
          <p:nvPr/>
        </p:nvSpPr>
        <p:spPr>
          <a:xfrm>
            <a:off x="9756648" y="3154680"/>
            <a:ext cx="1792224" cy="685800"/>
          </a:xfrm>
          <a:prstGeom prst="rect">
            <a:avLst/>
          </a:prstGeom>
          <a:noFill/>
          <a:ln/>
        </p:spPr>
        <p:txBody>
          <a:bodyPr wrap="square" lIns="0" tIns="0" rIns="0" bIns="0" rtlCol="0" anchor="t"/>
          <a:lstStyle/>
          <a:p>
            <a:pPr algn="ctr" indent="0" marL="0">
              <a:buNone/>
            </a:pPr>
            <a:r>
              <a:rPr lang="en-US" sz="1700" b="1" dirty="0">
                <a:solidFill>
                  <a:schemeClr val="tx1"/>
                </a:solidFill>
              </a:rPr>
              <a:t>Schnelles Feedback</a:t>
            </a:r>
            <a:endParaRPr lang="en-US" sz="1700" dirty="0"/>
          </a:p>
        </p:txBody>
      </p:sp>
      <p:sp>
        <p:nvSpPr>
          <p:cNvPr id="28" name="Text 21"/>
          <p:cNvSpPr txBox="1"/>
          <p:nvPr/>
        </p:nvSpPr>
        <p:spPr>
          <a:xfrm>
            <a:off x="9756648" y="3886200"/>
            <a:ext cx="1792224" cy="1234440"/>
          </a:xfrm>
          <a:prstGeom prst="rect">
            <a:avLst/>
          </a:prstGeom>
          <a:noFill/>
          <a:ln/>
        </p:spPr>
        <p:txBody>
          <a:bodyPr wrap="square" lIns="0" tIns="0" rIns="0" bIns="0" rtlCol="0" anchor="t"/>
          <a:lstStyle/>
          <a:p>
            <a:pPr algn="ctr" indent="0" marL="0">
              <a:buNone/>
            </a:pPr>
            <a:r>
              <a:rPr lang="en-US" sz="1400" dirty="0">
                <a:solidFill>
                  <a:schemeClr val="tx1"/>
                </a:solidFill>
              </a:rPr>
              <a:t>Sofort sehen, ob gebucht wurde – optisch und akustisch</a:t>
            </a:r>
            <a:endParaRPr lang="en-US" sz="1400" dirty="0"/>
          </a:p>
        </p:txBody>
      </p:sp>
      <p:sp>
        <p:nvSpPr>
          <p:cNvPr id="29" name="Leitfrage Shopfloor"/>
          <p:cNvSpPr/>
          <p:nvPr/>
        </p:nvSpPr>
        <p:spPr>
          <a:xfrm>
            <a:off x="548640" y="5486400"/>
            <a:ext cx="11064240" cy="685800"/>
          </a:xfrm>
          <a:prstGeom prst="roundRect">
            <a:avLst>
              <a:gd name="adj" fmla="val 13333"/>
            </a:avLst>
          </a:prstGeom>
          <a:solidFill>
            <a:schemeClr val="tx2"/>
          </a:solidFill>
          <a:ln/>
        </p:spPr>
      </p:sp>
      <p:sp>
        <p:nvSpPr>
          <p:cNvPr id="30" name="Text 23"/>
          <p:cNvSpPr txBox="1"/>
          <p:nvPr/>
        </p:nvSpPr>
        <p:spPr>
          <a:xfrm>
            <a:off x="777240" y="5486400"/>
            <a:ext cx="10607040" cy="685800"/>
          </a:xfrm>
          <a:prstGeom prst="rect">
            <a:avLst/>
          </a:prstGeom>
          <a:noFill/>
          <a:ln/>
        </p:spPr>
        <p:txBody>
          <a:bodyPr wrap="square" lIns="0" tIns="0" rIns="0" bIns="0" rtlCol="0" anchor="ctr"/>
          <a:lstStyle/>
          <a:p>
            <a:pPr indent="0" marL="0">
              <a:buNone/>
            </a:pPr>
            <a:r>
              <a:rPr lang="en-US" sz="1700" b="1" dirty="0">
                <a:solidFill>
                  <a:schemeClr val="bg1"/>
                </a:solidFill>
              </a:rPr>
              <a:t>Die Frage ist: Welche dieser Anforderungen erfüllt der Standard schon – und wo fängt Eigenbau wirklich an?</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Was Fiori Elements für effiziente Dialoge kann</a:t>
            </a:r>
            <a:endParaRPr lang="en-US" sz="3400" dirty="0"/>
          </a:p>
        </p:txBody>
      </p:sp>
      <p:sp>
        <p:nvSpPr>
          <p:cNvPr id="3" name="Touch-Modus „Cozy“ Kreis"/>
          <p:cNvSpPr/>
          <p:nvPr/>
        </p:nvSpPr>
        <p:spPr>
          <a:xfrm>
            <a:off x="548640" y="1463040"/>
            <a:ext cx="731520" cy="731520"/>
          </a:xfrm>
          <a:prstGeom prst="ellipse">
            <a:avLst/>
          </a:prstGeom>
          <a:solidFill>
            <a:schemeClr val="accent1"/>
          </a:solidFill>
          <a:ln/>
        </p:spPr>
      </p:sp>
      <p:pic>
        <p:nvPicPr>
          <p:cNvPr id="4" name="Touch-Modus „Cozy“ Icon" descr="Touch-Modus „Cozy“">    </p:cNvPr>
          <p:cNvPicPr>
            <a:picLocks noChangeAspect="1"/>
          </p:cNvPicPr>
          <p:nvPr/>
        </p:nvPicPr>
        <p:blipFill>
          <a:blip r:embed="rId1"/>
          <a:stretch>
            <a:fillRect/>
          </a:stretch>
        </p:blipFill>
        <p:spPr>
          <a:xfrm>
            <a:off x="731520" y="1645920"/>
            <a:ext cx="365760" cy="365760"/>
          </a:xfrm>
          <a:prstGeom prst="rect">
            <a:avLst/>
          </a:prstGeom>
        </p:spPr>
      </p:pic>
      <p:sp>
        <p:nvSpPr>
          <p:cNvPr id="5" name="Text 2"/>
          <p:cNvSpPr txBox="1"/>
          <p:nvPr/>
        </p:nvSpPr>
        <p:spPr>
          <a:xfrm>
            <a:off x="1508760" y="1417320"/>
            <a:ext cx="4389120" cy="384048"/>
          </a:xfrm>
          <a:prstGeom prst="rect">
            <a:avLst/>
          </a:prstGeom>
          <a:noFill/>
          <a:ln/>
        </p:spPr>
        <p:txBody>
          <a:bodyPr wrap="square" lIns="0" tIns="0" rIns="0" bIns="0" rtlCol="0" anchor="ctr"/>
          <a:lstStyle/>
          <a:p>
            <a:pPr indent="0" marL="0">
              <a:buNone/>
            </a:pPr>
            <a:r>
              <a:rPr lang="en-US" sz="1800" b="1" dirty="0">
                <a:solidFill>
                  <a:schemeClr val="tx1"/>
                </a:solidFill>
              </a:rPr>
              <a:t>Touch-Modus „Cozy“</a:t>
            </a:r>
            <a:endParaRPr lang="en-US" sz="1800" dirty="0"/>
          </a:p>
        </p:txBody>
      </p:sp>
      <p:sp>
        <p:nvSpPr>
          <p:cNvPr id="6" name="Text 3"/>
          <p:cNvSpPr txBox="1"/>
          <p:nvPr/>
        </p:nvSpPr>
        <p:spPr>
          <a:xfrm>
            <a:off x="1508760" y="1828800"/>
            <a:ext cx="4389120" cy="960120"/>
          </a:xfrm>
          <a:prstGeom prst="rect">
            <a:avLst/>
          </a:prstGeom>
          <a:noFill/>
          <a:ln/>
        </p:spPr>
        <p:txBody>
          <a:bodyPr wrap="square" lIns="0" tIns="0" rIns="0" bIns="0" rtlCol="0" anchor="t"/>
          <a:lstStyle/>
          <a:p>
            <a:pPr indent="0" marL="0">
              <a:buNone/>
            </a:pPr>
            <a:r>
              <a:rPr lang="en-US" sz="1400" dirty="0">
                <a:solidFill>
                  <a:schemeClr val="tx1"/>
                </a:solidFill>
              </a:rPr>
              <a:t>Größere Zeilen, Buttons und Eingabefelder für Touch-Geräte – eine Einstellung, kein CSS.</a:t>
            </a:r>
            <a:endParaRPr lang="en-US" sz="1400" dirty="0"/>
          </a:p>
        </p:txBody>
      </p:sp>
      <p:sp>
        <p:nvSpPr>
          <p:cNvPr id="7" name="Aktionen immer sichtbar Kreis"/>
          <p:cNvSpPr/>
          <p:nvPr/>
        </p:nvSpPr>
        <p:spPr>
          <a:xfrm>
            <a:off x="6217920" y="1463040"/>
            <a:ext cx="731520" cy="731520"/>
          </a:xfrm>
          <a:prstGeom prst="ellipse">
            <a:avLst/>
          </a:prstGeom>
          <a:solidFill>
            <a:schemeClr val="accent1"/>
          </a:solidFill>
          <a:ln/>
        </p:spPr>
      </p:sp>
      <p:pic>
        <p:nvPicPr>
          <p:cNvPr id="8" name="Aktionen immer sichtbar Icon" descr="Aktionen immer sichtbar">    </p:cNvPr>
          <p:cNvPicPr>
            <a:picLocks noChangeAspect="1"/>
          </p:cNvPicPr>
          <p:nvPr/>
        </p:nvPicPr>
        <p:blipFill>
          <a:blip r:embed="rId2"/>
          <a:stretch>
            <a:fillRect/>
          </a:stretch>
        </p:blipFill>
        <p:spPr>
          <a:xfrm>
            <a:off x="6400800" y="1645920"/>
            <a:ext cx="365760" cy="365760"/>
          </a:xfrm>
          <a:prstGeom prst="rect">
            <a:avLst/>
          </a:prstGeom>
        </p:spPr>
      </p:pic>
      <p:sp>
        <p:nvSpPr>
          <p:cNvPr id="9" name="Text 5"/>
          <p:cNvSpPr txBox="1"/>
          <p:nvPr/>
        </p:nvSpPr>
        <p:spPr>
          <a:xfrm>
            <a:off x="7178040" y="1417320"/>
            <a:ext cx="4389120" cy="384048"/>
          </a:xfrm>
          <a:prstGeom prst="rect">
            <a:avLst/>
          </a:prstGeom>
          <a:noFill/>
          <a:ln/>
        </p:spPr>
        <p:txBody>
          <a:bodyPr wrap="square" lIns="0" tIns="0" rIns="0" bIns="0" rtlCol="0" anchor="ctr"/>
          <a:lstStyle/>
          <a:p>
            <a:pPr indent="0" marL="0">
              <a:buNone/>
            </a:pPr>
            <a:r>
              <a:rPr lang="en-US" sz="1800" b="1" dirty="0">
                <a:solidFill>
                  <a:schemeClr val="tx1"/>
                </a:solidFill>
              </a:rPr>
              <a:t>Aktionen immer sichtbar</a:t>
            </a:r>
            <a:endParaRPr lang="en-US" sz="1800" dirty="0"/>
          </a:p>
        </p:txBody>
      </p:sp>
      <p:sp>
        <p:nvSpPr>
          <p:cNvPr id="10" name="Text 6"/>
          <p:cNvSpPr txBox="1"/>
          <p:nvPr/>
        </p:nvSpPr>
        <p:spPr>
          <a:xfrm>
            <a:off x="7178040" y="1828800"/>
            <a:ext cx="4389120" cy="960120"/>
          </a:xfrm>
          <a:prstGeom prst="rect">
            <a:avLst/>
          </a:prstGeom>
          <a:noFill/>
          <a:ln/>
        </p:spPr>
        <p:txBody>
          <a:bodyPr wrap="square" lIns="0" tIns="0" rIns="0" bIns="0" rtlCol="0" anchor="t"/>
          <a:lstStyle/>
          <a:p>
            <a:pPr indent="0" marL="0">
              <a:buNone/>
            </a:pPr>
            <a:r>
              <a:rPr lang="en-US" sz="1400" dirty="0">
                <a:solidFill>
                  <a:schemeClr val="tx1"/>
                </a:solidFill>
              </a:rPr>
              <a:t>Hauptaktionen fest in der Fußleiste oder direkt in der Tabellenzeile (Inline-Aktion) – ein Klick.</a:t>
            </a:r>
            <a:endParaRPr lang="en-US" sz="1400" dirty="0"/>
          </a:p>
        </p:txBody>
      </p:sp>
      <p:sp>
        <p:nvSpPr>
          <p:cNvPr id="11" name="Vorbelegte Werte Kreis"/>
          <p:cNvSpPr/>
          <p:nvPr/>
        </p:nvSpPr>
        <p:spPr>
          <a:xfrm>
            <a:off x="548640" y="3063240"/>
            <a:ext cx="731520" cy="731520"/>
          </a:xfrm>
          <a:prstGeom prst="ellipse">
            <a:avLst/>
          </a:prstGeom>
          <a:solidFill>
            <a:schemeClr val="accent1"/>
          </a:solidFill>
          <a:ln/>
        </p:spPr>
      </p:sp>
      <p:pic>
        <p:nvPicPr>
          <p:cNvPr id="12" name="Vorbelegte Werte Icon" descr="Vorbelegte Werte">    </p:cNvPr>
          <p:cNvPicPr>
            <a:picLocks noChangeAspect="1"/>
          </p:cNvPicPr>
          <p:nvPr/>
        </p:nvPicPr>
        <p:blipFill>
          <a:blip r:embed="rId3"/>
          <a:stretch>
            <a:fillRect/>
          </a:stretch>
        </p:blipFill>
        <p:spPr>
          <a:xfrm>
            <a:off x="731520" y="3246120"/>
            <a:ext cx="365760" cy="365760"/>
          </a:xfrm>
          <a:prstGeom prst="rect">
            <a:avLst/>
          </a:prstGeom>
        </p:spPr>
      </p:pic>
      <p:sp>
        <p:nvSpPr>
          <p:cNvPr id="13" name="Text 8"/>
          <p:cNvSpPr txBox="1"/>
          <p:nvPr/>
        </p:nvSpPr>
        <p:spPr>
          <a:xfrm>
            <a:off x="1508760" y="3017520"/>
            <a:ext cx="4389120" cy="384048"/>
          </a:xfrm>
          <a:prstGeom prst="rect">
            <a:avLst/>
          </a:prstGeom>
          <a:noFill/>
          <a:ln/>
        </p:spPr>
        <p:txBody>
          <a:bodyPr wrap="square" lIns="0" tIns="0" rIns="0" bIns="0" rtlCol="0" anchor="ctr"/>
          <a:lstStyle/>
          <a:p>
            <a:pPr indent="0" marL="0">
              <a:buNone/>
            </a:pPr>
            <a:r>
              <a:rPr lang="en-US" sz="1800" b="1" dirty="0">
                <a:solidFill>
                  <a:schemeClr val="tx1"/>
                </a:solidFill>
              </a:rPr>
              <a:t>Vorbelegte Werte</a:t>
            </a:r>
            <a:endParaRPr lang="en-US" sz="1800" dirty="0"/>
          </a:p>
        </p:txBody>
      </p:sp>
      <p:sp>
        <p:nvSpPr>
          <p:cNvPr id="14" name="Text 9"/>
          <p:cNvSpPr txBox="1"/>
          <p:nvPr/>
        </p:nvSpPr>
        <p:spPr>
          <a:xfrm>
            <a:off x="1508760" y="3429000"/>
            <a:ext cx="4389120" cy="960120"/>
          </a:xfrm>
          <a:prstGeom prst="rect">
            <a:avLst/>
          </a:prstGeom>
          <a:noFill/>
          <a:ln/>
        </p:spPr>
        <p:txBody>
          <a:bodyPr wrap="square" lIns="0" tIns="0" rIns="0" bIns="0" rtlCol="0" anchor="t"/>
          <a:lstStyle/>
          <a:p>
            <a:pPr indent="0" marL="0">
              <a:buNone/>
            </a:pPr>
            <a:r>
              <a:rPr lang="en-US" sz="1400" dirty="0">
                <a:solidFill>
                  <a:schemeClr val="tx1"/>
                </a:solidFill>
              </a:rPr>
              <a:t>Dialog-Parameter per Annotation vorbelegen – oft nur noch „Bestätigen“.</a:t>
            </a:r>
            <a:endParaRPr lang="en-US" sz="1400" dirty="0"/>
          </a:p>
        </p:txBody>
      </p:sp>
      <p:sp>
        <p:nvSpPr>
          <p:cNvPr id="15" name="Scanner &amp; Kamera Kreis"/>
          <p:cNvSpPr/>
          <p:nvPr/>
        </p:nvSpPr>
        <p:spPr>
          <a:xfrm>
            <a:off x="6217920" y="3063240"/>
            <a:ext cx="731520" cy="731520"/>
          </a:xfrm>
          <a:prstGeom prst="ellipse">
            <a:avLst/>
          </a:prstGeom>
          <a:solidFill>
            <a:schemeClr val="accent1"/>
          </a:solidFill>
          <a:ln/>
        </p:spPr>
      </p:sp>
      <p:pic>
        <p:nvPicPr>
          <p:cNvPr id="16" name="Scanner &amp; Kamera Icon" descr="Scanner &amp; Kamera">    </p:cNvPr>
          <p:cNvPicPr>
            <a:picLocks noChangeAspect="1"/>
          </p:cNvPicPr>
          <p:nvPr/>
        </p:nvPicPr>
        <p:blipFill>
          <a:blip r:embed="rId4"/>
          <a:stretch>
            <a:fillRect/>
          </a:stretch>
        </p:blipFill>
        <p:spPr>
          <a:xfrm>
            <a:off x="6400800" y="3246120"/>
            <a:ext cx="365760" cy="365760"/>
          </a:xfrm>
          <a:prstGeom prst="rect">
            <a:avLst/>
          </a:prstGeom>
        </p:spPr>
      </p:pic>
      <p:sp>
        <p:nvSpPr>
          <p:cNvPr id="17" name="Text 11"/>
          <p:cNvSpPr txBox="1"/>
          <p:nvPr/>
        </p:nvSpPr>
        <p:spPr>
          <a:xfrm>
            <a:off x="7178040" y="3017520"/>
            <a:ext cx="4389120" cy="384048"/>
          </a:xfrm>
          <a:prstGeom prst="rect">
            <a:avLst/>
          </a:prstGeom>
          <a:noFill/>
          <a:ln/>
        </p:spPr>
        <p:txBody>
          <a:bodyPr wrap="square" lIns="0" tIns="0" rIns="0" bIns="0" rtlCol="0" anchor="ctr"/>
          <a:lstStyle/>
          <a:p>
            <a:pPr indent="0" marL="0">
              <a:buNone/>
            </a:pPr>
            <a:r>
              <a:rPr lang="en-US" sz="1800" b="1" dirty="0">
                <a:solidFill>
                  <a:schemeClr val="tx1"/>
                </a:solidFill>
              </a:rPr>
              <a:t>Scanner &amp; Kamera</a:t>
            </a:r>
            <a:endParaRPr lang="en-US" sz="1800" dirty="0"/>
          </a:p>
        </p:txBody>
      </p:sp>
      <p:sp>
        <p:nvSpPr>
          <p:cNvPr id="18" name="Text 12"/>
          <p:cNvSpPr txBox="1"/>
          <p:nvPr/>
        </p:nvSpPr>
        <p:spPr>
          <a:xfrm>
            <a:off x="7178040" y="3429000"/>
            <a:ext cx="4389120" cy="960120"/>
          </a:xfrm>
          <a:prstGeom prst="rect">
            <a:avLst/>
          </a:prstGeom>
          <a:noFill/>
          <a:ln/>
        </p:spPr>
        <p:txBody>
          <a:bodyPr wrap="square" lIns="0" tIns="0" rIns="0" bIns="0" rtlCol="0" anchor="t"/>
          <a:lstStyle/>
          <a:p>
            <a:pPr indent="0" marL="0">
              <a:buNone/>
            </a:pPr>
            <a:r>
              <a:rPr lang="en-US" sz="1400" dirty="0">
                <a:solidFill>
                  <a:schemeClr val="tx1"/>
                </a:solidFill>
              </a:rPr>
              <a:t>Handscanner funktionieren in jedem Eingabefeld. Kamera-Scan über den UI5-Scanner-Baustein als kleine Erweiterung.</a:t>
            </a:r>
            <a:endParaRPr lang="en-US" sz="1400" dirty="0"/>
          </a:p>
        </p:txBody>
      </p:sp>
      <p:sp>
        <p:nvSpPr>
          <p:cNvPr id="19" name="Massenbearbeitung Kreis"/>
          <p:cNvSpPr/>
          <p:nvPr/>
        </p:nvSpPr>
        <p:spPr>
          <a:xfrm>
            <a:off x="548640" y="4663440"/>
            <a:ext cx="731520" cy="731520"/>
          </a:xfrm>
          <a:prstGeom prst="ellipse">
            <a:avLst/>
          </a:prstGeom>
          <a:solidFill>
            <a:schemeClr val="accent1"/>
          </a:solidFill>
          <a:ln/>
        </p:spPr>
      </p:sp>
      <p:pic>
        <p:nvPicPr>
          <p:cNvPr id="20" name="Massenbearbeitung Icon" descr="Massenbearbeitung">    </p:cNvPr>
          <p:cNvPicPr>
            <a:picLocks noChangeAspect="1"/>
          </p:cNvPicPr>
          <p:nvPr/>
        </p:nvPicPr>
        <p:blipFill>
          <a:blip r:embed="rId5"/>
          <a:stretch>
            <a:fillRect/>
          </a:stretch>
        </p:blipFill>
        <p:spPr>
          <a:xfrm>
            <a:off x="731520" y="4846320"/>
            <a:ext cx="365760" cy="365760"/>
          </a:xfrm>
          <a:prstGeom prst="rect">
            <a:avLst/>
          </a:prstGeom>
        </p:spPr>
      </p:pic>
      <p:sp>
        <p:nvSpPr>
          <p:cNvPr id="21" name="Text 14"/>
          <p:cNvSpPr txBox="1"/>
          <p:nvPr/>
        </p:nvSpPr>
        <p:spPr>
          <a:xfrm>
            <a:off x="1508760" y="4617720"/>
            <a:ext cx="4389120" cy="384048"/>
          </a:xfrm>
          <a:prstGeom prst="rect">
            <a:avLst/>
          </a:prstGeom>
          <a:noFill/>
          <a:ln/>
        </p:spPr>
        <p:txBody>
          <a:bodyPr wrap="square" lIns="0" tIns="0" rIns="0" bIns="0" rtlCol="0" anchor="ctr"/>
          <a:lstStyle/>
          <a:p>
            <a:pPr indent="0" marL="0">
              <a:buNone/>
            </a:pPr>
            <a:r>
              <a:rPr lang="en-US" sz="1800" b="1" dirty="0">
                <a:solidFill>
                  <a:schemeClr val="tx1"/>
                </a:solidFill>
              </a:rPr>
              <a:t>Massenbearbeitung</a:t>
            </a:r>
            <a:endParaRPr lang="en-US" sz="1800" dirty="0"/>
          </a:p>
        </p:txBody>
      </p:sp>
      <p:sp>
        <p:nvSpPr>
          <p:cNvPr id="22" name="Text 15"/>
          <p:cNvSpPr txBox="1"/>
          <p:nvPr/>
        </p:nvSpPr>
        <p:spPr>
          <a:xfrm>
            <a:off x="1508760" y="5029200"/>
            <a:ext cx="4389120" cy="960120"/>
          </a:xfrm>
          <a:prstGeom prst="rect">
            <a:avLst/>
          </a:prstGeom>
          <a:noFill/>
          <a:ln/>
        </p:spPr>
        <p:txBody>
          <a:bodyPr wrap="square" lIns="0" tIns="0" rIns="0" bIns="0" rtlCol="0" anchor="t"/>
          <a:lstStyle/>
          <a:p>
            <a:pPr indent="0" marL="0">
              <a:buNone/>
            </a:pPr>
            <a:r>
              <a:rPr lang="en-US" sz="1400" dirty="0">
                <a:solidFill>
                  <a:schemeClr val="tx1"/>
                </a:solidFill>
              </a:rPr>
              <a:t>Mehrere Zeilen markieren und in einem Schritt ändern statt einzeln.</a:t>
            </a:r>
            <a:endParaRPr lang="en-US" sz="1400" dirty="0"/>
          </a:p>
        </p:txBody>
      </p:sp>
      <p:sp>
        <p:nvSpPr>
          <p:cNvPr id="23" name="Firmen-Theme Kreis"/>
          <p:cNvSpPr/>
          <p:nvPr/>
        </p:nvSpPr>
        <p:spPr>
          <a:xfrm>
            <a:off x="6217920" y="4663440"/>
            <a:ext cx="731520" cy="731520"/>
          </a:xfrm>
          <a:prstGeom prst="ellipse">
            <a:avLst/>
          </a:prstGeom>
          <a:solidFill>
            <a:schemeClr val="accent1"/>
          </a:solidFill>
          <a:ln/>
        </p:spPr>
      </p:sp>
      <p:pic>
        <p:nvPicPr>
          <p:cNvPr id="24" name="Firmen-Theme Icon" descr="Firmen-Theme">    </p:cNvPr>
          <p:cNvPicPr>
            <a:picLocks noChangeAspect="1"/>
          </p:cNvPicPr>
          <p:nvPr/>
        </p:nvPicPr>
        <p:blipFill>
          <a:blip r:embed="rId6"/>
          <a:stretch>
            <a:fillRect/>
          </a:stretch>
        </p:blipFill>
        <p:spPr>
          <a:xfrm>
            <a:off x="6400800" y="4846320"/>
            <a:ext cx="365760" cy="365760"/>
          </a:xfrm>
          <a:prstGeom prst="rect">
            <a:avLst/>
          </a:prstGeom>
        </p:spPr>
      </p:pic>
      <p:sp>
        <p:nvSpPr>
          <p:cNvPr id="25" name="Text 17"/>
          <p:cNvSpPr txBox="1"/>
          <p:nvPr/>
        </p:nvSpPr>
        <p:spPr>
          <a:xfrm>
            <a:off x="7178040" y="4617720"/>
            <a:ext cx="4389120" cy="384048"/>
          </a:xfrm>
          <a:prstGeom prst="rect">
            <a:avLst/>
          </a:prstGeom>
          <a:noFill/>
          <a:ln/>
        </p:spPr>
        <p:txBody>
          <a:bodyPr wrap="square" lIns="0" tIns="0" rIns="0" bIns="0" rtlCol="0" anchor="ctr"/>
          <a:lstStyle/>
          <a:p>
            <a:pPr indent="0" marL="0">
              <a:buNone/>
            </a:pPr>
            <a:r>
              <a:rPr lang="en-US" sz="1800" b="1" dirty="0">
                <a:solidFill>
                  <a:schemeClr val="tx1"/>
                </a:solidFill>
              </a:rPr>
              <a:t>Firmen-Theme</a:t>
            </a:r>
            <a:endParaRPr lang="en-US" sz="1800" dirty="0"/>
          </a:p>
        </p:txBody>
      </p:sp>
      <p:sp>
        <p:nvSpPr>
          <p:cNvPr id="26" name="Text 18"/>
          <p:cNvSpPr txBox="1"/>
          <p:nvPr/>
        </p:nvSpPr>
        <p:spPr>
          <a:xfrm>
            <a:off x="7178040" y="5029200"/>
            <a:ext cx="4389120" cy="960120"/>
          </a:xfrm>
          <a:prstGeom prst="rect">
            <a:avLst/>
          </a:prstGeom>
          <a:noFill/>
          <a:ln/>
        </p:spPr>
        <p:txBody>
          <a:bodyPr wrap="square" lIns="0" tIns="0" rIns="0" bIns="0" rtlCol="0" anchor="t"/>
          <a:lstStyle/>
          <a:p>
            <a:pPr indent="0" marL="0">
              <a:buNone/>
            </a:pPr>
            <a:r>
              <a:rPr lang="en-US" sz="1400" dirty="0">
                <a:solidFill>
                  <a:schemeClr val="tx1"/>
                </a:solidFill>
              </a:rPr>
              <a:t>Farben, Kontraste und Schriftgrößen zentral über den Theme Designer – für alle Apps.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Technische Grenzen – auf beiden Seiten</a:t>
            </a:r>
            <a:endParaRPr lang="en-US" sz="3400" dirty="0"/>
          </a:p>
        </p:txBody>
      </p:sp>
      <p:sp>
        <p:nvSpPr>
          <p:cNvPr id="3" name="Grenzen von Fiori Elements"/>
          <p:cNvSpPr/>
          <p:nvPr/>
        </p:nvSpPr>
        <p:spPr>
          <a:xfrm>
            <a:off x="548640" y="1371600"/>
            <a:ext cx="5394960" cy="3291840"/>
          </a:xfrm>
          <a:prstGeom prst="roundRect">
            <a:avLst>
              <a:gd name="adj" fmla="val 3333"/>
            </a:avLst>
          </a:prstGeom>
          <a:solidFill>
            <a:schemeClr val="accent6"/>
          </a:solidFill>
          <a:ln/>
        </p:spPr>
      </p:sp>
      <p:sp>
        <p:nvSpPr>
          <p:cNvPr id="4" name="Grenzen von Fiori Elements Kreis"/>
          <p:cNvSpPr/>
          <p:nvPr/>
        </p:nvSpPr>
        <p:spPr>
          <a:xfrm>
            <a:off x="822960" y="1600200"/>
            <a:ext cx="685800" cy="685800"/>
          </a:xfrm>
          <a:prstGeom prst="ellipse">
            <a:avLst/>
          </a:prstGeom>
          <a:solidFill>
            <a:schemeClr val="accent1"/>
          </a:solidFill>
          <a:ln/>
        </p:spPr>
      </p:sp>
      <p:pic>
        <p:nvPicPr>
          <p:cNvPr id="5" name="Grenzen von Fiori Elements Icon" descr="Grenzen von Fiori Elements">    </p:cNvPr>
          <p:cNvPicPr>
            <a:picLocks noChangeAspect="1"/>
          </p:cNvPicPr>
          <p:nvPr/>
        </p:nvPicPr>
        <p:blipFill>
          <a:blip r:embed="rId1"/>
          <a:stretch>
            <a:fillRect/>
          </a:stretch>
        </p:blipFill>
        <p:spPr>
          <a:xfrm>
            <a:off x="994410" y="1771650"/>
            <a:ext cx="342900" cy="342900"/>
          </a:xfrm>
          <a:prstGeom prst="rect">
            <a:avLst/>
          </a:prstGeom>
        </p:spPr>
      </p:pic>
      <p:sp>
        <p:nvSpPr>
          <p:cNvPr id="6" name="Text 3"/>
          <p:cNvSpPr txBox="1"/>
          <p:nvPr/>
        </p:nvSpPr>
        <p:spPr>
          <a:xfrm>
            <a:off x="1691640" y="1600200"/>
            <a:ext cx="4023360" cy="685800"/>
          </a:xfrm>
          <a:prstGeom prst="rect">
            <a:avLst/>
          </a:prstGeom>
          <a:noFill/>
          <a:ln/>
        </p:spPr>
        <p:txBody>
          <a:bodyPr wrap="square" lIns="0" tIns="0" rIns="0" bIns="0" rtlCol="0" anchor="ctr"/>
          <a:lstStyle/>
          <a:p>
            <a:pPr indent="0" marL="0">
              <a:buNone/>
            </a:pPr>
            <a:r>
              <a:rPr lang="en-US" sz="2000" b="1" dirty="0">
                <a:solidFill>
                  <a:schemeClr val="accent1"/>
                </a:solidFill>
              </a:rPr>
              <a:t>Grenzen von Fiori Elements</a:t>
            </a:r>
            <a:endParaRPr lang="en-US" sz="2000" dirty="0"/>
          </a:p>
        </p:txBody>
      </p:sp>
      <p:sp>
        <p:nvSpPr>
          <p:cNvPr id="7" name="Text 4"/>
          <p:cNvSpPr txBox="1"/>
          <p:nvPr/>
        </p:nvSpPr>
        <p:spPr>
          <a:xfrm>
            <a:off x="822960" y="2514600"/>
            <a:ext cx="4846320" cy="20574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Layout folgt festen Floorplans – Buttons nicht frei platzierbar</a:t>
            </a:r>
            <a:endParaRPr lang="en-US" sz="1500" dirty="0"/>
          </a:p>
          <a:p>
            <a:pPr marL="342900" indent="-342900">
              <a:spcAft>
                <a:spcPts val="800"/>
              </a:spcAft>
              <a:buSzPct val="100000"/>
              <a:buChar char="•"/>
            </a:pPr>
            <a:r>
              <a:rPr lang="en-US" sz="1500" dirty="0">
                <a:solidFill>
                  <a:schemeClr val="tx1"/>
                </a:solidFill>
              </a:rPr>
              <a:t>Kein eigenes CSS vorgesehen, Aussehen nur über Theme</a:t>
            </a:r>
            <a:endParaRPr lang="en-US" sz="1500" dirty="0"/>
          </a:p>
          <a:p>
            <a:pPr marL="342900" indent="-342900">
              <a:spcAft>
                <a:spcPts val="800"/>
              </a:spcAft>
              <a:buSzPct val="100000"/>
              <a:buChar char="•"/>
            </a:pPr>
            <a:r>
              <a:rPr lang="en-US" sz="1500" dirty="0">
                <a:solidFill>
                  <a:schemeClr val="tx1"/>
                </a:solidFill>
              </a:rPr>
              <a:t>Kamera-Scan, Fokus-Sprung und Auto-Bestätigen brauchen eine Erweiterung (UI5-Scanner-Baustein in eigenem Abschnitt)</a:t>
            </a:r>
            <a:endParaRPr lang="en-US" sz="1500" dirty="0"/>
          </a:p>
          <a:p>
            <a:pPr marL="342900" indent="-342900">
              <a:spcAft>
                <a:spcPts val="800"/>
              </a:spcAft>
              <a:buSzPct val="100000"/>
              <a:buChar char="•"/>
            </a:pPr>
            <a:r>
              <a:rPr lang="en-US" sz="1500" dirty="0">
                <a:solidFill>
                  <a:schemeClr val="tx1"/>
                </a:solidFill>
              </a:rPr>
              <a:t>Kein Offline-Betrieb</a:t>
            </a:r>
            <a:endParaRPr lang="en-US" sz="1500" dirty="0"/>
          </a:p>
        </p:txBody>
      </p:sp>
      <p:sp>
        <p:nvSpPr>
          <p:cNvPr id="8" name="Grenzen von Freestyle"/>
          <p:cNvSpPr/>
          <p:nvPr/>
        </p:nvSpPr>
        <p:spPr>
          <a:xfrm>
            <a:off x="6217920" y="1371600"/>
            <a:ext cx="5394960" cy="3291840"/>
          </a:xfrm>
          <a:prstGeom prst="roundRect">
            <a:avLst>
              <a:gd name="adj" fmla="val 3333"/>
            </a:avLst>
          </a:prstGeom>
          <a:solidFill>
            <a:schemeClr val="accent5"/>
          </a:solidFill>
          <a:ln/>
        </p:spPr>
      </p:sp>
      <p:sp>
        <p:nvSpPr>
          <p:cNvPr id="9" name="Grenzen von Freestyle Kreis"/>
          <p:cNvSpPr/>
          <p:nvPr/>
        </p:nvSpPr>
        <p:spPr>
          <a:xfrm>
            <a:off x="6492240" y="1600200"/>
            <a:ext cx="685800" cy="685800"/>
          </a:xfrm>
          <a:prstGeom prst="ellipse">
            <a:avLst/>
          </a:prstGeom>
          <a:solidFill>
            <a:schemeClr val="accent2"/>
          </a:solidFill>
          <a:ln/>
        </p:spPr>
      </p:sp>
      <p:pic>
        <p:nvPicPr>
          <p:cNvPr id="10" name="Grenzen von Freestyle Icon" descr="Grenzen von Freestyle">    </p:cNvPr>
          <p:cNvPicPr>
            <a:picLocks noChangeAspect="1"/>
          </p:cNvPicPr>
          <p:nvPr/>
        </p:nvPicPr>
        <p:blipFill>
          <a:blip r:embed="rId2"/>
          <a:stretch>
            <a:fillRect/>
          </a:stretch>
        </p:blipFill>
        <p:spPr>
          <a:xfrm>
            <a:off x="6663690" y="1771650"/>
            <a:ext cx="342900" cy="342900"/>
          </a:xfrm>
          <a:prstGeom prst="rect">
            <a:avLst/>
          </a:prstGeom>
        </p:spPr>
      </p:pic>
      <p:sp>
        <p:nvSpPr>
          <p:cNvPr id="11" name="Text 7"/>
          <p:cNvSpPr txBox="1"/>
          <p:nvPr/>
        </p:nvSpPr>
        <p:spPr>
          <a:xfrm>
            <a:off x="7360920" y="1600200"/>
            <a:ext cx="4023360" cy="685800"/>
          </a:xfrm>
          <a:prstGeom prst="rect">
            <a:avLst/>
          </a:prstGeom>
          <a:noFill/>
          <a:ln/>
        </p:spPr>
        <p:txBody>
          <a:bodyPr wrap="square" lIns="0" tIns="0" rIns="0" bIns="0" rtlCol="0" anchor="ctr"/>
          <a:lstStyle/>
          <a:p>
            <a:pPr indent="0" marL="0">
              <a:buNone/>
            </a:pPr>
            <a:r>
              <a:rPr lang="en-US" sz="2000" b="1" dirty="0">
                <a:solidFill>
                  <a:schemeClr val="accent2"/>
                </a:solidFill>
              </a:rPr>
              <a:t>Grenzen von Freestyle</a:t>
            </a:r>
            <a:endParaRPr lang="en-US" sz="2000" dirty="0"/>
          </a:p>
        </p:txBody>
      </p:sp>
      <p:sp>
        <p:nvSpPr>
          <p:cNvPr id="12" name="Text 8"/>
          <p:cNvSpPr txBox="1"/>
          <p:nvPr/>
        </p:nvSpPr>
        <p:spPr>
          <a:xfrm>
            <a:off x="6492240" y="2514600"/>
            <a:ext cx="4846320" cy="20574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Eigenes CSS greift in interne UI5-Strukturen ein – kein stabiles API, kann bei jedem Upgrade brechen</a:t>
            </a:r>
            <a:endParaRPr lang="en-US" sz="1500" dirty="0"/>
          </a:p>
          <a:p>
            <a:pPr marL="342900" indent="-342900">
              <a:spcAft>
                <a:spcPts val="800"/>
              </a:spcAft>
              <a:buSzPct val="100000"/>
              <a:buChar char="•"/>
            </a:pPr>
            <a:r>
              <a:rPr lang="en-US" sz="1500" dirty="0">
                <a:solidFill>
                  <a:schemeClr val="tx1"/>
                </a:solidFill>
              </a:rPr>
              <a:t>Jedes Gerät und jede Bildschirmgröße selbst testen</a:t>
            </a:r>
            <a:endParaRPr lang="en-US" sz="1500" dirty="0"/>
          </a:p>
          <a:p>
            <a:pPr marL="342900" indent="-342900">
              <a:spcAft>
                <a:spcPts val="800"/>
              </a:spcAft>
              <a:buSzPct val="100000"/>
              <a:buChar char="•"/>
            </a:pPr>
            <a:r>
              <a:rPr lang="en-US" sz="1500" dirty="0">
                <a:solidFill>
                  <a:schemeClr val="tx1"/>
                </a:solidFill>
              </a:rPr>
              <a:t>Jeder optimierte Ablauf ist eigener Code mit eigener Wartung</a:t>
            </a:r>
            <a:endParaRPr lang="en-US" sz="1500" dirty="0"/>
          </a:p>
          <a:p>
            <a:pPr marL="342900" indent="-342900">
              <a:spcAft>
                <a:spcPts val="800"/>
              </a:spcAft>
              <a:buSzPct val="100000"/>
              <a:buChar char="•"/>
            </a:pPr>
            <a:r>
              <a:rPr lang="en-US" sz="1500" dirty="0">
                <a:solidFill>
                  <a:schemeClr val="tx1"/>
                </a:solidFill>
              </a:rPr>
              <a:t>Kein Offline-Betrieb ohne erheblichen Zusatzaufwand</a:t>
            </a:r>
            <a:endParaRPr lang="en-US" sz="1500" dirty="0"/>
          </a:p>
        </p:txBody>
      </p:sp>
      <p:sp>
        <p:nvSpPr>
          <p:cNvPr id="13" name="Text 9"/>
          <p:cNvSpPr txBox="1"/>
          <p:nvPr/>
        </p:nvSpPr>
        <p:spPr>
          <a:xfrm>
            <a:off x="548640" y="4754880"/>
            <a:ext cx="11064240" cy="365760"/>
          </a:xfrm>
          <a:prstGeom prst="rect">
            <a:avLst/>
          </a:prstGeom>
          <a:noFill/>
          <a:ln/>
        </p:spPr>
        <p:txBody>
          <a:bodyPr wrap="square" lIns="0" tIns="0" rIns="0" bIns="0" rtlCol="0" anchor="ctr"/>
          <a:lstStyle/>
          <a:p>
            <a:pPr indent="0" marL="0">
              <a:buNone/>
            </a:pPr>
            <a:r>
              <a:rPr lang="en-US" sz="1400" b="1" dirty="0">
                <a:solidFill>
                  <a:schemeClr val="tx1"/>
                </a:solidFill>
              </a:rPr>
              <a:t>Für beide gilt: </a:t>
            </a:r>
            <a:pPr indent="0" marL="0">
              <a:buNone/>
            </a:pPr>
            <a:r>
              <a:rPr lang="en-US" sz="1400" dirty="0">
                <a:solidFill>
                  <a:schemeClr val="tx1"/>
                </a:solidFill>
              </a:rPr>
              <a:t>Kamera-Zugriff im Browser nur über HTTPS. Bei hohen Scan-Mengen ist ein Handscanner deutlich schneller als die Kamera.</a:t>
            </a:r>
            <a:endParaRPr lang="en-US" sz="1400" dirty="0"/>
          </a:p>
        </p:txBody>
      </p:sp>
      <p:sp>
        <p:nvSpPr>
          <p:cNvPr id="14" name="Fazit CSS"/>
          <p:cNvSpPr/>
          <p:nvPr/>
        </p:nvSpPr>
        <p:spPr>
          <a:xfrm>
            <a:off x="548640" y="5257800"/>
            <a:ext cx="11064240" cy="914400"/>
          </a:xfrm>
          <a:prstGeom prst="roundRect">
            <a:avLst>
              <a:gd name="adj" fmla="val 10000"/>
            </a:avLst>
          </a:prstGeom>
          <a:solidFill>
            <a:schemeClr val="tx2"/>
          </a:solidFill>
          <a:ln/>
        </p:spPr>
      </p:sp>
      <p:sp>
        <p:nvSpPr>
          <p:cNvPr id="15" name="Text 11"/>
          <p:cNvSpPr txBox="1"/>
          <p:nvPr/>
        </p:nvSpPr>
        <p:spPr>
          <a:xfrm>
            <a:off x="777240" y="5257800"/>
            <a:ext cx="10607040" cy="914400"/>
          </a:xfrm>
          <a:prstGeom prst="rect">
            <a:avLst/>
          </a:prstGeom>
          <a:noFill/>
          <a:ln/>
        </p:spPr>
        <p:txBody>
          <a:bodyPr wrap="square" lIns="0" tIns="0" rIns="0" bIns="0" rtlCol="0" anchor="ctr"/>
          <a:lstStyle/>
          <a:p>
            <a:pPr indent="0" marL="0">
              <a:buNone/>
            </a:pPr>
            <a:r>
              <a:rPr lang="en-US" sz="1800" b="1" dirty="0">
                <a:solidFill>
                  <a:schemeClr val="bg1"/>
                </a:solidFill>
              </a:rPr>
              <a:t>„Wir passen das per CSS an“ ist kein Einmalaufwand – es ist eine Wette darauf, dass SAP die internen Strukturen nie ändert.</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Entscheidungshilfe für den Shopfloor</a:t>
            </a:r>
            <a:endParaRPr lang="en-US" sz="3400" dirty="0"/>
          </a:p>
        </p:txBody>
      </p:sp>
      <p:graphicFrame>
        <p:nvGraphicFramePr>
          <p:cNvPr id="15" name="Tabelle Shopfloor"/>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3017520"/>
                <a:gridCol w="4206240"/>
                <a:gridCol w="3840480"/>
              </a:tblGrid>
              <a:tr h="56692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Szenario</a:t>
                      </a:r>
                      <a:endParaRPr lang="en-US" sz="15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0B3C49"/>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Beispiel</a:t>
                      </a:r>
                      <a:endParaRPr lang="en-US" sz="15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0B3C49"/>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Empfehlung</a:t>
                      </a:r>
                      <a:endParaRPr lang="en-US" sz="15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0B3C49"/>
                    </a:solidFill>
                  </a:tcPr>
                </a:tc>
              </a:tr>
              <a:tr h="566928">
                <a:tc>
                  <a:txBody>
                    <a:bodyPr/>
                    <a:lstStyle/>
                    <a:p>
                      <a:pPr indent="0" marL="0">
                        <a:buNone/>
                      </a:pPr>
                      <a:r>
                        <a:rPr lang="en-US" sz="1500" b="1" dirty="0">
                          <a:solidFill>
                            <a:srgbClr val="1B2B34"/>
                          </a:solidFill>
                          <a:latin typeface="Calibri" pitchFamily="34" charset="0"/>
                          <a:ea typeface="Calibri" pitchFamily="34" charset="-122"/>
                          <a:cs typeface="Calibri" pitchFamily="34" charset="-120"/>
                        </a:rPr>
                        <a:t>Übersicht &amp; Disposition</a:t>
                      </a:r>
                      <a:endParaRPr lang="en-US" sz="15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r>
                        <a:rPr lang="en-US" sz="1500" dirty="0">
                          <a:solidFill>
                            <a:srgbClr val="1B2B34"/>
                          </a:solidFill>
                          <a:latin typeface="Calibri" pitchFamily="34" charset="0"/>
                          <a:ea typeface="Calibri" pitchFamily="34" charset="-122"/>
                          <a:cs typeface="Calibri" pitchFamily="34" charset="-120"/>
                        </a:rPr>
                        <a:t>Leitstand, Auftragsliste, Bestandsübersicht am PC</a:t>
                      </a:r>
                      <a:endParaRPr lang="en-US" sz="15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r>
                        <a:rPr lang="en-US" sz="1500" b="1" dirty="0">
                          <a:solidFill>
                            <a:srgbClr val="1F8A70"/>
                          </a:solidFill>
                          <a:latin typeface="Calibri" pitchFamily="34" charset="0"/>
                          <a:ea typeface="Calibri" pitchFamily="34" charset="-122"/>
                          <a:cs typeface="Calibri" pitchFamily="34" charset="-120"/>
                        </a:rPr>
                        <a:t>Fiori Elements</a:t>
                      </a:r>
                      <a:endParaRPr lang="en-US" sz="15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B2B34"/>
                          </a:solidFill>
                          <a:latin typeface="Calibri" pitchFamily="34" charset="0"/>
                          <a:ea typeface="Calibri" pitchFamily="34" charset="-122"/>
                          <a:cs typeface="Calibri" pitchFamily="34" charset="-120"/>
                        </a:rPr>
                        <a:t>Bestätigen am Tablet</a:t>
                      </a:r>
                      <a:endParaRPr lang="en-US" sz="15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r>
                        <a:rPr lang="en-US" sz="1500" dirty="0">
                          <a:solidFill>
                            <a:srgbClr val="1B2B34"/>
                          </a:solidFill>
                          <a:latin typeface="Calibri" pitchFamily="34" charset="0"/>
                          <a:ea typeface="Calibri" pitchFamily="34" charset="-122"/>
                          <a:cs typeface="Calibri" pitchFamily="34" charset="-120"/>
                        </a:rPr>
                        <a:t>Wareneingang prüfen, Auftrag rückmelden</a:t>
                      </a:r>
                      <a:endParaRPr lang="en-US" sz="15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r>
                        <a:rPr lang="en-US" sz="1500" b="1" dirty="0">
                          <a:solidFill>
                            <a:srgbClr val="1F8A70"/>
                          </a:solidFill>
                          <a:latin typeface="Calibri" pitchFamily="34" charset="0"/>
                          <a:ea typeface="Calibri" pitchFamily="34" charset="-122"/>
                          <a:cs typeface="Calibri" pitchFamily="34" charset="-120"/>
                        </a:rPr>
                        <a:t>Fiori Elements, Cozy + Inline-Aktion</a:t>
                      </a:r>
                      <a:endParaRPr lang="en-US" sz="15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B2B34"/>
                          </a:solidFill>
                          <a:latin typeface="Calibri" pitchFamily="34" charset="0"/>
                          <a:ea typeface="Calibri" pitchFamily="34" charset="-122"/>
                          <a:cs typeface="Calibri" pitchFamily="34" charset="-120"/>
                        </a:rPr>
                        <a:t>Gelegentlicher Kamera-Scan</a:t>
                      </a:r>
                      <a:endParaRPr lang="en-US" sz="15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r>
                        <a:rPr lang="en-US" sz="1500" dirty="0">
                          <a:solidFill>
                            <a:srgbClr val="1B2B34"/>
                          </a:solidFill>
                          <a:latin typeface="Calibri" pitchFamily="34" charset="0"/>
                          <a:ea typeface="Calibri" pitchFamily="34" charset="-122"/>
                          <a:cs typeface="Calibri" pitchFamily="34" charset="-120"/>
                        </a:rPr>
                        <a:t>Material oder Charge per Handy-Kamera erfassen</a:t>
                      </a:r>
                      <a:endParaRPr lang="en-US" sz="15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r>
                        <a:rPr lang="en-US" sz="1500" b="1" dirty="0">
                          <a:solidFill>
                            <a:srgbClr val="1F8A70"/>
                          </a:solidFill>
                          <a:latin typeface="Calibri" pitchFamily="34" charset="0"/>
                          <a:ea typeface="Calibri" pitchFamily="34" charset="-122"/>
                          <a:cs typeface="Calibri" pitchFamily="34" charset="-120"/>
                        </a:rPr>
                        <a:t>Fiori Elements + Scanner-Erweiterung</a:t>
                      </a:r>
                      <a:endParaRPr lang="en-US" sz="15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B2B34"/>
                          </a:solidFill>
                          <a:latin typeface="Calibri" pitchFamily="34" charset="0"/>
                          <a:ea typeface="Calibri" pitchFamily="34" charset="-122"/>
                          <a:cs typeface="Calibri" pitchFamily="34" charset="-120"/>
                        </a:rPr>
                        <a:t>Standard mit Spezialteil</a:t>
                      </a:r>
                      <a:endParaRPr lang="en-US" sz="15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r>
                        <a:rPr lang="en-US" sz="1500" dirty="0">
                          <a:solidFill>
                            <a:srgbClr val="1B2B34"/>
                          </a:solidFill>
                          <a:latin typeface="Calibri" pitchFamily="34" charset="0"/>
                          <a:ea typeface="Calibri" pitchFamily="34" charset="-122"/>
                          <a:cs typeface="Calibri" pitchFamily="34" charset="-120"/>
                        </a:rPr>
                        <a:t>Objektseite plus eigener Scan-Bereich</a:t>
                      </a:r>
                      <a:endParaRPr lang="en-US" sz="15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r>
                        <a:rPr lang="en-US" sz="1500" b="1" dirty="0">
                          <a:solidFill>
                            <a:srgbClr val="1F8A70"/>
                          </a:solidFill>
                          <a:latin typeface="Calibri" pitchFamily="34" charset="0"/>
                          <a:ea typeface="Calibri" pitchFamily="34" charset="-122"/>
                          <a:cs typeface="Calibri" pitchFamily="34" charset="-120"/>
                        </a:rPr>
                        <a:t>Fiori Elements + Erweiterung</a:t>
                      </a:r>
                      <a:endParaRPr lang="en-US" sz="15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B2B34"/>
                          </a:solidFill>
                          <a:latin typeface="Calibri" pitchFamily="34" charset="0"/>
                          <a:ea typeface="Calibri" pitchFamily="34" charset="-122"/>
                          <a:cs typeface="Calibri" pitchFamily="34" charset="-120"/>
                        </a:rPr>
                        <a:t>Scan-getriebener Schnellablauf</a:t>
                      </a:r>
                      <a:endParaRPr lang="en-US" sz="15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r>
                        <a:rPr lang="en-US" sz="1500" dirty="0">
                          <a:solidFill>
                            <a:srgbClr val="1B2B34"/>
                          </a:solidFill>
                          <a:latin typeface="Calibri" pitchFamily="34" charset="0"/>
                          <a:ea typeface="Calibri" pitchFamily="34" charset="-122"/>
                          <a:cs typeface="Calibri" pitchFamily="34" charset="-120"/>
                        </a:rPr>
                        <a:t>Scannen → Menge → Buchen, hunderte Male pro Schicht</a:t>
                      </a:r>
                      <a:endParaRPr lang="en-US" sz="15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r>
                        <a:rPr lang="en-US" sz="1500" b="1" dirty="0">
                          <a:solidFill>
                            <a:srgbClr val="D9661F"/>
                          </a:solidFill>
                          <a:latin typeface="Calibri" pitchFamily="34" charset="0"/>
                          <a:ea typeface="Calibri" pitchFamily="34" charset="-122"/>
                          <a:cs typeface="Calibri" pitchFamily="34" charset="-120"/>
                        </a:rPr>
                        <a:t>Schlanke Freestyle-App, bewusst klein gehalten</a:t>
                      </a:r>
                      <a:endParaRPr lang="en-US" sz="15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B2B34"/>
                          </a:solidFill>
                          <a:latin typeface="Calibri" pitchFamily="34" charset="0"/>
                          <a:ea typeface="Calibri" pitchFamily="34" charset="-122"/>
                          <a:cs typeface="Calibri" pitchFamily="34" charset="-120"/>
                        </a:rPr>
                        <a:t>Offline im Lager</a:t>
                      </a:r>
                      <a:endParaRPr lang="en-US" sz="15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r>
                        <a:rPr lang="en-US" sz="1500" dirty="0">
                          <a:solidFill>
                            <a:srgbClr val="1B2B34"/>
                          </a:solidFill>
                          <a:latin typeface="Calibri" pitchFamily="34" charset="0"/>
                          <a:ea typeface="Calibri" pitchFamily="34" charset="-122"/>
                          <a:cs typeface="Calibri" pitchFamily="34" charset="-120"/>
                        </a:rPr>
                        <a:t>Kein stabiles WLAN in der Halle</a:t>
                      </a:r>
                      <a:endParaRPr lang="en-US" sz="15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r>
                        <a:rPr lang="en-US" sz="1500" b="1" dirty="0">
                          <a:solidFill>
                            <a:srgbClr val="5E727B"/>
                          </a:solidFill>
                          <a:latin typeface="Calibri" pitchFamily="34" charset="0"/>
                          <a:ea typeface="Calibri" pitchFamily="34" charset="-122"/>
                          <a:cs typeface="Calibri" pitchFamily="34" charset="-120"/>
                        </a:rPr>
                        <a:t>Eigene Bewertung (z. B. SAP Mobile Development Kit)</a:t>
                      </a:r>
                      <a:endParaRPr lang="en-US" sz="15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715000"/>
            <a:ext cx="11064240" cy="457200"/>
          </a:xfrm>
          <a:prstGeom prst="rect">
            <a:avLst/>
          </a:prstGeom>
          <a:noFill/>
          <a:ln/>
        </p:spPr>
        <p:txBody>
          <a:bodyPr wrap="square" lIns="0" tIns="0" rIns="0" bIns="0" rtlCol="0" anchor="ctr"/>
          <a:lstStyle/>
          <a:p>
            <a:pPr indent="0" marL="0">
              <a:buNone/>
            </a:pPr>
            <a:r>
              <a:rPr lang="en-US" sz="1600" i="1" dirty="0">
                <a:solidFill>
                  <a:schemeClr val="tx2"/>
                </a:solidFill>
              </a:rPr>
              <a:t>Wenn Freestyle, dann für genau einen Ablauf – nicht als Nachbau einer kompletten Liste mit Detailseite.</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Leitplanke: erst Standard, dann Ausnahme</a:t>
            </a:r>
            <a:endParaRPr lang="en-US" sz="3400" dirty="0"/>
          </a:p>
        </p:txBody>
      </p:sp>
      <p:sp>
        <p:nvSpPr>
          <p:cNvPr id="3" name="Stufe 1"/>
          <p:cNvSpPr/>
          <p:nvPr/>
        </p:nvSpPr>
        <p:spPr>
          <a:xfrm>
            <a:off x="548640" y="1463040"/>
            <a:ext cx="3474720" cy="2743200"/>
          </a:xfrm>
          <a:prstGeom prst="roundRect">
            <a:avLst>
              <a:gd name="adj" fmla="val 4000"/>
            </a:avLst>
          </a:prstGeom>
          <a:solidFill>
            <a:schemeClr val="accent6"/>
          </a:solidFill>
          <a:ln/>
        </p:spPr>
      </p:sp>
      <p:sp>
        <p:nvSpPr>
          <p:cNvPr id="4" name="Stufe 1 Nummer"/>
          <p:cNvSpPr/>
          <p:nvPr/>
        </p:nvSpPr>
        <p:spPr>
          <a:xfrm>
            <a:off x="822960" y="1691640"/>
            <a:ext cx="640080" cy="640080"/>
          </a:xfrm>
          <a:prstGeom prst="ellipse">
            <a:avLst/>
          </a:prstGeom>
          <a:solidFill>
            <a:schemeClr val="accent1"/>
          </a:solidFill>
          <a:ln/>
        </p:spPr>
      </p:sp>
      <p:sp>
        <p:nvSpPr>
          <p:cNvPr id="5" name="Text 3"/>
          <p:cNvSpPr txBox="1"/>
          <p:nvPr/>
        </p:nvSpPr>
        <p:spPr>
          <a:xfrm>
            <a:off x="822960" y="169164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6" name="Text 4"/>
          <p:cNvSpPr txBox="1"/>
          <p:nvPr/>
        </p:nvSpPr>
        <p:spPr>
          <a:xfrm>
            <a:off x="822960" y="2468880"/>
            <a:ext cx="2926080" cy="457200"/>
          </a:xfrm>
          <a:prstGeom prst="rect">
            <a:avLst/>
          </a:prstGeom>
          <a:noFill/>
          <a:ln/>
        </p:spPr>
        <p:txBody>
          <a:bodyPr wrap="square" lIns="0" tIns="0" rIns="0" bIns="0" rtlCol="0" anchor="ctr"/>
          <a:lstStyle/>
          <a:p>
            <a:pPr indent="0" marL="0">
              <a:buNone/>
            </a:pPr>
            <a:r>
              <a:rPr lang="en-US" sz="1900" b="1" dirty="0">
                <a:solidFill>
                  <a:schemeClr val="accent1"/>
                </a:solidFill>
              </a:rPr>
              <a:t>Fiori Elements</a:t>
            </a:r>
            <a:endParaRPr lang="en-US" sz="1900" dirty="0"/>
          </a:p>
        </p:txBody>
      </p:sp>
      <p:sp>
        <p:nvSpPr>
          <p:cNvPr id="7" name="Text 5"/>
          <p:cNvSpPr txBox="1"/>
          <p:nvPr/>
        </p:nvSpPr>
        <p:spPr>
          <a:xfrm>
            <a:off x="822960" y="2971800"/>
            <a:ext cx="2926080" cy="1097280"/>
          </a:xfrm>
          <a:prstGeom prst="rect">
            <a:avLst/>
          </a:prstGeom>
          <a:noFill/>
          <a:ln/>
        </p:spPr>
        <p:txBody>
          <a:bodyPr wrap="square" lIns="0" tIns="0" rIns="0" bIns="0" rtlCol="0" anchor="t"/>
          <a:lstStyle/>
          <a:p>
            <a:pPr indent="0" marL="0">
              <a:buNone/>
            </a:pPr>
            <a:r>
              <a:rPr lang="en-US" sz="1500" dirty="0">
                <a:solidFill>
                  <a:schemeClr val="tx1"/>
                </a:solidFill>
              </a:rPr>
              <a:t>mit RAP im Backend. Deckt Liste, Detail, Bearbeiten und Analyse ab.</a:t>
            </a:r>
            <a:endParaRPr lang="en-US" sz="1500" dirty="0"/>
          </a:p>
        </p:txBody>
      </p:sp>
      <p:sp>
        <p:nvSpPr>
          <p:cNvPr id="8" name="Pfeil 1"/>
          <p:cNvSpPr/>
          <p:nvPr/>
        </p:nvSpPr>
        <p:spPr>
          <a:xfrm>
            <a:off x="4050792" y="2606040"/>
            <a:ext cx="274320" cy="457200"/>
          </a:xfrm>
          <a:prstGeom prst="rightArrow">
            <a:avLst/>
          </a:prstGeom>
          <a:solidFill>
            <a:schemeClr val="accent4"/>
          </a:solidFill>
          <a:ln/>
        </p:spPr>
      </p:sp>
      <p:sp>
        <p:nvSpPr>
          <p:cNvPr id="9" name="Stufe 2"/>
          <p:cNvSpPr/>
          <p:nvPr/>
        </p:nvSpPr>
        <p:spPr>
          <a:xfrm>
            <a:off x="4343400" y="1463040"/>
            <a:ext cx="3474720" cy="2743200"/>
          </a:xfrm>
          <a:prstGeom prst="roundRect">
            <a:avLst>
              <a:gd name="adj" fmla="val 4000"/>
            </a:avLst>
          </a:prstGeom>
          <a:solidFill>
            <a:schemeClr val="accent6"/>
          </a:solidFill>
          <a:ln/>
        </p:spPr>
      </p:sp>
      <p:sp>
        <p:nvSpPr>
          <p:cNvPr id="10" name="Stufe 2 Nummer"/>
          <p:cNvSpPr/>
          <p:nvPr/>
        </p:nvSpPr>
        <p:spPr>
          <a:xfrm>
            <a:off x="4617720" y="1691640"/>
            <a:ext cx="640080" cy="640080"/>
          </a:xfrm>
          <a:prstGeom prst="ellipse">
            <a:avLst/>
          </a:prstGeom>
          <a:solidFill>
            <a:schemeClr val="accent1"/>
          </a:solidFill>
          <a:ln/>
        </p:spPr>
      </p:sp>
      <p:sp>
        <p:nvSpPr>
          <p:cNvPr id="11" name="Text 9"/>
          <p:cNvSpPr txBox="1"/>
          <p:nvPr/>
        </p:nvSpPr>
        <p:spPr>
          <a:xfrm>
            <a:off x="4617720" y="169164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12" name="Text 10"/>
          <p:cNvSpPr txBox="1"/>
          <p:nvPr/>
        </p:nvSpPr>
        <p:spPr>
          <a:xfrm>
            <a:off x="4617720" y="2468880"/>
            <a:ext cx="2926080" cy="457200"/>
          </a:xfrm>
          <a:prstGeom prst="rect">
            <a:avLst/>
          </a:prstGeom>
          <a:noFill/>
          <a:ln/>
        </p:spPr>
        <p:txBody>
          <a:bodyPr wrap="square" lIns="0" tIns="0" rIns="0" bIns="0" rtlCol="0" anchor="ctr"/>
          <a:lstStyle/>
          <a:p>
            <a:pPr indent="0" marL="0">
              <a:buNone/>
            </a:pPr>
            <a:r>
              <a:rPr lang="en-US" sz="1900" b="1" dirty="0">
                <a:solidFill>
                  <a:schemeClr val="accent1"/>
                </a:solidFill>
              </a:rPr>
              <a:t>Fiori Elements + Erweiterung</a:t>
            </a:r>
            <a:endParaRPr lang="en-US" sz="1900" dirty="0"/>
          </a:p>
        </p:txBody>
      </p:sp>
      <p:sp>
        <p:nvSpPr>
          <p:cNvPr id="13" name="Text 11"/>
          <p:cNvSpPr txBox="1"/>
          <p:nvPr/>
        </p:nvSpPr>
        <p:spPr>
          <a:xfrm>
            <a:off x="4617720" y="2971800"/>
            <a:ext cx="2926080" cy="1097280"/>
          </a:xfrm>
          <a:prstGeom prst="rect">
            <a:avLst/>
          </a:prstGeom>
          <a:noFill/>
          <a:ln/>
        </p:spPr>
        <p:txBody>
          <a:bodyPr wrap="square" lIns="0" tIns="0" rIns="0" bIns="0" rtlCol="0" anchor="t"/>
          <a:lstStyle/>
          <a:p>
            <a:pPr indent="0" marL="0">
              <a:buNone/>
            </a:pPr>
            <a:r>
              <a:rPr lang="en-US" sz="1500" dirty="0">
                <a:solidFill>
                  <a:schemeClr val="tx1"/>
                </a:solidFill>
              </a:rPr>
              <a:t>Flexible Programming Model: eigene Abschnitte und Bausteine, wo nötig.</a:t>
            </a:r>
            <a:endParaRPr lang="en-US" sz="1500" dirty="0"/>
          </a:p>
        </p:txBody>
      </p:sp>
      <p:sp>
        <p:nvSpPr>
          <p:cNvPr id="14" name="Pfeil 2"/>
          <p:cNvSpPr/>
          <p:nvPr/>
        </p:nvSpPr>
        <p:spPr>
          <a:xfrm>
            <a:off x="7845552" y="2606040"/>
            <a:ext cx="274320" cy="457200"/>
          </a:xfrm>
          <a:prstGeom prst="rightArrow">
            <a:avLst/>
          </a:prstGeom>
          <a:solidFill>
            <a:schemeClr val="accent4"/>
          </a:solidFill>
          <a:ln/>
        </p:spPr>
      </p:sp>
      <p:sp>
        <p:nvSpPr>
          <p:cNvPr id="15" name="Stufe 3"/>
          <p:cNvSpPr/>
          <p:nvPr/>
        </p:nvSpPr>
        <p:spPr>
          <a:xfrm>
            <a:off x="8138160" y="1463040"/>
            <a:ext cx="3474720" cy="2743200"/>
          </a:xfrm>
          <a:prstGeom prst="roundRect">
            <a:avLst>
              <a:gd name="adj" fmla="val 4000"/>
            </a:avLst>
          </a:prstGeom>
          <a:solidFill>
            <a:schemeClr val="accent5"/>
          </a:solidFill>
          <a:ln/>
        </p:spPr>
      </p:sp>
      <p:sp>
        <p:nvSpPr>
          <p:cNvPr id="16" name="Stufe 3 Nummer"/>
          <p:cNvSpPr/>
          <p:nvPr/>
        </p:nvSpPr>
        <p:spPr>
          <a:xfrm>
            <a:off x="8412480" y="1691640"/>
            <a:ext cx="640080" cy="640080"/>
          </a:xfrm>
          <a:prstGeom prst="ellipse">
            <a:avLst/>
          </a:prstGeom>
          <a:solidFill>
            <a:schemeClr val="accent2"/>
          </a:solidFill>
          <a:ln/>
        </p:spPr>
      </p:sp>
      <p:sp>
        <p:nvSpPr>
          <p:cNvPr id="17" name="Text 15"/>
          <p:cNvSpPr txBox="1"/>
          <p:nvPr/>
        </p:nvSpPr>
        <p:spPr>
          <a:xfrm>
            <a:off x="8412480" y="169164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18" name="Text 16"/>
          <p:cNvSpPr txBox="1"/>
          <p:nvPr/>
        </p:nvSpPr>
        <p:spPr>
          <a:xfrm>
            <a:off x="8412480" y="2468880"/>
            <a:ext cx="2926080" cy="457200"/>
          </a:xfrm>
          <a:prstGeom prst="rect">
            <a:avLst/>
          </a:prstGeom>
          <a:noFill/>
          <a:ln/>
        </p:spPr>
        <p:txBody>
          <a:bodyPr wrap="square" lIns="0" tIns="0" rIns="0" bIns="0" rtlCol="0" anchor="ctr"/>
          <a:lstStyle/>
          <a:p>
            <a:pPr indent="0" marL="0">
              <a:buNone/>
            </a:pPr>
            <a:r>
              <a:rPr lang="en-US" sz="1900" b="1" dirty="0">
                <a:solidFill>
                  <a:schemeClr val="accent2"/>
                </a:solidFill>
              </a:rPr>
              <a:t>SAPUI5 Freestyle</a:t>
            </a:r>
            <a:endParaRPr lang="en-US" sz="1900" dirty="0"/>
          </a:p>
        </p:txBody>
      </p:sp>
      <p:sp>
        <p:nvSpPr>
          <p:cNvPr id="19" name="Text 17"/>
          <p:cNvSpPr txBox="1"/>
          <p:nvPr/>
        </p:nvSpPr>
        <p:spPr>
          <a:xfrm>
            <a:off x="8412480" y="2971800"/>
            <a:ext cx="2926080" cy="1097280"/>
          </a:xfrm>
          <a:prstGeom prst="rect">
            <a:avLst/>
          </a:prstGeom>
          <a:noFill/>
          <a:ln/>
        </p:spPr>
        <p:txBody>
          <a:bodyPr wrap="square" lIns="0" tIns="0" rIns="0" bIns="0" rtlCol="0" anchor="t"/>
          <a:lstStyle/>
          <a:p>
            <a:pPr indent="0" marL="0">
              <a:buNone/>
            </a:pPr>
            <a:r>
              <a:rPr lang="en-US" sz="1500" dirty="0">
                <a:solidFill>
                  <a:schemeClr val="tx1"/>
                </a:solidFill>
              </a:rPr>
              <a:t>nur mit Begründung, verantwortlichem Owner und Wartungsbudget.</a:t>
            </a:r>
            <a:endParaRPr lang="en-US" sz="1500" dirty="0"/>
          </a:p>
        </p:txBody>
      </p:sp>
      <p:sp>
        <p:nvSpPr>
          <p:cNvPr id="20" name="Text 18"/>
          <p:cNvSpPr txBox="1"/>
          <p:nvPr/>
        </p:nvSpPr>
        <p:spPr>
          <a:xfrm>
            <a:off x="548640" y="4526280"/>
            <a:ext cx="11064240" cy="411480"/>
          </a:xfrm>
          <a:prstGeom prst="rect">
            <a:avLst/>
          </a:prstGeom>
          <a:noFill/>
          <a:ln/>
        </p:spPr>
        <p:txBody>
          <a:bodyPr wrap="square" lIns="0" tIns="0" rIns="0" bIns="0" rtlCol="0" anchor="ctr"/>
          <a:lstStyle/>
          <a:p>
            <a:pPr indent="0" marL="0">
              <a:buNone/>
            </a:pPr>
            <a:r>
              <a:rPr lang="en-US" sz="1800" b="1" dirty="0">
                <a:solidFill>
                  <a:schemeClr val="tx1"/>
                </a:solidFill>
              </a:rPr>
              <a:t>Prüffragen vor jeder Freestyle-Entscheidung</a:t>
            </a:r>
            <a:endParaRPr lang="en-US" sz="1800" dirty="0"/>
          </a:p>
        </p:txBody>
      </p:sp>
      <p:sp>
        <p:nvSpPr>
          <p:cNvPr id="21" name="Text 19"/>
          <p:cNvSpPr txBox="1"/>
          <p:nvPr/>
        </p:nvSpPr>
        <p:spPr>
          <a:xfrm>
            <a:off x="548640" y="5029200"/>
            <a:ext cx="3474720" cy="914400"/>
          </a:xfrm>
          <a:prstGeom prst="rect">
            <a:avLst/>
          </a:prstGeom>
          <a:noFill/>
          <a:ln/>
        </p:spPr>
        <p:txBody>
          <a:bodyPr wrap="square" lIns="0" tIns="0" rIns="0" bIns="0" rtlCol="0" anchor="t"/>
          <a:lstStyle/>
          <a:p>
            <a:pPr indent="0" marL="0">
              <a:buNone/>
            </a:pPr>
            <a:r>
              <a:rPr lang="en-US" sz="1500" dirty="0">
                <a:solidFill>
                  <a:schemeClr val="tx1"/>
                </a:solidFill>
              </a:rPr>
              <a:t>Passt die Anforderung wirklich in keinen Floorplan?</a:t>
            </a:r>
            <a:endParaRPr lang="en-US" sz="1500" dirty="0"/>
          </a:p>
        </p:txBody>
      </p:sp>
      <p:sp>
        <p:nvSpPr>
          <p:cNvPr id="22" name="Text 20"/>
          <p:cNvSpPr txBox="1"/>
          <p:nvPr/>
        </p:nvSpPr>
        <p:spPr>
          <a:xfrm>
            <a:off x="4343400" y="5029200"/>
            <a:ext cx="3474720" cy="914400"/>
          </a:xfrm>
          <a:prstGeom prst="rect">
            <a:avLst/>
          </a:prstGeom>
          <a:noFill/>
          <a:ln/>
        </p:spPr>
        <p:txBody>
          <a:bodyPr wrap="square" lIns="0" tIns="0" rIns="0" bIns="0" rtlCol="0" anchor="t"/>
          <a:lstStyle/>
          <a:p>
            <a:pPr indent="0" marL="0">
              <a:buNone/>
            </a:pPr>
            <a:r>
              <a:rPr lang="en-US" sz="1500" dirty="0">
                <a:solidFill>
                  <a:schemeClr val="tx1"/>
                </a:solidFill>
              </a:rPr>
              <a:t>Wer verantwortet Updates, Tests und Upgrades?</a:t>
            </a:r>
            <a:endParaRPr lang="en-US" sz="1500" dirty="0"/>
          </a:p>
        </p:txBody>
      </p:sp>
      <p:sp>
        <p:nvSpPr>
          <p:cNvPr id="23" name="Text 21"/>
          <p:cNvSpPr txBox="1"/>
          <p:nvPr/>
        </p:nvSpPr>
        <p:spPr>
          <a:xfrm>
            <a:off x="8138160" y="5029200"/>
            <a:ext cx="3474720" cy="914400"/>
          </a:xfrm>
          <a:prstGeom prst="rect">
            <a:avLst/>
          </a:prstGeom>
          <a:noFill/>
          <a:ln/>
        </p:spPr>
        <p:txBody>
          <a:bodyPr wrap="square" lIns="0" tIns="0" rIns="0" bIns="0" rtlCol="0" anchor="t"/>
          <a:lstStyle/>
          <a:p>
            <a:pPr indent="0" marL="0">
              <a:buNone/>
            </a:pPr>
            <a:r>
              <a:rPr lang="en-US" sz="1500" dirty="0">
                <a:solidFill>
                  <a:schemeClr val="tx1"/>
                </a:solidFill>
              </a:rPr>
              <a:t>Ist der Wartungsaufwand für die nächsten Jahre eingeplant?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6766560" cy="2011680"/>
          </a:xfrm>
          <a:prstGeom prst="rect">
            <a:avLst/>
          </a:prstGeom>
          <a:noFill/>
          <a:ln/>
        </p:spPr>
        <p:txBody>
          <a:bodyPr wrap="square" lIns="0" tIns="0" rIns="0" bIns="0" rtlCol="0" anchor="b"/>
          <a:lstStyle/>
          <a:p>
            <a:pPr algn="l" indent="0" marL="0">
              <a:buNone/>
            </a:pPr>
            <a:r>
              <a:rPr lang="en-US" sz="4800" b="1" dirty="0">
                <a:solidFill>
                  <a:schemeClr val="bg1"/>
                </a:solidFill>
              </a:rPr>
              <a:t>Nicht jede Anforderung bedeutet SAPUI5</a:t>
            </a:r>
            <a:endParaRPr lang="en-US" sz="4800" dirty="0"/>
          </a:p>
        </p:txBody>
      </p:sp>
      <p:sp>
        <p:nvSpPr>
          <p:cNvPr id="3" name="Text 0"/>
          <p:cNvSpPr/>
          <p:nvPr>
            <p:ph idx="101" type="body" hasCustomPrompt="1"/>
          </p:nvPr>
        </p:nvSpPr>
        <p:spPr>
          <a:xfrm>
            <a:off x="731520" y="3977640"/>
            <a:ext cx="6766560" cy="1371600"/>
          </a:xfrm>
          <a:prstGeom prst="rect">
            <a:avLst/>
          </a:prstGeom>
          <a:noFill/>
          <a:ln/>
        </p:spPr>
        <p:txBody>
          <a:bodyPr wrap="square" lIns="0" tIns="0" rIns="0" bIns="0" rtlCol="0" anchor="t"/>
          <a:lstStyle/>
          <a:p>
            <a:pPr indent="0" marL="0">
              <a:buNone/>
            </a:pPr>
            <a:r>
              <a:rPr lang="en-US" sz="2200" dirty="0">
                <a:solidFill>
                  <a:schemeClr val="accent6"/>
                </a:solidFill>
              </a:rPr>
              <a:t>Fiori Elements ist der Standard, Freestyle die bewusste Ausnahme.</a:t>
            </a:r>
            <a:endParaRPr lang="en-US" sz="2200" dirty="0"/>
          </a:p>
        </p:txBody>
      </p:sp>
      <p:sp>
        <p:nvSpPr>
          <p:cNvPr id="4" name="Text 2"/>
          <p:cNvSpPr txBox="1"/>
          <p:nvPr/>
        </p:nvSpPr>
        <p:spPr>
          <a:xfrm>
            <a:off x="8138160" y="1554480"/>
            <a:ext cx="3474720" cy="457200"/>
          </a:xfrm>
          <a:prstGeom prst="rect">
            <a:avLst/>
          </a:prstGeom>
          <a:noFill/>
          <a:ln/>
        </p:spPr>
        <p:txBody>
          <a:bodyPr wrap="square" lIns="0" tIns="0" rIns="0" bIns="0" rtlCol="0" anchor="ctr"/>
          <a:lstStyle/>
          <a:p>
            <a:pPr indent="0" marL="0">
              <a:buNone/>
            </a:pPr>
            <a:r>
              <a:rPr lang="en-US" sz="2000" b="1" dirty="0">
                <a:solidFill>
                  <a:schemeClr val="bg1"/>
                </a:solidFill>
              </a:rPr>
              <a:t>Nächste Schritte</a:t>
            </a:r>
            <a:endParaRPr lang="en-US" sz="2000" dirty="0"/>
          </a:p>
        </p:txBody>
      </p:sp>
      <p:sp>
        <p:nvSpPr>
          <p:cNvPr id="5" name="Schritt 1"/>
          <p:cNvSpPr/>
          <p:nvPr/>
        </p:nvSpPr>
        <p:spPr>
          <a:xfrm>
            <a:off x="8138160" y="2194560"/>
            <a:ext cx="502920" cy="502920"/>
          </a:xfrm>
          <a:prstGeom prst="ellipse">
            <a:avLst/>
          </a:prstGeom>
          <a:solidFill>
            <a:schemeClr val="accent1"/>
          </a:solidFill>
          <a:ln/>
        </p:spPr>
      </p:sp>
      <p:sp>
        <p:nvSpPr>
          <p:cNvPr id="6" name="Text 4"/>
          <p:cNvSpPr txBox="1"/>
          <p:nvPr/>
        </p:nvSpPr>
        <p:spPr>
          <a:xfrm>
            <a:off x="8138160" y="21945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5"/>
          <p:cNvSpPr txBox="1"/>
          <p:nvPr/>
        </p:nvSpPr>
        <p:spPr>
          <a:xfrm>
            <a:off x="8823960" y="2148840"/>
            <a:ext cx="2834640" cy="685800"/>
          </a:xfrm>
          <a:prstGeom prst="rect">
            <a:avLst/>
          </a:prstGeom>
          <a:noFill/>
          <a:ln/>
        </p:spPr>
        <p:txBody>
          <a:bodyPr wrap="square" lIns="0" tIns="0" rIns="0" bIns="0" rtlCol="0" anchor="ctr"/>
          <a:lstStyle/>
          <a:p>
            <a:pPr indent="0" marL="0">
              <a:buNone/>
            </a:pPr>
            <a:r>
              <a:rPr lang="en-US" sz="1500" dirty="0">
                <a:solidFill>
                  <a:schemeClr val="bg1"/>
                </a:solidFill>
              </a:rPr>
              <a:t>Fiori Elements + RAP als Standard festlegen</a:t>
            </a:r>
            <a:endParaRPr lang="en-US" sz="1500" dirty="0"/>
          </a:p>
        </p:txBody>
      </p:sp>
      <p:sp>
        <p:nvSpPr>
          <p:cNvPr id="8" name="Schritt 2"/>
          <p:cNvSpPr/>
          <p:nvPr/>
        </p:nvSpPr>
        <p:spPr>
          <a:xfrm>
            <a:off x="8138160" y="3108960"/>
            <a:ext cx="502920" cy="502920"/>
          </a:xfrm>
          <a:prstGeom prst="ellipse">
            <a:avLst/>
          </a:prstGeom>
          <a:solidFill>
            <a:schemeClr val="accent2"/>
          </a:solidFill>
          <a:ln/>
        </p:spPr>
      </p:sp>
      <p:sp>
        <p:nvSpPr>
          <p:cNvPr id="9" name="Text 7"/>
          <p:cNvSpPr txBox="1"/>
          <p:nvPr/>
        </p:nvSpPr>
        <p:spPr>
          <a:xfrm>
            <a:off x="8138160" y="31089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Text 8"/>
          <p:cNvSpPr txBox="1"/>
          <p:nvPr/>
        </p:nvSpPr>
        <p:spPr>
          <a:xfrm>
            <a:off x="8823960" y="3063240"/>
            <a:ext cx="2834640" cy="685800"/>
          </a:xfrm>
          <a:prstGeom prst="rect">
            <a:avLst/>
          </a:prstGeom>
          <a:noFill/>
          <a:ln/>
        </p:spPr>
        <p:txBody>
          <a:bodyPr wrap="square" lIns="0" tIns="0" rIns="0" bIns="0" rtlCol="0" anchor="ctr"/>
          <a:lstStyle/>
          <a:p>
            <a:pPr indent="0" marL="0">
              <a:buNone/>
            </a:pPr>
            <a:r>
              <a:rPr lang="en-US" sz="1500" dirty="0">
                <a:solidFill>
                  <a:schemeClr val="bg1"/>
                </a:solidFill>
              </a:rPr>
              <a:t>Freestyle nur nach kurzem Architektur-Check</a:t>
            </a:r>
            <a:endParaRPr lang="en-US" sz="1500" dirty="0"/>
          </a:p>
        </p:txBody>
      </p:sp>
      <p:sp>
        <p:nvSpPr>
          <p:cNvPr id="11" name="Schritt 3"/>
          <p:cNvSpPr/>
          <p:nvPr/>
        </p:nvSpPr>
        <p:spPr>
          <a:xfrm>
            <a:off x="8138160" y="4023360"/>
            <a:ext cx="502920" cy="502920"/>
          </a:xfrm>
          <a:prstGeom prst="ellipse">
            <a:avLst/>
          </a:prstGeom>
          <a:solidFill>
            <a:schemeClr val="accent2"/>
          </a:solidFill>
          <a:ln/>
        </p:spPr>
      </p:sp>
      <p:sp>
        <p:nvSpPr>
          <p:cNvPr id="12" name="Text 10"/>
          <p:cNvSpPr txBox="1"/>
          <p:nvPr/>
        </p:nvSpPr>
        <p:spPr>
          <a:xfrm>
            <a:off x="8138160" y="40233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Text 11"/>
          <p:cNvSpPr txBox="1"/>
          <p:nvPr/>
        </p:nvSpPr>
        <p:spPr>
          <a:xfrm>
            <a:off x="8823960" y="3977640"/>
            <a:ext cx="2834640" cy="685800"/>
          </a:xfrm>
          <a:prstGeom prst="rect">
            <a:avLst/>
          </a:prstGeom>
          <a:noFill/>
          <a:ln/>
        </p:spPr>
        <p:txBody>
          <a:bodyPr wrap="square" lIns="0" tIns="0" rIns="0" bIns="0" rtlCol="0" anchor="ctr"/>
          <a:lstStyle/>
          <a:p>
            <a:pPr indent="0" marL="0">
              <a:buNone/>
            </a:pPr>
            <a:r>
              <a:rPr lang="en-US" sz="1500" dirty="0">
                <a:solidFill>
                  <a:schemeClr val="bg1"/>
                </a:solidFill>
              </a:rPr>
              <a:t>Wartungsbudget je Freestyle-App einplanen</a:t>
            </a:r>
            <a:endParaRPr lang="en-US" sz="1500" dirty="0"/>
          </a:p>
        </p:txBody>
      </p:sp>
      <p:sp>
        <p:nvSpPr>
          <p:cNvPr id="14" name="Schritt 4"/>
          <p:cNvSpPr/>
          <p:nvPr/>
        </p:nvSpPr>
        <p:spPr>
          <a:xfrm>
            <a:off x="8138160" y="4937760"/>
            <a:ext cx="502920" cy="502920"/>
          </a:xfrm>
          <a:prstGeom prst="ellipse">
            <a:avLst/>
          </a:prstGeom>
          <a:solidFill>
            <a:schemeClr val="accent1"/>
          </a:solidFill>
          <a:ln/>
        </p:spPr>
      </p:sp>
      <p:sp>
        <p:nvSpPr>
          <p:cNvPr id="15" name="Text 13"/>
          <p:cNvSpPr txBox="1"/>
          <p:nvPr/>
        </p:nvSpPr>
        <p:spPr>
          <a:xfrm>
            <a:off x="8138160" y="49377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6" name="Text 14"/>
          <p:cNvSpPr txBox="1"/>
          <p:nvPr/>
        </p:nvSpPr>
        <p:spPr>
          <a:xfrm>
            <a:off x="8823960" y="4892040"/>
            <a:ext cx="2834640" cy="685800"/>
          </a:xfrm>
          <a:prstGeom prst="rect">
            <a:avLst/>
          </a:prstGeom>
          <a:noFill/>
          <a:ln/>
        </p:spPr>
        <p:txBody>
          <a:bodyPr wrap="square" lIns="0" tIns="0" rIns="0" bIns="0" rtlCol="0" anchor="ctr"/>
          <a:lstStyle/>
          <a:p>
            <a:pPr indent="0" marL="0">
              <a:buNone/>
            </a:pPr>
            <a:r>
              <a:rPr lang="en-US" sz="1500" dirty="0">
                <a:solidFill>
                  <a:schemeClr val="bg1"/>
                </a:solidFill>
              </a:rPr>
              <a:t>Know-how in RAP &amp; Annotationen aufbauen</a:t>
            </a:r>
            <a:endParaRPr lang="en-US" sz="1500" dirty="0"/>
          </a:p>
        </p:txBody>
      </p:sp>
    </p:spTree>
  </p:cSld>
  <p:clrMapOvr>
    <a:masterClrMapping/>
  </p:clrMapOvr>
</p:sld>
</file>

<file path=ppt/theme/theme1.xml><?xml version="1.0" encoding="utf-8"?>
<a:theme xmlns:a="http://schemas.openxmlformats.org/drawingml/2006/main" name="Fiori Klartext">
  <a:themeElements>
    <a:clrScheme name="Fiori Klartext">
      <a:dk1>
        <a:srgbClr val="1B2B34"/>
      </a:dk1>
      <a:lt1>
        <a:srgbClr val="FFFFFF"/>
      </a:lt1>
      <a:dk2>
        <a:srgbClr val="0B3C49"/>
      </a:dk2>
      <a:lt2>
        <a:srgbClr val="EEF4F5"/>
      </a:lt2>
      <a:accent1>
        <a:srgbClr val="1F8A70"/>
      </a:accent1>
      <a:accent2>
        <a:srgbClr val="D9661F"/>
      </a:accent2>
      <a:accent3>
        <a:srgbClr val="0B3C49"/>
      </a:accent3>
      <a:accent4>
        <a:srgbClr val="5E727B"/>
      </a:accent4>
      <a:accent5>
        <a:srgbClr val="FBEBDD"/>
      </a:accent5>
      <a:accent6>
        <a:srgbClr val="DDF0EA"/>
      </a:accent6>
      <a:hlink>
        <a:srgbClr val="1F8A70"/>
      </a:hlink>
      <a:folHlink>
        <a:srgbClr val="5E727B"/>
      </a:folHlink>
    </a:clrScheme>
    <a:fontScheme name="Fiori Klartex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Fiori ist nicht gleich Fiori</dc:title>
  <dc:subject>PptxGenJS Presentation</dc:subject>
  <dc:creator>PptxGenJS</dc:creator>
  <cp:lastModifiedBy>PptxGenJS</cp:lastModifiedBy>
  <cp:revision>1</cp:revision>
  <dcterms:created xsi:type="dcterms:W3CDTF">2026-10-15T21:17:46Z</dcterms:created>
  <dcterms:modified xsi:type="dcterms:W3CDTF">2026-10-15T21:17:46Z</dcterms:modified>
</cp:coreProperties>
</file>