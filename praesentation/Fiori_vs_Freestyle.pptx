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6035d874-c025-2222-1639-0eb330a541c8}">
          <p14:sldIdLst>
            <p14:sldId id="256"/>
            <p14:sldId id="257"/>
            <p14:sldId id="258"/>
          </p14:sldIdLst>
        </p14:section>
        <p14:section name="Einordnung" id="{834af46a-5fae-e54b-945c-7a57d8d6de3c}">
          <p14:sldIdLst>
            <p14:sldId id="259"/>
          </p14:sldIdLst>
        </p14:section>
        <p14:section name="Demo" id="{db3df99d-91df-0e3a-4c8d-532f4f1028f5}">
          <p14:sldIdLst>
            <p14:sldId id="260"/>
            <p14:sldId id="261"/>
            <p14:sldId id="262"/>
            <p14:sldId id="263"/>
          </p14:sldIdLst>
        </p14:section>
        <p14:section name="Bewertung" id="{c6890580-fee5-8822-9802-05ea8a08b159}">
          <p14:sldIdLst>
            <p14:sldId id="264"/>
            <p14:sldId id="265"/>
            <p14:sldId id="266"/>
          </p14:sldIdLst>
        </p14:section>
        <p14:section name="Shopfloor" id="{bcd83242-82a0-ea1a-633e-da3d1512476a}">
          <p14:sldIdLst>
            <p14:sldId id="267"/>
            <p14:sldId id="268"/>
            <p14:sldId id="269"/>
            <p14:sldId id="270"/>
          </p14:sldIdLst>
        </p14:section>
        <p14:section name="Kombination" id="{f79b7383-a626-08bb-8bb3-d396ccf7d7c7}">
          <p14:sldIdLst>
            <p14:sldId id="271"/>
            <p14:sldId id="272"/>
            <p14:sldId id="273"/>
            <p14:sldId id="274"/>
          </p14:sldIdLst>
        </p14:section>
        <p14:section name="Fazit" id="{c5103ea9-867a-97e3-1d0b-4990eba44b52}">
          <p14:sldIdLst>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B34"/>
                </a:solidFill>
                <a:latin typeface="+mn-lt"/>
              </a:defRPr>
            </a:pPr>
            <a:r>
              <a:rPr sz="1400" b="0" i="0" u="none" strike="noStrike">
                <a:solidFill>
                  <a:srgbClr val="1B2B34"/>
                </a:solidFill>
                <a:latin typeface="+mn-lt"/>
              </a:rPr>
              <a:t>Codezeilen nach Art</a:t>
            </a:r>
          </a:p>
        </c:rich>
      </c:tx>
      <c:layout/>
      <c:overlay val="0"/>
    </c:title>
    <c:autoTitleDeleted val="0"/>
    <c:plotArea>
      <c:layout/>
      <c:barChart>
        <c:barDir val="bar"/>
        <c:grouping val="clustered"/>
        <c:varyColors val="0"/>
        <c:ser>
          <c:idx val="0"/>
          <c:order val="0"/>
          <c:tx>
            <c:strRef>
              <c:f>Sheet1!$B$1</c:f>
              <c:strCache>
                <c:ptCount val="1"/>
                <c:pt idx="0">
                  <c:v>Fiori Elements</c:v>
                </c:pt>
              </c:strCache>
            </c:strRef>
          </c:tx>
          <c:spPr>
            <a:solidFill>
              <a:srgbClr val="1F8A70"/>
            </a:solidFill>
            <a:effectLst/>
          </c:spPr>
          <c:invertIfNegative val="0"/>
          <c:dLbls>
            <c:numFmt formatCode="#,##0" sourceLinked="0"/>
            <c:txPr>
              <a:bodyPr/>
              <a:lstStyle/>
              <a:p>
                <a:pPr>
                  <a:defRPr b="0" i="0" strike="noStrike" sz="1100" u="none">
                    <a:solidFill>
                      <a:srgbClr val="1B2B34"/>
                    </a:solidFill>
                    <a:latin typeface="+mn-lt"/>
                  </a:defRPr>
                </a:pPr>
              </a:p>
            </c:txPr>
            <c:showLegendKey val="0"/>
            <c:showVal val="1"/>
            <c:showCatName val="0"/>
            <c:showSerName val="0"/>
            <c:showPercent val="0"/>
            <c:showBubbleSize val="0"/>
            <c:showLeaderLines val="0"/>
          </c:dLbls>
          <c:cat>
            <c:multiLvlStrRef>
              <c:f>Sheet1!$A$2:$A$6</c:f>
              <c:multiLvlStrCache>
                <c:ptCount val="5"/>
                <c:lvl>
                  <c:pt idx="0">
                    <c:v>Annotationen</c:v>
                  </c:pt>
                  <c:pt idx="1">
                    <c:v>XML-Views</c:v>
                  </c:pt>
                  <c:pt idx="2">
                    <c:v>JavaScript</c:v>
                  </c:pt>
                  <c:pt idx="3">
                    <c:v>manifest.json</c:v>
                  </c:pt>
                  <c:pt idx="4">
                    <c:v>i18n-Texte</c:v>
                  </c:pt>
                </c:lvl>
              </c:multiLvlStrCache>
            </c:multiLvlStrRef>
          </c:cat>
          <c:val>
            <c:numRef>
              <c:f>Sheet1!$B$2:$B$6</c:f>
              <c:numCache>
                <c:formatCode>General</c:formatCode>
                <c:ptCount val="5"/>
                <c:pt idx="0">
                  <c:v>235</c:v>
                </c:pt>
                <c:pt idx="1">
                  <c:v>0</c:v>
                </c:pt>
                <c:pt idx="2">
                  <c:v>8</c:v>
                </c:pt>
                <c:pt idx="3">
                  <c:v>107</c:v>
                </c:pt>
                <c:pt idx="4">
                  <c:v>2</c:v>
                </c:pt>
              </c:numCache>
            </c:numRef>
          </c:val>
        </c:ser>
        <c:ser>
          <c:idx val="1"/>
          <c:order val="1"/>
          <c:tx>
            <c:strRef>
              <c:f>Sheet1!$C$1</c:f>
              <c:strCache>
                <c:ptCount val="1"/>
                <c:pt idx="0">
                  <c:v>Freestyle</c:v>
                </c:pt>
              </c:strCache>
            </c:strRef>
          </c:tx>
          <c:spPr>
            <a:solidFill>
              <a:srgbClr val="D9661F"/>
            </a:solidFill>
            <a:effectLst/>
          </c:spPr>
          <c:invertIfNegative val="0"/>
          <c:dLbls>
            <c:numFmt formatCode="#,##0" sourceLinked="0"/>
            <c:txPr>
              <a:bodyPr/>
              <a:lstStyle/>
              <a:p>
                <a:pPr>
                  <a:defRPr b="0" i="0" strike="noStrike" sz="1100" u="none">
                    <a:solidFill>
                      <a:srgbClr val="1B2B34"/>
                    </a:solidFill>
                    <a:latin typeface="+mn-lt"/>
                  </a:defRPr>
                </a:pPr>
              </a:p>
            </c:txPr>
            <c:showLegendKey val="0"/>
            <c:showVal val="1"/>
            <c:showCatName val="0"/>
            <c:showSerName val="0"/>
            <c:showPercent val="0"/>
            <c:showBubbleSize val="0"/>
            <c:showLeaderLines val="0"/>
          </c:dLbls>
          <c:cat>
            <c:multiLvlStrRef>
              <c:f>Sheet1!$A$2:$A$6</c:f>
              <c:multiLvlStrCache>
                <c:ptCount val="5"/>
                <c:lvl>
                  <c:pt idx="0">
                    <c:v>Annotationen</c:v>
                  </c:pt>
                  <c:pt idx="1">
                    <c:v>XML-Views</c:v>
                  </c:pt>
                  <c:pt idx="2">
                    <c:v>JavaScript</c:v>
                  </c:pt>
                  <c:pt idx="3">
                    <c:v>manifest.json</c:v>
                  </c:pt>
                  <c:pt idx="4">
                    <c:v>i18n-Texte</c:v>
                  </c:pt>
                </c:lvl>
              </c:multiLvlStrCache>
            </c:multiLvlStrRef>
          </c:cat>
          <c:val>
            <c:numRef>
              <c:f>Sheet1!$C$2:$C$6</c:f>
              <c:numCache>
                <c:formatCode>General</c:formatCode>
                <c:ptCount val="5"/>
                <c:pt idx="0">
                  <c:v>0</c:v>
                </c:pt>
                <c:pt idx="1">
                  <c:v>259</c:v>
                </c:pt>
                <c:pt idx="2">
                  <c:v>246</c:v>
                </c:pt>
                <c:pt idx="3">
                  <c:v>85</c:v>
                </c:pt>
                <c:pt idx="4">
                  <c:v>39</c:v>
                </c:pt>
              </c:numCache>
            </c:numRef>
          </c:val>
        </c:ser>
        <c:dLbls>
          <c:numFmt formatCode="#,##0" sourceLinked="0"/>
          <c:txPr>
            <a:bodyPr/>
            <a:lstStyle/>
            <a:p>
              <a:pPr>
                <a:defRPr b="0" i="0" strike="noStrike" sz="1100" u="none">
                  <a:solidFill>
                    <a:srgbClr val="1B2B3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E727B"/>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2B3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Einstieg: In vielen Gesprächen heißt es aktuell 'wir bauen das in Fiori' oder 'das wird eine SAPUI5-App'. Für Anwender sieht alles gleich aus, im Horizon-Design, mit Filterleiste und Tabelle. Technisch sind das aber drei sehr unterschiedliche Dinge mit sehr unterschiedlichem Aufwand. Heute zeige ich das an einer konkreten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Drei Botschaften: 1) Das Aussehen sagt nichts über den Aufwand. 2) Eine Freestyle-App ist eigene Software, für die wir den kompletten Lebenszyklus tragen. 3) Es geht nicht um Entweder-oder: Am Ende werden unsere Anwendungen Kombinationen sein – Fiori Elements, wo der Standard trägt, Freestyle gezielt dort, wo ein Ablauf es wirklich braucht.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 ist wichtig, das gleich am Anfang klarzustellen: Ich will hier nichts verkaufen und auch keine Technologie durchsetzen. Ich bin weder Gegner noch Verfechter, ich mag SAPUI5 sogar sehr. Mir geht es um Bewusstsein: dass wir als Unternehmen wissen, was geht und was nicht, und Angebote – auch von Externen – selbst einordnen können. Ein Beispiel zur Größenordnung: Wenn etwas als Freestyle 5 Personentage kostet und mit Fiori Elements in einem Tag erledigt wäre, ist das schon bei der Erstellung ein Unterschied. Der größere Teil kommt aber danach: Jeder Change Request, jedes Upgrade und die Paketpflege kosten bei Freestyle jedes Jahr wieder. Die Zahlen sind ein Beispiel, keine Messung.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drei Varianten: Bei Fiori Elements liefert SAP die komplette Oberflächenlogik, wir beschreiben nur per Annotation, was angezeigt wird. Bei RAP liegen diese Annotationen direkt im ABAP-Backend in CDS, die UI-Schicht ist praktisch leer – das ist der Weg, den SAP für S/4 empfiehlt. Bei Freestyle liefert SAP nur die Bausteine, also Buttons, Tabellen, Eingabefelder. Alles dazwischen bauen und warten wir selbst.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jetzt live die beiden Apps zeigen (beide laufen lokal). Gleiche Daten aus dem öffentlichen Northwind-OData-Service, gleiche Anforderung. Frage ans Publikum: Welche ist welche? – Man sieht es praktisch nicht. Dann zeigen, was Fiori Elements zusätzlich kann: Varianten speichern, Spalten anpassen, 'Filter anpassen'.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Gemessen mit einem Skript im Demo-Repo (compare.mjs), Leerzeilen und Kommentare nicht mitgezählt. Wichtig ist nicht die Gesamtzahl der Zeilen, sondern die Art: 235 Zeilen Annotationen bei Fiori Elements sind reine Beschreibung. Bei Freestyle sind es rund 500 Zeilen Views und JavaScript mit Event-Handlern, Filterlogik und Navigation – das ist Programmcode, den wir testen und bei jedem Upgrade prüfen müssen. Und das bei weniger Funktionsumfang, wie die nächste Folie zeigt. Mit RAP wären die Annotationen im Backend und deutlich kompakter.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der Punkt, der oft übersehen wird: Die Freestyle-App hat schon mehr Code und kann trotzdem weniger. Varianten, Personalisierung, Filter anpassen – all das bekommt Fiori Elements geschenkt. In Freestyle wären das jeweils eigene Entwicklungen, mit eigenem Test- und Wartungsaufwand.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zeigen, wenn Zeit ist: Bei Fiori Elements ergänze ich die Region an drei Stellen in einer Datei, alles andere passiert automatisch. Bei Freestyle muss ich fünf Dateien an acht Stellen anfassen – und danach alles manuell testen, weil jede Stelle eine eigene Fehlerquelle ist. Das ist eine Mini-Änderung. Hochgerechnet auf den Lebenszyklus einer App mit vielen Change Requests wird der Unterschied erheblich.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der Kern meiner Botschaft: Mit Freestyle übernehmen wir die volle Verantwortung für eine eigene Frontend-Software. Paketmanagement: Jede App bringt ihre eigenen npm-Abhängigkeiten mit, die regelmäßig aktualisiert werden müssen, auch wegen Sicherheitslücken. Upgrades: SAP entfernt veraltete APIs, das betrifft unseren Code direkt. Bei Fiori Elements migriert SAP die Templates. Dazu kommen Tests, Know-how und Barrierefreiheit. Das ist ein Dauerauftrag, kein Einmalaufwand.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Früher war eine Oberfläche ein Objekt im System, transportiert und mit dem System aktualisiert. Fiori Elements mit RAP kommt diesem Modell am nächsten: Die Logik liegt wieder im Backend, SAP pflegt die Oberfläche. Freestyle dagegen ist klassische Webentwicklung mit eigenem Lebenszyklus neben dem SAP-System.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Ich will Freestyle nicht schlechtreden: Es gibt Anforderungen, für die es genau richtig ist, etwa Planungstafeln oder sehr spezielle Abläufe. Und Fiori Elements hat Grenzen, man muss Annotationen und RAP lernen, und Sonderwünsche gehen nur über das Flexible Programming Model. Aber: Diese Grenzen sind meist kleiner als gedacht, und die Wartungslast von Freestyle ist meist größer als gedacht.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Kollegen aus Lager und Produktion haben recht: Dort zählt jeder Klick, multipliziert mit hunderten Buchungen pro Tag und Schicht. Große Flächen, sichtbare Buttons, wenige Schritte, Scanner. Bei uns konkret: Handhelds mit eingebautem Scanner. Das ist der häufigste Grund, warum Freestyle gefordert wird. Ich will das ernst nehmen und zeigen, wo der Standard das schon abdeckt und wo die echten technischen Grenzen liegen.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Vieles, was als Grund für Freestyle genannt wird, kann Fiori Elements bereits: Der Cozy-Modus ist genau für Touch gedacht. Aktionen lassen sich fest in die Fußleiste oder direkt in die Tabellenzeile legen, dann ist es ein Klick. Parameter können vorbelegt werden. Unsere Handhelds mit eingebautem Scanner verhalten sich wie eine Tastatur: Der gescannte Code landet im aktiven Eingabefeld – das funktioniert in Fiori Elements genauso wie in Freestyle. Für den Scan per Handy- oder Tablet-Kamera gibt es in SAPUI5 einen fertigen Baustein (BarcodeScannerButton); in Fiori Elements ist er nicht eingebaut, wird aber als kleine Erweiterung ergänzt. Und das Aussehen steuern wir zentral über ein Firmen-Theme statt über CSS in jeder einzelnen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Ehrlich gesagt: Fiori Elements hat hier echte Grenzen. Gerade auf den kleinen Displays unserer Handhelds wirken Filterleiste und Tabellen schnell überladen – Fiori Elements ist primär für PC und Tablet gedacht. Das Layout folgt festen Floorplans, man kann einen großen grünen Button nicht frei in die Mitte setzen, und eigenes CSS ist nicht vorgesehen. Für Kamera-Scan oder einen echten Scan-Schnellablauf brauchen wir eine Erweiterung. Wichtig für beide Varianten: Der Browser gibt die Kamera nur über HTTPS frei, und bei vielen Scans pro Schicht ist ein Handscanner klar schneller als die Handy-Kamera. Aber auch Freestyle hat Grenzen, die oft übersehen werden: Wer UI5-Controls per CSS umgestaltet, greift in interne Klassen und Strukturen ein. Die sind kein offizielles API, SAP kann sie mit jedem Release ändern – und dann sieht die App nach dem Upgrade plötzlich anders aus oder ist kaputt. Offline können beide nicht ohne Weiteres; dafür gibt es eigene SAP-Lösungen wie das Mobile Development Kit, die man dann separat bewerten müsste.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Daraus ergibt sich eine pragmatische Entscheidungshilfe: Übersichten und Disposition am PC – klar Fiori Elements. Bestätigen am Tablet – Fiori Elements im Touch-Modus mit Aktion direkt in der Zeile. Wenn ein Spezialteil nötig ist, erweitern wir Fiori Elements gezielt. Für den Scan-Ablauf am Handheld, der hunderte Male pro Schicht läuft, ist eine schlanke Freestyle-App gerechtfertigt – aber genau für diesen einen Ablauf, nicht als Nachbau einer kompletten Anwendung. Offline ist ein eigenes Thema und braucht eine eigene Bewertung.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das Bild, um das es mir eigentlich geht: Eine Warehouse-Anwendung besteht nicht aus einer Technologie. Die Lagerleitung arbeitet am PC mit Übersichten – das ist klassisches Fiori-Elements-Terrain, ohne eigenen UI-Code. Klärfälle laufen über eine Detailseite, ebenfalls Fiori Elements. Der Mitarbeiter in der Halle arbeitet am Handheld mit Scanner – hier bauen wir eine schlanke Freestyle-App für genau diesen einen Ablauf. Entscheidend ist die untere Ebene: Die Geschäftslogik liegt einmal im Backend. Die Freestyle-App ist nur eine dünne Oberfläche und ruft dieselben Aktionen auf wie Fiori Elements. Vorher immer prüfen: Gibt es für den Ablauf schon eine SAP-Standard-App?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gleiche Muster in der Produktion: Meister und Planung brauchen Übersichten und Details – Fiori Elements. Der Werker an der Linie braucht wenige, große Buttons und Scan – dort ist eine schlanke Freestyle-Oberfläche gerechtfertigt. Auch hier: Die Rückmeldelogik liegt im Backend, nicht im JavaScript. Damit bleibt der Freestyle-Teil klein und damit wartbar.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die Antwort auf die Frage, ob man für die Kombination zwischen Apps hin und her springen muss: nein. Über das Flexible Programming Model kann eine Fiori-Elements-App eigene Freestyle-Seiten enthalten. In der Demo – jetzt live zeigen: Liste und Detail sind Fiori Elements, ein Button 'Scan-Modus' führt auf eine eigene Freestyle-Seite in derselben App. Dort scannt der Handheld die Bestellnummer, der Fokus springt automatisch zurück ins Feld. Die Positionen-Tabelle ist sogar ein Fiori-Elements-Baustein aus derselben Annotation. Der eigene Code liegt bei 85 Zeilen statt 246. Transparent dazu: Der Freestyle-Teil bleibt eigener Code, und die ganze App hängt an einer UI5-Version. Die Scan-Seite kann direkt per eigener Kachel gestartet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 mögliches Vorgehen, keine Vorschrift: Erstens prüfen, ob SAP den Ablauf schon im Standard abdeckt. Zweitens das Backend zuerst bauen, als RAP-Business-Objekt mit allen Prüfungen und Aktionen – das ist die Basis für jede Oberfläche. Drittens die Büro-Abläufe mit Fiori Elements, das geht schnell und ohne eigenen UI-Code. Viertens Freestyle gezielt für den einen Ablauf, der es braucht – dünn, ohne eigene Geschäftslogik und gern als eigene Seite in derselben App. Unten steht, was die Freestyle-Teile langfristig wartbar hält.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als Orientierung gemeint, nicht als Regelwerk – und zwar pro Ablauf, nicht pro Anwendung: Trägt Fiori Elements mit RAP? Reicht eine Erweiterung? Und wo ein Ablauf es wirklich braucht, etwa der Scan am Handheld, ist Freestyle die richtige Wahl – dann aber bewusst, mit eingeplanter Wartung. Die drei Fragen unten helfen, das in jeder Anforderungsklärung kurz zu reflektieren.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Ich möchte heute nichts entscheiden lassen. Mir geht es darum, dass wir dasselbe Bild haben. Gleiches Aussehen heißt nicht gleicher Aufwand. Nicht alles ist SAPUI5, nicht alles ist Fiori Elements – unsere Anwendungen werden Kombinationen sein. Und wenn uns jemand – intern oder extern – eine Lösung anbietet, sollten wir einfach nachfragen können: Warum diese Technik, und was bedeutet das für die Wartung? Ich freue mich auf eure Fragen und Erfahrungen.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UNKEL">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766560" cy="201168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977640"/>
            <a:ext cx="6766560" cy="1371600"/>
          </a:xfrm>
          <a:prstGeom prst="rect">
            <a:avLst/>
          </a:prstGeom>
          <a:noFill/>
          <a:ln/>
        </p:spPr>
        <p:txBody>
          <a:bodyPr wrap="square" rtlCol="0"/>
          <a:lstStyle>
            <a:lvl1pPr indent="0" marL="0">
              <a:buNone/>
              <a:defRPr lang="en-US" sz="2200" dirty="0">
                <a:solidFill>
                  <a:schemeClr val="accent6"/>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Fiori Elements vs. SAPUI5 Freestyle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766560" cy="2011680"/>
          </a:xfrm>
          <a:prstGeom prst="rect">
            <a:avLst/>
          </a:prstGeom>
          <a:noFill/>
          <a:ln/>
        </p:spPr>
        <p:txBody>
          <a:bodyPr wrap="square" lIns="0" tIns="0" rIns="0" bIns="0" rtlCol="0" anchor="b"/>
          <a:lstStyle/>
          <a:p>
            <a:pPr algn="l" indent="0" marL="0">
              <a:buNone/>
            </a:pPr>
            <a:r>
              <a:rPr lang="en-US" sz="4800" b="1" dirty="0">
                <a:solidFill>
                  <a:schemeClr val="bg1"/>
                </a:solidFill>
              </a:rPr>
              <a:t>Fiori ist nicht gleich Fiori</a:t>
            </a:r>
            <a:endParaRPr lang="en-US" sz="4800" dirty="0"/>
          </a:p>
        </p:txBody>
      </p:sp>
      <p:sp>
        <p:nvSpPr>
          <p:cNvPr id="3" name="Text 0"/>
          <p:cNvSpPr/>
          <p:nvPr>
            <p:ph idx="101" type="body" hasCustomPrompt="1"/>
          </p:nvPr>
        </p:nvSpPr>
        <p:spPr>
          <a:xfrm>
            <a:off x="731520" y="3977640"/>
            <a:ext cx="6766560" cy="1371600"/>
          </a:xfrm>
          <a:prstGeom prst="rect">
            <a:avLst/>
          </a:prstGeom>
          <a:noFill/>
          <a:ln/>
        </p:spPr>
        <p:txBody>
          <a:bodyPr wrap="square" lIns="0" tIns="0" rIns="0" bIns="0" rtlCol="0" anchor="t"/>
          <a:lstStyle/>
          <a:p>
            <a:pPr indent="0" marL="0">
              <a:buNone/>
            </a:pPr>
            <a:r>
              <a:rPr lang="en-US" sz="2200" dirty="0">
                <a:solidFill>
                  <a:schemeClr val="accent6"/>
                </a:solidFill>
              </a:rPr>
              <a:t>Warum nicht jede Anforderung SAPUI5 Freestyle bedeutet</a:t>
            </a:r>
            <a:endParaRPr lang="en-US" sz="2200" dirty="0"/>
          </a:p>
        </p:txBody>
      </p:sp>
      <p:sp>
        <p:nvSpPr>
          <p:cNvPr id="4" name="Variante 1"/>
          <p:cNvSpPr/>
          <p:nvPr/>
        </p:nvSpPr>
        <p:spPr>
          <a:xfrm>
            <a:off x="8138160" y="1828800"/>
            <a:ext cx="3474720" cy="960120"/>
          </a:xfrm>
          <a:prstGeom prst="roundRect">
            <a:avLst>
              <a:gd name="adj" fmla="val 11429"/>
            </a:avLst>
          </a:prstGeom>
          <a:solidFill>
            <a:schemeClr val="accent1"/>
          </a:solidFill>
          <a:ln/>
        </p:spPr>
      </p:sp>
      <p:sp>
        <p:nvSpPr>
          <p:cNvPr id="5" name="Variante 1 Text"/>
          <p:cNvSpPr txBox="1"/>
          <p:nvPr/>
        </p:nvSpPr>
        <p:spPr>
          <a:xfrm>
            <a:off x="8321040" y="1828800"/>
            <a:ext cx="3108960" cy="960120"/>
          </a:xfrm>
          <a:prstGeom prst="rect">
            <a:avLst/>
          </a:prstGeom>
          <a:noFill/>
          <a:ln/>
        </p:spPr>
        <p:txBody>
          <a:bodyPr wrap="square" lIns="0" tIns="0" rIns="0" bIns="0" rtlCol="0" anchor="ctr"/>
          <a:lstStyle/>
          <a:p>
            <a:pPr indent="0" marL="0">
              <a:buNone/>
            </a:pPr>
            <a:r>
              <a:rPr lang="en-US" sz="1800" b="1" dirty="0">
                <a:solidFill>
                  <a:schemeClr val="bg1"/>
                </a:solidFill>
              </a:rPr>
              <a:t>Fiori Elements</a:t>
            </a:r>
            <a:endParaRPr lang="en-US" sz="1800" dirty="0"/>
          </a:p>
          <a:p>
            <a:pPr indent="0" marL="0">
              <a:buNone/>
            </a:pPr>
            <a:r>
              <a:rPr lang="en-US" sz="1300" dirty="0">
                <a:solidFill>
                  <a:schemeClr val="bg1"/>
                </a:solidFill>
              </a:rPr>
              <a:t>SAP liefert die Oberfläche</a:t>
            </a:r>
            <a:endParaRPr lang="en-US" sz="1800" dirty="0"/>
          </a:p>
        </p:txBody>
      </p:sp>
      <p:sp>
        <p:nvSpPr>
          <p:cNvPr id="6" name="Variante 2"/>
          <p:cNvSpPr/>
          <p:nvPr/>
        </p:nvSpPr>
        <p:spPr>
          <a:xfrm>
            <a:off x="8138160" y="3017520"/>
            <a:ext cx="3474720" cy="960120"/>
          </a:xfrm>
          <a:prstGeom prst="roundRect">
            <a:avLst>
              <a:gd name="adj" fmla="val 11429"/>
            </a:avLst>
          </a:prstGeom>
          <a:solidFill>
            <a:schemeClr val="accent1"/>
          </a:solidFill>
          <a:ln/>
        </p:spPr>
      </p:sp>
      <p:sp>
        <p:nvSpPr>
          <p:cNvPr id="7" name="Variante 2 Text"/>
          <p:cNvSpPr txBox="1"/>
          <p:nvPr/>
        </p:nvSpPr>
        <p:spPr>
          <a:xfrm>
            <a:off x="8321040" y="3017520"/>
            <a:ext cx="3108960" cy="960120"/>
          </a:xfrm>
          <a:prstGeom prst="rect">
            <a:avLst/>
          </a:prstGeom>
          <a:noFill/>
          <a:ln/>
        </p:spPr>
        <p:txBody>
          <a:bodyPr wrap="square" lIns="0" tIns="0" rIns="0" bIns="0" rtlCol="0" anchor="ctr"/>
          <a:lstStyle/>
          <a:p>
            <a:pPr indent="0" marL="0">
              <a:buNone/>
            </a:pPr>
            <a:r>
              <a:rPr lang="en-US" sz="1800" b="1" dirty="0">
                <a:solidFill>
                  <a:schemeClr val="bg1"/>
                </a:solidFill>
              </a:rPr>
              <a:t>RAP + UI-Annotationen</a:t>
            </a:r>
            <a:endParaRPr lang="en-US" sz="1800" dirty="0"/>
          </a:p>
          <a:p>
            <a:pPr indent="0" marL="0">
              <a:buNone/>
            </a:pPr>
            <a:r>
              <a:rPr lang="en-US" sz="1300" dirty="0">
                <a:solidFill>
                  <a:schemeClr val="bg1"/>
                </a:solidFill>
              </a:rPr>
              <a:t>Fiori Elements auf eigenem Backend</a:t>
            </a:r>
            <a:endParaRPr lang="en-US" sz="1800" dirty="0"/>
          </a:p>
        </p:txBody>
      </p:sp>
      <p:sp>
        <p:nvSpPr>
          <p:cNvPr id="8" name="Variante 3"/>
          <p:cNvSpPr/>
          <p:nvPr/>
        </p:nvSpPr>
        <p:spPr>
          <a:xfrm>
            <a:off x="8138160" y="4206240"/>
            <a:ext cx="3474720" cy="960120"/>
          </a:xfrm>
          <a:prstGeom prst="roundRect">
            <a:avLst>
              <a:gd name="adj" fmla="val 11429"/>
            </a:avLst>
          </a:prstGeom>
          <a:solidFill>
            <a:schemeClr val="accent2"/>
          </a:solidFill>
          <a:ln/>
        </p:spPr>
      </p:sp>
      <p:sp>
        <p:nvSpPr>
          <p:cNvPr id="9" name="Variante 3 Text"/>
          <p:cNvSpPr txBox="1"/>
          <p:nvPr/>
        </p:nvSpPr>
        <p:spPr>
          <a:xfrm>
            <a:off x="8321040" y="4206240"/>
            <a:ext cx="3108960" cy="960120"/>
          </a:xfrm>
          <a:prstGeom prst="rect">
            <a:avLst/>
          </a:prstGeom>
          <a:noFill/>
          <a:ln/>
        </p:spPr>
        <p:txBody>
          <a:bodyPr wrap="square" lIns="0" tIns="0" rIns="0" bIns="0" rtlCol="0" anchor="ctr"/>
          <a:lstStyle/>
          <a:p>
            <a:pPr indent="0" marL="0">
              <a:buNone/>
            </a:pPr>
            <a:r>
              <a:rPr lang="en-US" sz="1800" b="1" dirty="0">
                <a:solidFill>
                  <a:schemeClr val="bg1"/>
                </a:solidFill>
              </a:rPr>
              <a:t>SAPUI5 Freestyle</a:t>
            </a:r>
            <a:endParaRPr lang="en-US" sz="1800" dirty="0"/>
          </a:p>
          <a:p>
            <a:pPr indent="0" marL="0">
              <a:buNone/>
            </a:pPr>
            <a:r>
              <a:rPr lang="en-US" sz="1300" dirty="0">
                <a:solidFill>
                  <a:schemeClr val="bg1"/>
                </a:solidFill>
              </a:rPr>
              <a:t>Wir bauen und warten alles selbst</a:t>
            </a:r>
            <a:endParaRPr lang="en-US" sz="1800" dirty="0"/>
          </a:p>
        </p:txBody>
      </p:sp>
      <p:sp>
        <p:nvSpPr>
          <p:cNvPr id="10" name="Text 8"/>
          <p:cNvSpPr txBox="1"/>
          <p:nvPr/>
        </p:nvSpPr>
        <p:spPr>
          <a:xfrm>
            <a:off x="8138160" y="5440680"/>
            <a:ext cx="3474720" cy="365760"/>
          </a:xfrm>
          <a:prstGeom prst="rect">
            <a:avLst/>
          </a:prstGeom>
          <a:noFill/>
          <a:ln/>
        </p:spPr>
        <p:txBody>
          <a:bodyPr wrap="square" lIns="0" tIns="0" rIns="0" bIns="0" rtlCol="0" anchor="ctr"/>
          <a:lstStyle/>
          <a:p>
            <a:pPr indent="0" marL="0">
              <a:buNone/>
            </a:pPr>
            <a:r>
              <a:rPr lang="en-US" sz="1300" i="1" dirty="0">
                <a:solidFill>
                  <a:schemeClr val="accent6"/>
                </a:solidFill>
              </a:rPr>
              <a:t>Alle drei sehen für Anwender gleich aus.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Das Wichtigste in 30 Sekunden</a:t>
            </a:r>
            <a:endParaRPr lang="en-US" sz="3400" dirty="0"/>
          </a:p>
        </p:txBody>
      </p:sp>
      <p:sp>
        <p:nvSpPr>
          <p:cNvPr id="3" name="Karte 1"/>
          <p:cNvSpPr/>
          <p:nvPr/>
        </p:nvSpPr>
        <p:spPr>
          <a:xfrm>
            <a:off x="548640" y="1737360"/>
            <a:ext cx="3474720" cy="4023360"/>
          </a:xfrm>
          <a:prstGeom prst="roundRect">
            <a:avLst>
              <a:gd name="adj" fmla="val 3158"/>
            </a:avLst>
          </a:prstGeom>
          <a:solidFill>
            <a:schemeClr val="bg2"/>
          </a:solidFill>
          <a:ln/>
        </p:spPr>
      </p:sp>
      <p:sp>
        <p:nvSpPr>
          <p:cNvPr id="4" name="Karte 1 Kreis"/>
          <p:cNvSpPr/>
          <p:nvPr/>
        </p:nvSpPr>
        <p:spPr>
          <a:xfrm>
            <a:off x="914400" y="2103120"/>
            <a:ext cx="914400" cy="914400"/>
          </a:xfrm>
          <a:prstGeom prst="ellipse">
            <a:avLst/>
          </a:prstGeom>
          <a:solidFill>
            <a:schemeClr val="tx2"/>
          </a:solidFill>
          <a:ln/>
        </p:spPr>
      </p:sp>
      <p:pic>
        <p:nvPicPr>
          <p:cNvPr id="5" name="Karte 1 Icon" descr="Karte 1">    </p:cNvPr>
          <p:cNvPicPr>
            <a:picLocks noChangeAspect="1"/>
          </p:cNvPicPr>
          <p:nvPr/>
        </p:nvPicPr>
        <p:blipFill>
          <a:blip r:embed="rId1"/>
          <a:stretch>
            <a:fillRect/>
          </a:stretch>
        </p:blipFill>
        <p:spPr>
          <a:xfrm>
            <a:off x="1143000" y="2331720"/>
            <a:ext cx="457200" cy="457200"/>
          </a:xfrm>
          <a:prstGeom prst="rect">
            <a:avLst/>
          </a:prstGeom>
        </p:spPr>
      </p:pic>
      <p:sp>
        <p:nvSpPr>
          <p:cNvPr id="6" name="Text 3"/>
          <p:cNvSpPr txBox="1"/>
          <p:nvPr/>
        </p:nvSpPr>
        <p:spPr>
          <a:xfrm>
            <a:off x="914400" y="3246120"/>
            <a:ext cx="2743200" cy="82296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Gleicher Look, anderer Aufwand</a:t>
            </a:r>
            <a:endParaRPr lang="en-US" sz="2100" dirty="0"/>
          </a:p>
        </p:txBody>
      </p:sp>
      <p:sp>
        <p:nvSpPr>
          <p:cNvPr id="7" name="Text 4"/>
          <p:cNvSpPr txBox="1"/>
          <p:nvPr/>
        </p:nvSpPr>
        <p:spPr>
          <a:xfrm>
            <a:off x="914400" y="4114800"/>
            <a:ext cx="2743200" cy="1463040"/>
          </a:xfrm>
          <a:prstGeom prst="rect">
            <a:avLst/>
          </a:prstGeom>
          <a:noFill/>
          <a:ln/>
        </p:spPr>
        <p:txBody>
          <a:bodyPr wrap="square" lIns="0" tIns="0" rIns="0" bIns="0" rtlCol="0" anchor="t"/>
          <a:lstStyle/>
          <a:p>
            <a:pPr indent="0" marL="0">
              <a:buNone/>
            </a:pPr>
            <a:r>
              <a:rPr lang="en-US" sz="1600" dirty="0">
                <a:solidFill>
                  <a:schemeClr val="tx1"/>
                </a:solidFill>
              </a:rPr>
              <a:t>Für Anwender sehen alle Fiori-Apps gleich aus. Technisch liegen Welten dazwischen.</a:t>
            </a:r>
            <a:endParaRPr lang="en-US" sz="1600" dirty="0"/>
          </a:p>
        </p:txBody>
      </p:sp>
      <p:sp>
        <p:nvSpPr>
          <p:cNvPr id="8" name="Karte 2"/>
          <p:cNvSpPr/>
          <p:nvPr/>
        </p:nvSpPr>
        <p:spPr>
          <a:xfrm>
            <a:off x="4343400" y="1737360"/>
            <a:ext cx="3474720" cy="4023360"/>
          </a:xfrm>
          <a:prstGeom prst="roundRect">
            <a:avLst>
              <a:gd name="adj" fmla="val 3158"/>
            </a:avLst>
          </a:prstGeom>
          <a:solidFill>
            <a:schemeClr val="bg2"/>
          </a:solidFill>
          <a:ln/>
        </p:spPr>
      </p:sp>
      <p:sp>
        <p:nvSpPr>
          <p:cNvPr id="9" name="Karte 2 Kreis"/>
          <p:cNvSpPr/>
          <p:nvPr/>
        </p:nvSpPr>
        <p:spPr>
          <a:xfrm>
            <a:off x="4709160" y="2103120"/>
            <a:ext cx="914400" cy="914400"/>
          </a:xfrm>
          <a:prstGeom prst="ellipse">
            <a:avLst/>
          </a:prstGeom>
          <a:solidFill>
            <a:schemeClr val="accent2"/>
          </a:solidFill>
          <a:ln/>
        </p:spPr>
      </p:sp>
      <p:pic>
        <p:nvPicPr>
          <p:cNvPr id="10" name="Karte 2 Icon" descr="Karte 2">    </p:cNvPr>
          <p:cNvPicPr>
            <a:picLocks noChangeAspect="1"/>
          </p:cNvPicPr>
          <p:nvPr/>
        </p:nvPicPr>
        <p:blipFill>
          <a:blip r:embed="rId2"/>
          <a:stretch>
            <a:fillRect/>
          </a:stretch>
        </p:blipFill>
        <p:spPr>
          <a:xfrm>
            <a:off x="4937760" y="2331720"/>
            <a:ext cx="457200" cy="457200"/>
          </a:xfrm>
          <a:prstGeom prst="rect">
            <a:avLst/>
          </a:prstGeom>
        </p:spPr>
      </p:pic>
      <p:sp>
        <p:nvSpPr>
          <p:cNvPr id="11" name="Text 7"/>
          <p:cNvSpPr txBox="1"/>
          <p:nvPr/>
        </p:nvSpPr>
        <p:spPr>
          <a:xfrm>
            <a:off x="4709160" y="3246120"/>
            <a:ext cx="2743200" cy="82296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Freestyle = eigene Software</a:t>
            </a:r>
            <a:endParaRPr lang="en-US" sz="2100" dirty="0"/>
          </a:p>
        </p:txBody>
      </p:sp>
      <p:sp>
        <p:nvSpPr>
          <p:cNvPr id="12" name="Text 8"/>
          <p:cNvSpPr txBox="1"/>
          <p:nvPr/>
        </p:nvSpPr>
        <p:spPr>
          <a:xfrm>
            <a:off x="4709160" y="4114800"/>
            <a:ext cx="2743200" cy="1463040"/>
          </a:xfrm>
          <a:prstGeom prst="rect">
            <a:avLst/>
          </a:prstGeom>
          <a:noFill/>
          <a:ln/>
        </p:spPr>
        <p:txBody>
          <a:bodyPr wrap="square" lIns="0" tIns="0" rIns="0" bIns="0" rtlCol="0" anchor="t"/>
          <a:lstStyle/>
          <a:p>
            <a:pPr indent="0" marL="0">
              <a:buNone/>
            </a:pPr>
            <a:r>
              <a:rPr lang="en-US" sz="1600" dirty="0">
                <a:solidFill>
                  <a:schemeClr val="tx1"/>
                </a:solidFill>
              </a:rPr>
              <a:t>Jede Zeile JavaScript gehört uns: entwickeln, testen, aktualisieren, absichern – über Jahre.</a:t>
            </a:r>
            <a:endParaRPr lang="en-US" sz="1600" dirty="0"/>
          </a:p>
        </p:txBody>
      </p:sp>
      <p:sp>
        <p:nvSpPr>
          <p:cNvPr id="13" name="Karte 3"/>
          <p:cNvSpPr/>
          <p:nvPr/>
        </p:nvSpPr>
        <p:spPr>
          <a:xfrm>
            <a:off x="8138160" y="1737360"/>
            <a:ext cx="3474720" cy="4023360"/>
          </a:xfrm>
          <a:prstGeom prst="roundRect">
            <a:avLst>
              <a:gd name="adj" fmla="val 3158"/>
            </a:avLst>
          </a:prstGeom>
          <a:solidFill>
            <a:schemeClr val="bg2"/>
          </a:solidFill>
          <a:ln/>
        </p:spPr>
      </p:sp>
      <p:sp>
        <p:nvSpPr>
          <p:cNvPr id="14" name="Karte 3 Kreis"/>
          <p:cNvSpPr/>
          <p:nvPr/>
        </p:nvSpPr>
        <p:spPr>
          <a:xfrm>
            <a:off x="8503920" y="2103120"/>
            <a:ext cx="914400" cy="914400"/>
          </a:xfrm>
          <a:prstGeom prst="ellipse">
            <a:avLst/>
          </a:prstGeom>
          <a:solidFill>
            <a:schemeClr val="accent1"/>
          </a:solidFill>
          <a:ln/>
        </p:spPr>
      </p:sp>
      <p:pic>
        <p:nvPicPr>
          <p:cNvPr id="15" name="Karte 3 Icon" descr="Karte 3">    </p:cNvPr>
          <p:cNvPicPr>
            <a:picLocks noChangeAspect="1"/>
          </p:cNvPicPr>
          <p:nvPr/>
        </p:nvPicPr>
        <p:blipFill>
          <a:blip r:embed="rId3"/>
          <a:stretch>
            <a:fillRect/>
          </a:stretch>
        </p:blipFill>
        <p:spPr>
          <a:xfrm>
            <a:off x="8732520" y="2331720"/>
            <a:ext cx="457200" cy="457200"/>
          </a:xfrm>
          <a:prstGeom prst="rect">
            <a:avLst/>
          </a:prstGeom>
        </p:spPr>
      </p:pic>
      <p:sp>
        <p:nvSpPr>
          <p:cNvPr id="16" name="Text 11"/>
          <p:cNvSpPr txBox="1"/>
          <p:nvPr/>
        </p:nvSpPr>
        <p:spPr>
          <a:xfrm>
            <a:off x="8503920" y="3246120"/>
            <a:ext cx="2743200" cy="82296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Die richtige Kombination</a:t>
            </a:r>
            <a:endParaRPr lang="en-US" sz="2100" dirty="0"/>
          </a:p>
        </p:txBody>
      </p:sp>
      <p:sp>
        <p:nvSpPr>
          <p:cNvPr id="17" name="Text 12"/>
          <p:cNvSpPr txBox="1"/>
          <p:nvPr/>
        </p:nvSpPr>
        <p:spPr>
          <a:xfrm>
            <a:off x="8503920" y="4114800"/>
            <a:ext cx="2743200" cy="1463040"/>
          </a:xfrm>
          <a:prstGeom prst="rect">
            <a:avLst/>
          </a:prstGeom>
          <a:noFill/>
          <a:ln/>
        </p:spPr>
        <p:txBody>
          <a:bodyPr wrap="square" lIns="0" tIns="0" rIns="0" bIns="0" rtlCol="0" anchor="t"/>
          <a:lstStyle/>
          <a:p>
            <a:pPr indent="0" marL="0">
              <a:buNone/>
            </a:pPr>
            <a:r>
              <a:rPr lang="en-US" sz="1600" dirty="0">
                <a:solidFill>
                  <a:schemeClr val="tx1"/>
                </a:solidFill>
              </a:rPr>
              <a:t>Fiori Elements für Standardabläufe, Freestyle gezielt für Spezialabläufe – auf einem gemeinsamen Backend.</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Worum es mir geht: Bewusstsein schaffen</a:t>
            </a:r>
            <a:endParaRPr lang="en-US" sz="3400" dirty="0"/>
          </a:p>
        </p:txBody>
      </p:sp>
      <p:sp>
        <p:nvSpPr>
          <p:cNvPr id="3" name="Haltung"/>
          <p:cNvSpPr/>
          <p:nvPr/>
        </p:nvSpPr>
        <p:spPr>
          <a:xfrm>
            <a:off x="548640" y="1417320"/>
            <a:ext cx="4937760" cy="4663440"/>
          </a:xfrm>
          <a:prstGeom prst="roundRect">
            <a:avLst>
              <a:gd name="adj" fmla="val 2353"/>
            </a:avLst>
          </a:prstGeom>
          <a:solidFill>
            <a:schemeClr val="tx2"/>
          </a:solidFill>
          <a:ln/>
        </p:spPr>
      </p:sp>
      <p:sp>
        <p:nvSpPr>
          <p:cNvPr id="4" name="Haltung Kreis"/>
          <p:cNvSpPr/>
          <p:nvPr/>
        </p:nvSpPr>
        <p:spPr>
          <a:xfrm>
            <a:off x="868680" y="1737360"/>
            <a:ext cx="731520" cy="731520"/>
          </a:xfrm>
          <a:prstGeom prst="ellipse">
            <a:avLst/>
          </a:prstGeom>
          <a:solidFill>
            <a:schemeClr val="accent1"/>
          </a:solidFill>
          <a:ln/>
        </p:spPr>
      </p:sp>
      <p:pic>
        <p:nvPicPr>
          <p:cNvPr id="5" name="Haltung Icon" descr="Haltung">    </p:cNvPr>
          <p:cNvPicPr>
            <a:picLocks noChangeAspect="1"/>
          </p:cNvPicPr>
          <p:nvPr/>
        </p:nvPicPr>
        <p:blipFill>
          <a:blip r:embed="rId1"/>
          <a:stretch>
            <a:fillRect/>
          </a:stretch>
        </p:blipFill>
        <p:spPr>
          <a:xfrm>
            <a:off x="1051560" y="1920240"/>
            <a:ext cx="365760" cy="365760"/>
          </a:xfrm>
          <a:prstGeom prst="rect">
            <a:avLst/>
          </a:prstGeom>
        </p:spPr>
      </p:pic>
      <p:sp>
        <p:nvSpPr>
          <p:cNvPr id="6" name="Text 3"/>
          <p:cNvSpPr txBox="1"/>
          <p:nvPr/>
        </p:nvSpPr>
        <p:spPr>
          <a:xfrm>
            <a:off x="868680" y="2651760"/>
            <a:ext cx="4297680" cy="128016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Ich bin weder Gegner noch Verfechter – ich mag SAPUI5 sogar sehr.</a:t>
            </a:r>
            <a:endParaRPr lang="en-US" sz="2200" dirty="0"/>
          </a:p>
        </p:txBody>
      </p:sp>
      <p:sp>
        <p:nvSpPr>
          <p:cNvPr id="7" name="Text 4"/>
          <p:cNvSpPr txBox="1"/>
          <p:nvPr/>
        </p:nvSpPr>
        <p:spPr>
          <a:xfrm>
            <a:off x="868680" y="4023360"/>
            <a:ext cx="4297680" cy="1828800"/>
          </a:xfrm>
          <a:prstGeom prst="rect">
            <a:avLst/>
          </a:prstGeom>
          <a:noFill/>
          <a:ln/>
        </p:spPr>
        <p:txBody>
          <a:bodyPr wrap="square" lIns="0" tIns="0" rIns="0" bIns="0" rtlCol="0" anchor="t"/>
          <a:lstStyle/>
          <a:p>
            <a:pPr indent="0" marL="0">
              <a:buNone/>
            </a:pPr>
            <a:r>
              <a:rPr lang="en-US" sz="1600" dirty="0">
                <a:solidFill>
                  <a:schemeClr val="accent6"/>
                </a:solidFill>
              </a:rPr>
              <a:t>Ich will nichts verkaufen. Ich will, dass wir als Unternehmen wissen, was geht und was nicht – und Angebote, auch von Externen, selbst einordnen können.</a:t>
            </a:r>
            <a:endParaRPr lang="en-US" sz="1600" dirty="0"/>
          </a:p>
        </p:txBody>
      </p:sp>
      <p:sp>
        <p:nvSpPr>
          <p:cNvPr id="8" name="Text 5"/>
          <p:cNvSpPr txBox="1"/>
          <p:nvPr/>
        </p:nvSpPr>
        <p:spPr>
          <a:xfrm>
            <a:off x="5943600" y="1417320"/>
            <a:ext cx="5669280" cy="411480"/>
          </a:xfrm>
          <a:prstGeom prst="rect">
            <a:avLst/>
          </a:prstGeom>
          <a:noFill/>
          <a:ln/>
        </p:spPr>
        <p:txBody>
          <a:bodyPr wrap="square" lIns="0" tIns="0" rIns="0" bIns="0" rtlCol="0" anchor="ctr"/>
          <a:lstStyle/>
          <a:p>
            <a:pPr indent="0" marL="0">
              <a:buNone/>
            </a:pPr>
            <a:r>
              <a:rPr lang="en-US" sz="2000" b="1" dirty="0">
                <a:solidFill>
                  <a:schemeClr val="tx1"/>
                </a:solidFill>
              </a:rPr>
              <a:t>Wo das Geld wirklich hingeht</a:t>
            </a:r>
            <a:endParaRPr lang="en-US" sz="2000" dirty="0"/>
          </a:p>
        </p:txBody>
      </p:sp>
      <p:sp>
        <p:nvSpPr>
          <p:cNvPr id="9" name="Text 6"/>
          <p:cNvSpPr txBox="1"/>
          <p:nvPr/>
        </p:nvSpPr>
        <p:spPr>
          <a:xfrm>
            <a:off x="5943600" y="1965960"/>
            <a:ext cx="5669280" cy="320040"/>
          </a:xfrm>
          <a:prstGeom prst="rect">
            <a:avLst/>
          </a:prstGeom>
          <a:noFill/>
          <a:ln/>
        </p:spPr>
        <p:txBody>
          <a:bodyPr wrap="square" lIns="0" tIns="0" rIns="0" bIns="0" rtlCol="0" anchor="ctr"/>
          <a:lstStyle/>
          <a:p>
            <a:pPr indent="0" marL="0">
              <a:buNone/>
            </a:pPr>
            <a:r>
              <a:rPr lang="en-US" sz="1400" b="1" dirty="0">
                <a:solidFill>
                  <a:schemeClr val="accent4"/>
                </a:solidFill>
              </a:rPr>
              <a:t>Erstellung (Beispiel)</a:t>
            </a:r>
            <a:endParaRPr lang="en-US" sz="1400" dirty="0"/>
          </a:p>
        </p:txBody>
      </p:sp>
      <p:sp>
        <p:nvSpPr>
          <p:cNvPr id="10" name="Text 7"/>
          <p:cNvSpPr txBox="1"/>
          <p:nvPr/>
        </p:nvSpPr>
        <p:spPr>
          <a:xfrm>
            <a:off x="5943600" y="2377440"/>
            <a:ext cx="1554480" cy="411480"/>
          </a:xfrm>
          <a:prstGeom prst="rect">
            <a:avLst/>
          </a:prstGeom>
          <a:noFill/>
          <a:ln/>
        </p:spPr>
        <p:txBody>
          <a:bodyPr wrap="square" lIns="0" tIns="0" rIns="0" bIns="0" rtlCol="0" anchor="ctr"/>
          <a:lstStyle/>
          <a:p>
            <a:pPr indent="0" marL="0">
              <a:buNone/>
            </a:pPr>
            <a:r>
              <a:rPr lang="en-US" sz="1400" dirty="0">
                <a:solidFill>
                  <a:schemeClr val="tx1"/>
                </a:solidFill>
              </a:rPr>
              <a:t>Fiori Elements</a:t>
            </a:r>
            <a:endParaRPr lang="en-US" sz="1400" dirty="0"/>
          </a:p>
        </p:txBody>
      </p:sp>
      <p:sp>
        <p:nvSpPr>
          <p:cNvPr id="11" name="Balken Fiori Elements"/>
          <p:cNvSpPr/>
          <p:nvPr/>
        </p:nvSpPr>
        <p:spPr>
          <a:xfrm>
            <a:off x="7543800" y="2423160"/>
            <a:ext cx="685800" cy="320040"/>
          </a:xfrm>
          <a:prstGeom prst="rect">
            <a:avLst/>
          </a:prstGeom>
          <a:solidFill>
            <a:schemeClr val="accent1"/>
          </a:solidFill>
          <a:ln/>
        </p:spPr>
      </p:sp>
      <p:sp>
        <p:nvSpPr>
          <p:cNvPr id="12" name="Text 9"/>
          <p:cNvSpPr txBox="1"/>
          <p:nvPr/>
        </p:nvSpPr>
        <p:spPr>
          <a:xfrm>
            <a:off x="8321040" y="2377440"/>
            <a:ext cx="731520" cy="411480"/>
          </a:xfrm>
          <a:prstGeom prst="rect">
            <a:avLst/>
          </a:prstGeom>
          <a:noFill/>
          <a:ln/>
        </p:spPr>
        <p:txBody>
          <a:bodyPr wrap="square" lIns="0" tIns="0" rIns="0" bIns="0" rtlCol="0" anchor="ctr"/>
          <a:lstStyle/>
          <a:p>
            <a:pPr indent="0" marL="0">
              <a:buNone/>
            </a:pPr>
            <a:r>
              <a:rPr lang="en-US" sz="1400" b="1" dirty="0">
                <a:solidFill>
                  <a:schemeClr val="accent1"/>
                </a:solidFill>
              </a:rPr>
              <a:t>1 PT</a:t>
            </a:r>
            <a:endParaRPr lang="en-US" sz="1400" dirty="0"/>
          </a:p>
        </p:txBody>
      </p:sp>
      <p:sp>
        <p:nvSpPr>
          <p:cNvPr id="13" name="Text 10"/>
          <p:cNvSpPr txBox="1"/>
          <p:nvPr/>
        </p:nvSpPr>
        <p:spPr>
          <a:xfrm>
            <a:off x="5943600" y="2926080"/>
            <a:ext cx="1554480" cy="411480"/>
          </a:xfrm>
          <a:prstGeom prst="rect">
            <a:avLst/>
          </a:prstGeom>
          <a:noFill/>
          <a:ln/>
        </p:spPr>
        <p:txBody>
          <a:bodyPr wrap="square" lIns="0" tIns="0" rIns="0" bIns="0" rtlCol="0" anchor="ctr"/>
          <a:lstStyle/>
          <a:p>
            <a:pPr indent="0" marL="0">
              <a:buNone/>
            </a:pPr>
            <a:r>
              <a:rPr lang="en-US" sz="1400" dirty="0">
                <a:solidFill>
                  <a:schemeClr val="tx1"/>
                </a:solidFill>
              </a:rPr>
              <a:t>Freestyle</a:t>
            </a:r>
            <a:endParaRPr lang="en-US" sz="1400" dirty="0"/>
          </a:p>
        </p:txBody>
      </p:sp>
      <p:sp>
        <p:nvSpPr>
          <p:cNvPr id="14" name="Balken Freestyle"/>
          <p:cNvSpPr/>
          <p:nvPr/>
        </p:nvSpPr>
        <p:spPr>
          <a:xfrm>
            <a:off x="7543800" y="2971800"/>
            <a:ext cx="3429000" cy="320040"/>
          </a:xfrm>
          <a:prstGeom prst="rect">
            <a:avLst/>
          </a:prstGeom>
          <a:solidFill>
            <a:schemeClr val="accent2"/>
          </a:solidFill>
          <a:ln/>
        </p:spPr>
      </p:sp>
      <p:sp>
        <p:nvSpPr>
          <p:cNvPr id="15" name="Text 12"/>
          <p:cNvSpPr txBox="1"/>
          <p:nvPr/>
        </p:nvSpPr>
        <p:spPr>
          <a:xfrm>
            <a:off x="11064240" y="2926080"/>
            <a:ext cx="731520" cy="411480"/>
          </a:xfrm>
          <a:prstGeom prst="rect">
            <a:avLst/>
          </a:prstGeom>
          <a:noFill/>
          <a:ln/>
        </p:spPr>
        <p:txBody>
          <a:bodyPr wrap="square" lIns="0" tIns="0" rIns="0" bIns="0" rtlCol="0" anchor="ctr"/>
          <a:lstStyle/>
          <a:p>
            <a:pPr indent="0" marL="0">
              <a:buNone/>
            </a:pPr>
            <a:r>
              <a:rPr lang="en-US" sz="1400" b="1" dirty="0">
                <a:solidFill>
                  <a:schemeClr val="accent2"/>
                </a:solidFill>
              </a:rPr>
              <a:t>5 PT</a:t>
            </a:r>
            <a:endParaRPr lang="en-US" sz="1400" dirty="0"/>
          </a:p>
        </p:txBody>
      </p:sp>
      <p:sp>
        <p:nvSpPr>
          <p:cNvPr id="16" name="Text 13"/>
          <p:cNvSpPr txBox="1"/>
          <p:nvPr/>
        </p:nvSpPr>
        <p:spPr>
          <a:xfrm>
            <a:off x="5943600" y="3657600"/>
            <a:ext cx="5669280" cy="365760"/>
          </a:xfrm>
          <a:prstGeom prst="rect">
            <a:avLst/>
          </a:prstGeom>
          <a:noFill/>
          <a:ln/>
        </p:spPr>
        <p:txBody>
          <a:bodyPr wrap="square" lIns="0" tIns="0" rIns="0" bIns="0" rtlCol="0" anchor="ctr"/>
          <a:lstStyle/>
          <a:p>
            <a:pPr indent="0" marL="0">
              <a:buNone/>
            </a:pPr>
            <a:r>
              <a:rPr lang="en-US" sz="1400" b="1" dirty="0">
                <a:solidFill>
                  <a:schemeClr val="accent4"/>
                </a:solidFill>
              </a:rPr>
              <a:t>…und bei Freestyle jedes Jahr wieder dazu:</a:t>
            </a:r>
            <a:endParaRPr lang="en-US" sz="1400" dirty="0"/>
          </a:p>
        </p:txBody>
      </p:sp>
      <p:sp>
        <p:nvSpPr>
          <p:cNvPr id="17" name="Folgekosten 1"/>
          <p:cNvSpPr/>
          <p:nvPr/>
        </p:nvSpPr>
        <p:spPr>
          <a:xfrm>
            <a:off x="5943600" y="4114800"/>
            <a:ext cx="1783080" cy="685800"/>
          </a:xfrm>
          <a:prstGeom prst="roundRect">
            <a:avLst>
              <a:gd name="adj" fmla="val 13333"/>
            </a:avLst>
          </a:prstGeom>
          <a:solidFill>
            <a:schemeClr val="accent5"/>
          </a:solidFill>
          <a:ln/>
        </p:spPr>
      </p:sp>
      <p:sp>
        <p:nvSpPr>
          <p:cNvPr id="18" name="Text 15"/>
          <p:cNvSpPr txBox="1"/>
          <p:nvPr/>
        </p:nvSpPr>
        <p:spPr>
          <a:xfrm>
            <a:off x="6016752" y="4114800"/>
            <a:ext cx="1636776" cy="685800"/>
          </a:xfrm>
          <a:prstGeom prst="rect">
            <a:avLst/>
          </a:prstGeom>
          <a:noFill/>
          <a:ln/>
        </p:spPr>
        <p:txBody>
          <a:bodyPr wrap="square" lIns="0" tIns="0" rIns="0" bIns="0" rtlCol="0" anchor="ctr"/>
          <a:lstStyle/>
          <a:p>
            <a:pPr algn="ctr" indent="0" marL="0">
              <a:buNone/>
            </a:pPr>
            <a:r>
              <a:rPr lang="en-US" sz="1400" b="1" dirty="0">
                <a:solidFill>
                  <a:schemeClr val="tx1"/>
                </a:solidFill>
              </a:rPr>
              <a:t>jeder Change Request</a:t>
            </a:r>
            <a:endParaRPr lang="en-US" sz="1400" dirty="0"/>
          </a:p>
        </p:txBody>
      </p:sp>
      <p:sp>
        <p:nvSpPr>
          <p:cNvPr id="19" name="Folgekosten 2"/>
          <p:cNvSpPr/>
          <p:nvPr/>
        </p:nvSpPr>
        <p:spPr>
          <a:xfrm>
            <a:off x="7836408" y="4114800"/>
            <a:ext cx="1783080" cy="685800"/>
          </a:xfrm>
          <a:prstGeom prst="roundRect">
            <a:avLst>
              <a:gd name="adj" fmla="val 13333"/>
            </a:avLst>
          </a:prstGeom>
          <a:solidFill>
            <a:schemeClr val="accent5"/>
          </a:solidFill>
          <a:ln/>
        </p:spPr>
      </p:sp>
      <p:sp>
        <p:nvSpPr>
          <p:cNvPr id="20" name="Text 17"/>
          <p:cNvSpPr txBox="1"/>
          <p:nvPr/>
        </p:nvSpPr>
        <p:spPr>
          <a:xfrm>
            <a:off x="7909560" y="4114800"/>
            <a:ext cx="1636776" cy="685800"/>
          </a:xfrm>
          <a:prstGeom prst="rect">
            <a:avLst/>
          </a:prstGeom>
          <a:noFill/>
          <a:ln/>
        </p:spPr>
        <p:txBody>
          <a:bodyPr wrap="square" lIns="0" tIns="0" rIns="0" bIns="0" rtlCol="0" anchor="ctr"/>
          <a:lstStyle/>
          <a:p>
            <a:pPr algn="ctr" indent="0" marL="0">
              <a:buNone/>
            </a:pPr>
            <a:r>
              <a:rPr lang="en-US" sz="1400" b="1" dirty="0">
                <a:solidFill>
                  <a:schemeClr val="tx1"/>
                </a:solidFill>
              </a:rPr>
              <a:t>jedes UI5-Upgrade</a:t>
            </a:r>
            <a:endParaRPr lang="en-US" sz="1400" dirty="0"/>
          </a:p>
        </p:txBody>
      </p:sp>
      <p:sp>
        <p:nvSpPr>
          <p:cNvPr id="21" name="Folgekosten 3"/>
          <p:cNvSpPr/>
          <p:nvPr/>
        </p:nvSpPr>
        <p:spPr>
          <a:xfrm>
            <a:off x="9729216" y="4114800"/>
            <a:ext cx="1783080" cy="685800"/>
          </a:xfrm>
          <a:prstGeom prst="roundRect">
            <a:avLst>
              <a:gd name="adj" fmla="val 13333"/>
            </a:avLst>
          </a:prstGeom>
          <a:solidFill>
            <a:schemeClr val="accent5"/>
          </a:solidFill>
          <a:ln/>
        </p:spPr>
      </p:sp>
      <p:sp>
        <p:nvSpPr>
          <p:cNvPr id="22" name="Text 19"/>
          <p:cNvSpPr txBox="1"/>
          <p:nvPr/>
        </p:nvSpPr>
        <p:spPr>
          <a:xfrm>
            <a:off x="9802368" y="4114800"/>
            <a:ext cx="1636776" cy="685800"/>
          </a:xfrm>
          <a:prstGeom prst="rect">
            <a:avLst/>
          </a:prstGeom>
          <a:noFill/>
          <a:ln/>
        </p:spPr>
        <p:txBody>
          <a:bodyPr wrap="square" lIns="0" tIns="0" rIns="0" bIns="0" rtlCol="0" anchor="ctr"/>
          <a:lstStyle/>
          <a:p>
            <a:pPr algn="ctr" indent="0" marL="0">
              <a:buNone/>
            </a:pPr>
            <a:r>
              <a:rPr lang="en-US" sz="1400" b="1" dirty="0">
                <a:solidFill>
                  <a:schemeClr val="tx1"/>
                </a:solidFill>
              </a:rPr>
              <a:t>Paketpflege &amp; Tests</a:t>
            </a:r>
            <a:endParaRPr lang="en-US" sz="1400" dirty="0"/>
          </a:p>
        </p:txBody>
      </p:sp>
      <p:sp>
        <p:nvSpPr>
          <p:cNvPr id="23" name="Text 20"/>
          <p:cNvSpPr txBox="1"/>
          <p:nvPr/>
        </p:nvSpPr>
        <p:spPr>
          <a:xfrm>
            <a:off x="5943600" y="5074920"/>
            <a:ext cx="5669280" cy="457200"/>
          </a:xfrm>
          <a:prstGeom prst="rect">
            <a:avLst/>
          </a:prstGeom>
          <a:noFill/>
          <a:ln/>
        </p:spPr>
        <p:txBody>
          <a:bodyPr wrap="square" lIns="0" tIns="0" rIns="0" bIns="0" rtlCol="0" anchor="ctr"/>
          <a:lstStyle/>
          <a:p>
            <a:pPr indent="0" marL="0">
              <a:buNone/>
            </a:pPr>
            <a:r>
              <a:rPr lang="en-US" sz="1700" b="1" i="1" dirty="0">
                <a:solidFill>
                  <a:schemeClr val="tx2"/>
                </a:solidFill>
              </a:rPr>
              <a:t>Die Erstellung ist nicht das Teure – die Jahre danach sind es.</a:t>
            </a:r>
            <a:endParaRPr lang="en-US" sz="1700" dirty="0"/>
          </a:p>
        </p:txBody>
      </p:sp>
      <p:sp>
        <p:nvSpPr>
          <p:cNvPr id="24" name="Text 21"/>
          <p:cNvSpPr txBox="1"/>
          <p:nvPr/>
        </p:nvSpPr>
        <p:spPr>
          <a:xfrm>
            <a:off x="5943600" y="5623560"/>
            <a:ext cx="5669280" cy="320040"/>
          </a:xfrm>
          <a:prstGeom prst="rect">
            <a:avLst/>
          </a:prstGeom>
          <a:noFill/>
          <a:ln/>
        </p:spPr>
        <p:txBody>
          <a:bodyPr wrap="square" lIns="0" tIns="0" rIns="0" bIns="0" rtlCol="0" anchor="ctr"/>
          <a:lstStyle/>
          <a:p>
            <a:pPr indent="0" marL="0">
              <a:buNone/>
            </a:pPr>
            <a:r>
              <a:rPr lang="en-US" sz="1100" i="1" dirty="0">
                <a:solidFill>
                  <a:schemeClr val="accent4"/>
                </a:solidFill>
              </a:rPr>
              <a:t>Personentage als beispielhafte Größenordnung, keine Messung.</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Drei Wege – ein Look</a:t>
            </a:r>
            <a:endParaRPr lang="en-US" sz="3400" dirty="0"/>
          </a:p>
        </p:txBody>
      </p:sp>
      <p:sp>
        <p:nvSpPr>
          <p:cNvPr id="3" name="Text 1"/>
          <p:cNvSpPr txBox="1"/>
          <p:nvPr/>
        </p:nvSpPr>
        <p:spPr>
          <a:xfrm>
            <a:off x="548640" y="1371600"/>
            <a:ext cx="3474720" cy="45720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Fiori Elements</a:t>
            </a:r>
            <a:endParaRPr lang="en-US" sz="2000" dirty="0"/>
          </a:p>
        </p:txBody>
      </p:sp>
      <p:sp>
        <p:nvSpPr>
          <p:cNvPr id="4" name="Fiori Elements SAP"/>
          <p:cNvSpPr/>
          <p:nvPr/>
        </p:nvSpPr>
        <p:spPr>
          <a:xfrm>
            <a:off x="548640" y="1965960"/>
            <a:ext cx="3474720" cy="2651760"/>
          </a:xfrm>
          <a:prstGeom prst="rect">
            <a:avLst/>
          </a:prstGeom>
          <a:solidFill>
            <a:schemeClr val="accent6"/>
          </a:solidFill>
          <a:ln/>
        </p:spPr>
      </p:sp>
      <p:sp>
        <p:nvSpPr>
          <p:cNvPr id="5" name="Text 3"/>
          <p:cNvSpPr txBox="1"/>
          <p:nvPr/>
        </p:nvSpPr>
        <p:spPr>
          <a:xfrm>
            <a:off x="685800" y="2057400"/>
            <a:ext cx="3200400" cy="2468880"/>
          </a:xfrm>
          <a:prstGeom prst="rect">
            <a:avLst/>
          </a:prstGeom>
          <a:noFill/>
          <a:ln/>
        </p:spPr>
        <p:txBody>
          <a:bodyPr wrap="square" lIns="0" tIns="0" rIns="0" bIns="0" rtlCol="0" anchor="t"/>
          <a:lstStyle/>
          <a:p>
            <a:pPr indent="0" marL="0">
              <a:spcAft>
                <a:spcPts val="200"/>
              </a:spcAft>
              <a:buNone/>
            </a:pPr>
            <a:r>
              <a:rPr lang="en-US" sz="1400" b="1" dirty="0">
                <a:solidFill>
                  <a:schemeClr val="accent1"/>
                </a:solidFill>
              </a:rPr>
              <a:t>SAP liefert</a:t>
            </a:r>
            <a:endParaRPr lang="en-US" sz="1400" dirty="0"/>
          </a:p>
          <a:p>
            <a:pPr marL="342900" indent="-342900">
              <a:spcAft>
                <a:spcPts val="200"/>
              </a:spcAft>
              <a:buSzPct val="100000"/>
              <a:buChar char="•"/>
            </a:pPr>
            <a:r>
              <a:rPr lang="en-US" sz="1400" dirty="0">
                <a:solidFill>
                  <a:schemeClr val="tx1"/>
                </a:solidFill>
              </a:rPr>
              <a:t>Floorplans (Liste, Detail)</a:t>
            </a:r>
            <a:endParaRPr lang="en-US" sz="1400" dirty="0"/>
          </a:p>
          <a:p>
            <a:pPr marL="342900" indent="-342900">
              <a:spcAft>
                <a:spcPts val="200"/>
              </a:spcAft>
              <a:buSzPct val="100000"/>
              <a:buChar char="•"/>
            </a:pPr>
            <a:r>
              <a:rPr lang="en-US" sz="1400" dirty="0">
                <a:solidFill>
                  <a:schemeClr val="tx1"/>
                </a:solidFill>
              </a:rPr>
              <a:t>Filter, Tabellen, Export</a:t>
            </a:r>
            <a:endParaRPr lang="en-US" sz="1400" dirty="0"/>
          </a:p>
          <a:p>
            <a:pPr marL="342900" indent="-342900">
              <a:spcAft>
                <a:spcPts val="200"/>
              </a:spcAft>
              <a:buSzPct val="100000"/>
              <a:buChar char="•"/>
            </a:pPr>
            <a:r>
              <a:rPr lang="en-US" sz="1400" dirty="0">
                <a:solidFill>
                  <a:schemeClr val="tx1"/>
                </a:solidFill>
              </a:rPr>
              <a:t>Varianten, Personalisierung</a:t>
            </a:r>
            <a:endParaRPr lang="en-US" sz="1400" dirty="0"/>
          </a:p>
          <a:p>
            <a:pPr marL="342900" indent="-342900">
              <a:spcAft>
                <a:spcPts val="200"/>
              </a:spcAft>
              <a:buSzPct val="100000"/>
              <a:buChar char="•"/>
            </a:pPr>
            <a:r>
              <a:rPr lang="en-US" sz="1400" dirty="0">
                <a:solidFill>
                  <a:schemeClr val="tx1"/>
                </a:solidFill>
              </a:rPr>
              <a:t>Upgrades &amp; Barrierefreiheit</a:t>
            </a:r>
            <a:endParaRPr lang="en-US" sz="1400" dirty="0"/>
          </a:p>
        </p:txBody>
      </p:sp>
      <p:sp>
        <p:nvSpPr>
          <p:cNvPr id="6" name="Fiori Elements Wir"/>
          <p:cNvSpPr/>
          <p:nvPr/>
        </p:nvSpPr>
        <p:spPr>
          <a:xfrm>
            <a:off x="548640" y="4709160"/>
            <a:ext cx="3474720" cy="1325880"/>
          </a:xfrm>
          <a:prstGeom prst="rect">
            <a:avLst/>
          </a:prstGeom>
          <a:solidFill>
            <a:schemeClr val="accent5"/>
          </a:solidFill>
          <a:ln/>
        </p:spPr>
      </p:sp>
      <p:sp>
        <p:nvSpPr>
          <p:cNvPr id="7" name="Text 5"/>
          <p:cNvSpPr txBox="1"/>
          <p:nvPr/>
        </p:nvSpPr>
        <p:spPr>
          <a:xfrm>
            <a:off x="685800" y="4800600"/>
            <a:ext cx="3200400" cy="1143000"/>
          </a:xfrm>
          <a:prstGeom prst="rect">
            <a:avLst/>
          </a:prstGeom>
          <a:noFill/>
          <a:ln/>
        </p:spPr>
        <p:txBody>
          <a:bodyPr wrap="square" lIns="0" tIns="0" rIns="0" bIns="0" rtlCol="0" anchor="t"/>
          <a:lstStyle/>
          <a:p>
            <a:pPr indent="0" marL="0">
              <a:spcAft>
                <a:spcPts val="200"/>
              </a:spcAft>
              <a:buNone/>
            </a:pPr>
            <a:r>
              <a:rPr lang="en-US" sz="1400" b="1" dirty="0">
                <a:solidFill>
                  <a:schemeClr val="accent2"/>
                </a:solidFill>
              </a:rPr>
              <a:t>Wir entwickeln &amp; warten</a:t>
            </a:r>
            <a:endParaRPr lang="en-US" sz="1400" dirty="0"/>
          </a:p>
          <a:p>
            <a:pPr marL="342900" indent="-342900">
              <a:spcAft>
                <a:spcPts val="200"/>
              </a:spcAft>
              <a:buSzPct val="100000"/>
              <a:buChar char="•"/>
            </a:pPr>
            <a:r>
              <a:rPr lang="en-US" sz="1400" dirty="0">
                <a:solidFill>
                  <a:schemeClr val="tx1"/>
                </a:solidFill>
              </a:rPr>
              <a:t>Annotationen</a:t>
            </a:r>
            <a:endParaRPr lang="en-US" sz="1400" dirty="0"/>
          </a:p>
          <a:p>
            <a:pPr marL="342900" indent="-342900">
              <a:spcAft>
                <a:spcPts val="200"/>
              </a:spcAft>
              <a:buSzPct val="100000"/>
              <a:buChar char="•"/>
            </a:pPr>
            <a:r>
              <a:rPr lang="en-US" sz="1400" dirty="0">
                <a:solidFill>
                  <a:schemeClr val="tx1"/>
                </a:solidFill>
              </a:rPr>
              <a:t>manifest.json</a:t>
            </a:r>
            <a:endParaRPr lang="en-US" sz="1400" dirty="0"/>
          </a:p>
        </p:txBody>
      </p:sp>
      <p:sp>
        <p:nvSpPr>
          <p:cNvPr id="8" name="Text 6"/>
          <p:cNvSpPr txBox="1"/>
          <p:nvPr/>
        </p:nvSpPr>
        <p:spPr>
          <a:xfrm>
            <a:off x="4343400" y="1371600"/>
            <a:ext cx="3474720" cy="45720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RAP + UI-Annotationen</a:t>
            </a:r>
            <a:endParaRPr lang="en-US" sz="2000" dirty="0"/>
          </a:p>
        </p:txBody>
      </p:sp>
      <p:sp>
        <p:nvSpPr>
          <p:cNvPr id="9" name="RAP + UI-Annotationen SAP"/>
          <p:cNvSpPr/>
          <p:nvPr/>
        </p:nvSpPr>
        <p:spPr>
          <a:xfrm>
            <a:off x="4343400" y="1965960"/>
            <a:ext cx="3474720" cy="2286000"/>
          </a:xfrm>
          <a:prstGeom prst="rect">
            <a:avLst/>
          </a:prstGeom>
          <a:solidFill>
            <a:schemeClr val="accent6"/>
          </a:solidFill>
          <a:ln/>
        </p:spPr>
      </p:sp>
      <p:sp>
        <p:nvSpPr>
          <p:cNvPr id="10" name="Text 8"/>
          <p:cNvSpPr txBox="1"/>
          <p:nvPr/>
        </p:nvSpPr>
        <p:spPr>
          <a:xfrm>
            <a:off x="4480560" y="2057400"/>
            <a:ext cx="3200400" cy="2103120"/>
          </a:xfrm>
          <a:prstGeom prst="rect">
            <a:avLst/>
          </a:prstGeom>
          <a:noFill/>
          <a:ln/>
        </p:spPr>
        <p:txBody>
          <a:bodyPr wrap="square" lIns="0" tIns="0" rIns="0" bIns="0" rtlCol="0" anchor="t"/>
          <a:lstStyle/>
          <a:p>
            <a:pPr indent="0" marL="0">
              <a:spcAft>
                <a:spcPts val="200"/>
              </a:spcAft>
              <a:buNone/>
            </a:pPr>
            <a:r>
              <a:rPr lang="en-US" sz="1400" b="1" dirty="0">
                <a:solidFill>
                  <a:schemeClr val="accent1"/>
                </a:solidFill>
              </a:rPr>
              <a:t>SAP liefert</a:t>
            </a:r>
            <a:endParaRPr lang="en-US" sz="1400" dirty="0"/>
          </a:p>
          <a:p>
            <a:pPr marL="342900" indent="-342900">
              <a:spcAft>
                <a:spcPts val="200"/>
              </a:spcAft>
              <a:buSzPct val="100000"/>
              <a:buChar char="•"/>
            </a:pPr>
            <a:r>
              <a:rPr lang="en-US" sz="1400" dirty="0">
                <a:solidFill>
                  <a:schemeClr val="tx1"/>
                </a:solidFill>
              </a:rPr>
              <a:t>Komplette Oberfläche</a:t>
            </a:r>
            <a:endParaRPr lang="en-US" sz="1400" dirty="0"/>
          </a:p>
          <a:p>
            <a:pPr marL="342900" indent="-342900">
              <a:spcAft>
                <a:spcPts val="200"/>
              </a:spcAft>
              <a:buSzPct val="100000"/>
              <a:buChar char="•"/>
            </a:pPr>
            <a:r>
              <a:rPr lang="en-US" sz="1400" dirty="0">
                <a:solidFill>
                  <a:schemeClr val="tx1"/>
                </a:solidFill>
              </a:rPr>
              <a:t>Draft, Sperren, Transaktion</a:t>
            </a:r>
            <a:endParaRPr lang="en-US" sz="1400" dirty="0"/>
          </a:p>
          <a:p>
            <a:pPr marL="342900" indent="-342900">
              <a:spcAft>
                <a:spcPts val="200"/>
              </a:spcAft>
              <a:buSzPct val="100000"/>
              <a:buChar char="•"/>
            </a:pPr>
            <a:r>
              <a:rPr lang="en-US" sz="1400" dirty="0">
                <a:solidFill>
                  <a:schemeClr val="tx1"/>
                </a:solidFill>
              </a:rPr>
              <a:t>OData-Service-Erzeugung</a:t>
            </a:r>
            <a:endParaRPr lang="en-US" sz="1400" dirty="0"/>
          </a:p>
        </p:txBody>
      </p:sp>
      <p:sp>
        <p:nvSpPr>
          <p:cNvPr id="11" name="RAP + UI-Annotationen Wir"/>
          <p:cNvSpPr/>
          <p:nvPr/>
        </p:nvSpPr>
        <p:spPr>
          <a:xfrm>
            <a:off x="4343400" y="4343400"/>
            <a:ext cx="3474720" cy="1691640"/>
          </a:xfrm>
          <a:prstGeom prst="rect">
            <a:avLst/>
          </a:prstGeom>
          <a:solidFill>
            <a:schemeClr val="accent5"/>
          </a:solidFill>
          <a:ln/>
        </p:spPr>
      </p:sp>
      <p:sp>
        <p:nvSpPr>
          <p:cNvPr id="12" name="Text 10"/>
          <p:cNvSpPr txBox="1"/>
          <p:nvPr/>
        </p:nvSpPr>
        <p:spPr>
          <a:xfrm>
            <a:off x="4480560" y="4434840"/>
            <a:ext cx="3200400" cy="1508760"/>
          </a:xfrm>
          <a:prstGeom prst="rect">
            <a:avLst/>
          </a:prstGeom>
          <a:noFill/>
          <a:ln/>
        </p:spPr>
        <p:txBody>
          <a:bodyPr wrap="square" lIns="0" tIns="0" rIns="0" bIns="0" rtlCol="0" anchor="t"/>
          <a:lstStyle/>
          <a:p>
            <a:pPr indent="0" marL="0">
              <a:spcAft>
                <a:spcPts val="200"/>
              </a:spcAft>
              <a:buNone/>
            </a:pPr>
            <a:r>
              <a:rPr lang="en-US" sz="1400" b="1" dirty="0">
                <a:solidFill>
                  <a:schemeClr val="accent2"/>
                </a:solidFill>
              </a:rPr>
              <a:t>Wir entwickeln &amp; warten</a:t>
            </a:r>
            <a:endParaRPr lang="en-US" sz="1400" dirty="0"/>
          </a:p>
          <a:p>
            <a:pPr marL="342900" indent="-342900">
              <a:spcAft>
                <a:spcPts val="200"/>
              </a:spcAft>
              <a:buSzPct val="100000"/>
              <a:buChar char="•"/>
            </a:pPr>
            <a:r>
              <a:rPr lang="en-US" sz="1400" dirty="0">
                <a:solidFill>
                  <a:schemeClr val="tx1"/>
                </a:solidFill>
              </a:rPr>
              <a:t>CDS-Modell &amp; Verhalten (ABAP)</a:t>
            </a:r>
            <a:endParaRPr lang="en-US" sz="1400" dirty="0"/>
          </a:p>
          <a:p>
            <a:pPr marL="342900" indent="-342900">
              <a:spcAft>
                <a:spcPts val="200"/>
              </a:spcAft>
              <a:buSzPct val="100000"/>
              <a:buChar char="•"/>
            </a:pPr>
            <a:r>
              <a:rPr lang="en-US" sz="1400" dirty="0">
                <a:solidFill>
                  <a:schemeClr val="tx1"/>
                </a:solidFill>
              </a:rPr>
              <a:t>UI-Annotationen im Backend</a:t>
            </a:r>
            <a:endParaRPr lang="en-US" sz="1400" dirty="0"/>
          </a:p>
        </p:txBody>
      </p:sp>
      <p:sp>
        <p:nvSpPr>
          <p:cNvPr id="13" name="Text 11"/>
          <p:cNvSpPr txBox="1"/>
          <p:nvPr/>
        </p:nvSpPr>
        <p:spPr>
          <a:xfrm>
            <a:off x="8138160" y="1371600"/>
            <a:ext cx="3474720" cy="45720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SAPUI5 Freestyle</a:t>
            </a:r>
            <a:endParaRPr lang="en-US" sz="2000" dirty="0"/>
          </a:p>
        </p:txBody>
      </p:sp>
      <p:sp>
        <p:nvSpPr>
          <p:cNvPr id="14" name="SAPUI5 Freestyle SAP"/>
          <p:cNvSpPr/>
          <p:nvPr/>
        </p:nvSpPr>
        <p:spPr>
          <a:xfrm>
            <a:off x="8138160" y="1965960"/>
            <a:ext cx="3474720" cy="1143000"/>
          </a:xfrm>
          <a:prstGeom prst="rect">
            <a:avLst/>
          </a:prstGeom>
          <a:solidFill>
            <a:schemeClr val="accent6"/>
          </a:solidFill>
          <a:ln/>
        </p:spPr>
      </p:sp>
      <p:sp>
        <p:nvSpPr>
          <p:cNvPr id="15" name="Text 13"/>
          <p:cNvSpPr txBox="1"/>
          <p:nvPr/>
        </p:nvSpPr>
        <p:spPr>
          <a:xfrm>
            <a:off x="8275320" y="2057400"/>
            <a:ext cx="3200400" cy="960120"/>
          </a:xfrm>
          <a:prstGeom prst="rect">
            <a:avLst/>
          </a:prstGeom>
          <a:noFill/>
          <a:ln/>
        </p:spPr>
        <p:txBody>
          <a:bodyPr wrap="square" lIns="0" tIns="0" rIns="0" bIns="0" rtlCol="0" anchor="t"/>
          <a:lstStyle/>
          <a:p>
            <a:pPr indent="0" marL="0">
              <a:spcAft>
                <a:spcPts val="200"/>
              </a:spcAft>
              <a:buNone/>
            </a:pPr>
            <a:r>
              <a:rPr lang="en-US" sz="1400" b="1" dirty="0">
                <a:solidFill>
                  <a:schemeClr val="accent1"/>
                </a:solidFill>
              </a:rPr>
              <a:t>SAP liefert</a:t>
            </a:r>
            <a:endParaRPr lang="en-US" sz="1400" dirty="0"/>
          </a:p>
          <a:p>
            <a:pPr marL="342900" indent="-342900">
              <a:spcAft>
                <a:spcPts val="200"/>
              </a:spcAft>
              <a:buSzPct val="100000"/>
              <a:buChar char="•"/>
            </a:pPr>
            <a:r>
              <a:rPr lang="en-US" sz="1400" dirty="0">
                <a:solidFill>
                  <a:schemeClr val="tx1"/>
                </a:solidFill>
              </a:rPr>
              <a:t>UI5-Bibliotheken (Controls)</a:t>
            </a:r>
            <a:endParaRPr lang="en-US" sz="1400" dirty="0"/>
          </a:p>
        </p:txBody>
      </p:sp>
      <p:sp>
        <p:nvSpPr>
          <p:cNvPr id="16" name="SAPUI5 Freestyle Wir"/>
          <p:cNvSpPr/>
          <p:nvPr/>
        </p:nvSpPr>
        <p:spPr>
          <a:xfrm>
            <a:off x="8138160" y="3200400"/>
            <a:ext cx="3474720" cy="2834640"/>
          </a:xfrm>
          <a:prstGeom prst="rect">
            <a:avLst/>
          </a:prstGeom>
          <a:solidFill>
            <a:schemeClr val="accent5"/>
          </a:solidFill>
          <a:ln/>
        </p:spPr>
      </p:sp>
      <p:sp>
        <p:nvSpPr>
          <p:cNvPr id="17" name="Text 15"/>
          <p:cNvSpPr txBox="1"/>
          <p:nvPr/>
        </p:nvSpPr>
        <p:spPr>
          <a:xfrm>
            <a:off x="8275320" y="3291840"/>
            <a:ext cx="3200400" cy="2651760"/>
          </a:xfrm>
          <a:prstGeom prst="rect">
            <a:avLst/>
          </a:prstGeom>
          <a:noFill/>
          <a:ln/>
        </p:spPr>
        <p:txBody>
          <a:bodyPr wrap="square" lIns="0" tIns="0" rIns="0" bIns="0" rtlCol="0" anchor="t"/>
          <a:lstStyle/>
          <a:p>
            <a:pPr indent="0" marL="0">
              <a:spcAft>
                <a:spcPts val="200"/>
              </a:spcAft>
              <a:buNone/>
            </a:pPr>
            <a:r>
              <a:rPr lang="en-US" sz="1400" b="1" dirty="0">
                <a:solidFill>
                  <a:schemeClr val="accent2"/>
                </a:solidFill>
              </a:rPr>
              <a:t>Wir entwickeln &amp; warten</a:t>
            </a:r>
            <a:endParaRPr lang="en-US" sz="1400" dirty="0"/>
          </a:p>
          <a:p>
            <a:pPr marL="342900" indent="-342900">
              <a:spcAft>
                <a:spcPts val="200"/>
              </a:spcAft>
              <a:buSzPct val="100000"/>
              <a:buChar char="•"/>
            </a:pPr>
            <a:r>
              <a:rPr lang="en-US" sz="1400" dirty="0">
                <a:solidFill>
                  <a:schemeClr val="tx1"/>
                </a:solidFill>
              </a:rPr>
              <a:t>Views, Controller, Fragmente</a:t>
            </a:r>
            <a:endParaRPr lang="en-US" sz="1400" dirty="0"/>
          </a:p>
          <a:p>
            <a:pPr marL="342900" indent="-342900">
              <a:spcAft>
                <a:spcPts val="200"/>
              </a:spcAft>
              <a:buSzPct val="100000"/>
              <a:buChar char="•"/>
            </a:pPr>
            <a:r>
              <a:rPr lang="en-US" sz="1400" dirty="0">
                <a:solidFill>
                  <a:schemeClr val="tx1"/>
                </a:solidFill>
              </a:rPr>
              <a:t>Routing, Filter-, Exportlogik</a:t>
            </a:r>
            <a:endParaRPr lang="en-US" sz="1400" dirty="0"/>
          </a:p>
          <a:p>
            <a:pPr marL="342900" indent="-342900">
              <a:spcAft>
                <a:spcPts val="200"/>
              </a:spcAft>
              <a:buSzPct val="100000"/>
              <a:buChar char="•"/>
            </a:pPr>
            <a:r>
              <a:rPr lang="en-US" sz="1400" dirty="0">
                <a:solidFill>
                  <a:schemeClr val="tx1"/>
                </a:solidFill>
              </a:rPr>
              <a:t>Wertehilfen, Fehlerbehandlung</a:t>
            </a:r>
            <a:endParaRPr lang="en-US" sz="1400" dirty="0"/>
          </a:p>
          <a:p>
            <a:pPr marL="342900" indent="-342900">
              <a:spcAft>
                <a:spcPts val="200"/>
              </a:spcAft>
              <a:buSzPct val="100000"/>
              <a:buChar char="•"/>
            </a:pPr>
            <a:r>
              <a:rPr lang="en-US" sz="1400" dirty="0">
                <a:solidFill>
                  <a:schemeClr val="tx1"/>
                </a:solidFill>
              </a:rPr>
              <a:t>Tests, npm-Pakete, Upgrades</a:t>
            </a:r>
            <a:endParaRPr lang="en-US" sz="1400" dirty="0"/>
          </a:p>
        </p:txBody>
      </p:sp>
      <p:sp>
        <p:nvSpPr>
          <p:cNvPr id="18" name="Text 16"/>
          <p:cNvSpPr txBox="1"/>
          <p:nvPr/>
        </p:nvSpPr>
        <p:spPr>
          <a:xfrm>
            <a:off x="548640" y="6080760"/>
            <a:ext cx="10972800" cy="274320"/>
          </a:xfrm>
          <a:prstGeom prst="rect">
            <a:avLst/>
          </a:prstGeom>
          <a:noFill/>
          <a:ln/>
        </p:spPr>
        <p:txBody>
          <a:bodyPr wrap="square" lIns="0" tIns="0" rIns="0" bIns="0" rtlCol="0" anchor="ctr"/>
          <a:lstStyle/>
          <a:p>
            <a:pPr indent="0" marL="0">
              <a:buNone/>
            </a:pPr>
            <a:r>
              <a:rPr lang="en-US" sz="1100" i="1" dirty="0">
                <a:solidFill>
                  <a:schemeClr val="accent4"/>
                </a:solidFill>
              </a:rPr>
              <a:t>Schematische Darstellung: Die Flächen zeigen, wer welchen Teil verantwortet.</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Die Demo: eine Anforderung, zwei Umsetzungen</a:t>
            </a:r>
            <a:endParaRPr lang="en-US" sz="3400" dirty="0"/>
          </a:p>
        </p:txBody>
      </p:sp>
      <p:sp>
        <p:nvSpPr>
          <p:cNvPr id="3" name="Anforderung"/>
          <p:cNvSpPr/>
          <p:nvPr/>
        </p:nvSpPr>
        <p:spPr>
          <a:xfrm>
            <a:off x="548640" y="1325880"/>
            <a:ext cx="11064240" cy="914400"/>
          </a:xfrm>
          <a:prstGeom prst="roundRect">
            <a:avLst>
              <a:gd name="adj" fmla="val 10000"/>
            </a:avLst>
          </a:prstGeom>
          <a:solidFill>
            <a:schemeClr val="bg2"/>
          </a:solidFill>
          <a:ln/>
        </p:spPr>
      </p:sp>
      <p:sp>
        <p:nvSpPr>
          <p:cNvPr id="4" name="Text 2"/>
          <p:cNvSpPr txBox="1"/>
          <p:nvPr/>
        </p:nvSpPr>
        <p:spPr>
          <a:xfrm>
            <a:off x="777240" y="1325880"/>
            <a:ext cx="10607040" cy="914400"/>
          </a:xfrm>
          <a:prstGeom prst="rect">
            <a:avLst/>
          </a:prstGeom>
          <a:noFill/>
          <a:ln/>
        </p:spPr>
        <p:txBody>
          <a:bodyPr wrap="square" lIns="0" tIns="0" rIns="0" bIns="0" rtlCol="0" anchor="ctr"/>
          <a:lstStyle/>
          <a:p>
            <a:pPr indent="0" marL="0">
              <a:buNone/>
            </a:pPr>
            <a:r>
              <a:rPr lang="en-US" sz="1600" i="1" dirty="0">
                <a:solidFill>
                  <a:schemeClr val="tx1"/>
                </a:solidFill>
              </a:rPr>
              <a:t>„Bestellübersicht mit Filter nach Kunde, Land und Datum, Sortierung und Excel-Export. Per Klick die Details mit Kopf-, Versand- und Positionsdaten.“</a:t>
            </a:r>
            <a:endParaRPr lang="en-US" sz="1600" dirty="0"/>
          </a:p>
        </p:txBody>
      </p:sp>
      <p:sp>
        <p:nvSpPr>
          <p:cNvPr id="5" name="Text 3"/>
          <p:cNvSpPr txBox="1"/>
          <p:nvPr/>
        </p:nvSpPr>
        <p:spPr>
          <a:xfrm>
            <a:off x="548640" y="2468880"/>
            <a:ext cx="5394960" cy="365760"/>
          </a:xfrm>
          <a:prstGeom prst="rect">
            <a:avLst/>
          </a:prstGeom>
          <a:noFill/>
          <a:ln/>
        </p:spPr>
        <p:txBody>
          <a:bodyPr wrap="square" lIns="0" tIns="0" rIns="0" bIns="0" rtlCol="0" anchor="ctr"/>
          <a:lstStyle/>
          <a:p>
            <a:pPr indent="0" marL="0">
              <a:buNone/>
            </a:pPr>
            <a:r>
              <a:rPr lang="en-US" sz="1800" b="1" dirty="0">
                <a:solidFill>
                  <a:schemeClr val="accent1"/>
                </a:solidFill>
              </a:rPr>
              <a:t>Fiori Elements</a:t>
            </a:r>
            <a:endParaRPr lang="en-US" sz="1800" dirty="0"/>
          </a:p>
        </p:txBody>
      </p:sp>
      <p:pic>
        <p:nvPicPr>
          <p:cNvPr id="6" name="Screenshot Fiori Elements" descr="Screenshot Fiori Elements">    </p:cNvPr>
          <p:cNvPicPr>
            <a:picLocks noChangeAspect="1"/>
          </p:cNvPicPr>
          <p:nvPr/>
        </p:nvPicPr>
        <p:blipFill>
          <a:blip r:embed="rId1"/>
          <a:stretch>
            <a:fillRect/>
          </a:stretch>
        </p:blipFill>
        <p:spPr>
          <a:xfrm>
            <a:off x="548640" y="2880360"/>
            <a:ext cx="5394960" cy="3273552"/>
          </a:xfrm>
          <a:prstGeom prst="rect">
            <a:avLst/>
          </a:prstGeom>
        </p:spPr>
      </p:pic>
      <p:sp>
        <p:nvSpPr>
          <p:cNvPr id="7" name="Rahmen Fiori Elements"/>
          <p:cNvSpPr/>
          <p:nvPr/>
        </p:nvSpPr>
        <p:spPr>
          <a:xfrm>
            <a:off x="548640" y="2880360"/>
            <a:ext cx="5394960" cy="3273552"/>
          </a:xfrm>
          <a:prstGeom prst="rect">
            <a:avLst/>
          </a:prstGeom>
          <a:ln w="9525">
            <a:solidFill>
              <a:srgbClr val="5E727B"/>
            </a:solidFill>
            <a:prstDash val="solid"/>
          </a:ln>
        </p:spPr>
      </p:sp>
      <p:sp>
        <p:nvSpPr>
          <p:cNvPr id="8" name="Text 5"/>
          <p:cNvSpPr txBox="1"/>
          <p:nvPr/>
        </p:nvSpPr>
        <p:spPr>
          <a:xfrm>
            <a:off x="6217920" y="2468880"/>
            <a:ext cx="5394960" cy="365760"/>
          </a:xfrm>
          <a:prstGeom prst="rect">
            <a:avLst/>
          </a:prstGeom>
          <a:noFill/>
          <a:ln/>
        </p:spPr>
        <p:txBody>
          <a:bodyPr wrap="square" lIns="0" tIns="0" rIns="0" bIns="0" rtlCol="0" anchor="ctr"/>
          <a:lstStyle/>
          <a:p>
            <a:pPr indent="0" marL="0">
              <a:buNone/>
            </a:pPr>
            <a:r>
              <a:rPr lang="en-US" sz="1800" b="1" dirty="0">
                <a:solidFill>
                  <a:schemeClr val="accent2"/>
                </a:solidFill>
              </a:rPr>
              <a:t>SAPUI5 Freestyle</a:t>
            </a:r>
            <a:endParaRPr lang="en-US" sz="1800" dirty="0"/>
          </a:p>
        </p:txBody>
      </p:sp>
      <p:pic>
        <p:nvPicPr>
          <p:cNvPr id="9" name="Screenshot SAPUI5 Freestyle" descr="Screenshot SAPUI5 Freestyle">    </p:cNvPr>
          <p:cNvPicPr>
            <a:picLocks noChangeAspect="1"/>
          </p:cNvPicPr>
          <p:nvPr/>
        </p:nvPicPr>
        <p:blipFill>
          <a:blip r:embed="rId2"/>
          <a:stretch>
            <a:fillRect/>
          </a:stretch>
        </p:blipFill>
        <p:spPr>
          <a:xfrm>
            <a:off x="6217920" y="2880360"/>
            <a:ext cx="5394960" cy="3273552"/>
          </a:xfrm>
          <a:prstGeom prst="rect">
            <a:avLst/>
          </a:prstGeom>
        </p:spPr>
      </p:pic>
      <p:sp>
        <p:nvSpPr>
          <p:cNvPr id="10" name="Rahmen SAPUI5 Freestyle"/>
          <p:cNvSpPr/>
          <p:nvPr/>
        </p:nvSpPr>
        <p:spPr>
          <a:xfrm>
            <a:off x="6217920" y="2880360"/>
            <a:ext cx="5394960" cy="3273552"/>
          </a:xfrm>
          <a:prstGeom prst="rect">
            <a:avLst/>
          </a:prstGeom>
          <a:ln w="9525">
            <a:solidFill>
              <a:srgbClr val="5E727B"/>
            </a:solidFill>
            <a:prstDash val="solid"/>
          </a:ln>
        </p:spPr>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Was hinter der gleichen Oberfläche steckt</a:t>
            </a:r>
            <a:endParaRPr lang="en-US" sz="3400" dirty="0"/>
          </a:p>
        </p:txBody>
      </p:sp>
      <p:sp>
        <p:nvSpPr>
          <p:cNvPr id="3" name="Kennzahl 1"/>
          <p:cNvSpPr/>
          <p:nvPr/>
        </p:nvSpPr>
        <p:spPr>
          <a:xfrm>
            <a:off x="548640" y="1463040"/>
            <a:ext cx="4754880" cy="1965960"/>
          </a:xfrm>
          <a:prstGeom prst="roundRect">
            <a:avLst>
              <a:gd name="adj" fmla="val 5581"/>
            </a:avLst>
          </a:prstGeom>
          <a:solidFill>
            <a:schemeClr val="bg2"/>
          </a:solidFill>
          <a:ln/>
        </p:spPr>
      </p:sp>
      <p:sp>
        <p:nvSpPr>
          <p:cNvPr id="4" name="Text 2"/>
          <p:cNvSpPr txBox="1"/>
          <p:nvPr/>
        </p:nvSpPr>
        <p:spPr>
          <a:xfrm>
            <a:off x="777240" y="1645920"/>
            <a:ext cx="2011680"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8</a:t>
            </a:r>
            <a:endParaRPr lang="en-US" sz="6000" dirty="0"/>
          </a:p>
        </p:txBody>
      </p:sp>
      <p:sp>
        <p:nvSpPr>
          <p:cNvPr id="5" name="Text 3"/>
          <p:cNvSpPr txBox="1"/>
          <p:nvPr/>
        </p:nvSpPr>
        <p:spPr>
          <a:xfrm>
            <a:off x="2377440" y="1874520"/>
            <a:ext cx="548640" cy="640080"/>
          </a:xfrm>
          <a:prstGeom prst="rect">
            <a:avLst/>
          </a:prstGeom>
          <a:noFill/>
          <a:ln/>
        </p:spPr>
        <p:txBody>
          <a:bodyPr wrap="square" lIns="0" tIns="0" rIns="0" bIns="0" rtlCol="0" anchor="ctr"/>
          <a:lstStyle/>
          <a:p>
            <a:pPr indent="0" marL="0">
              <a:buNone/>
            </a:pPr>
            <a:r>
              <a:rPr lang="en-US" sz="1800" dirty="0">
                <a:solidFill>
                  <a:schemeClr val="accent4"/>
                </a:solidFill>
              </a:rPr>
              <a:t>vs.</a:t>
            </a:r>
            <a:endParaRPr lang="en-US" sz="1800" dirty="0"/>
          </a:p>
        </p:txBody>
      </p:sp>
      <p:sp>
        <p:nvSpPr>
          <p:cNvPr id="6" name="Text 4"/>
          <p:cNvSpPr txBox="1"/>
          <p:nvPr/>
        </p:nvSpPr>
        <p:spPr>
          <a:xfrm>
            <a:off x="2926080" y="1645920"/>
            <a:ext cx="2194560" cy="100584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246</a:t>
            </a:r>
            <a:endParaRPr lang="en-US" sz="6000" dirty="0"/>
          </a:p>
        </p:txBody>
      </p:sp>
      <p:sp>
        <p:nvSpPr>
          <p:cNvPr id="7" name="Text 5"/>
          <p:cNvSpPr txBox="1"/>
          <p:nvPr/>
        </p:nvSpPr>
        <p:spPr>
          <a:xfrm>
            <a:off x="777240" y="2697480"/>
            <a:ext cx="4389120" cy="365760"/>
          </a:xfrm>
          <a:prstGeom prst="rect">
            <a:avLst/>
          </a:prstGeom>
          <a:noFill/>
          <a:ln/>
        </p:spPr>
        <p:txBody>
          <a:bodyPr wrap="square" lIns="0" tIns="0" rIns="0" bIns="0" rtlCol="0" anchor="ctr"/>
          <a:lstStyle/>
          <a:p>
            <a:pPr indent="0" marL="0">
              <a:buNone/>
            </a:pPr>
            <a:r>
              <a:rPr lang="en-US" sz="1600" b="1" dirty="0">
                <a:solidFill>
                  <a:schemeClr val="tx1"/>
                </a:solidFill>
              </a:rPr>
              <a:t>Zeilen eigenes JavaScript</a:t>
            </a:r>
            <a:endParaRPr lang="en-US" sz="1600" dirty="0"/>
          </a:p>
        </p:txBody>
      </p:sp>
      <p:sp>
        <p:nvSpPr>
          <p:cNvPr id="8" name="Text 6"/>
          <p:cNvSpPr txBox="1"/>
          <p:nvPr/>
        </p:nvSpPr>
        <p:spPr>
          <a:xfrm>
            <a:off x="777240" y="3017520"/>
            <a:ext cx="4389120" cy="274320"/>
          </a:xfrm>
          <a:prstGeom prst="rect">
            <a:avLst/>
          </a:prstGeom>
          <a:noFill/>
          <a:ln/>
        </p:spPr>
        <p:txBody>
          <a:bodyPr wrap="square" lIns="0" tIns="0" rIns="0" bIns="0" rtlCol="0" anchor="ctr"/>
          <a:lstStyle/>
          <a:p>
            <a:pPr indent="0" marL="0">
              <a:buNone/>
            </a:pPr>
            <a:r>
              <a:rPr lang="en-US" sz="1200" dirty="0">
                <a:solidFill>
                  <a:schemeClr val="accent1"/>
                </a:solidFill>
              </a:rPr>
              <a:t>Fiori Elements</a:t>
            </a:r>
            <a:pPr indent="0" marL="0">
              <a:buNone/>
            </a:pPr>
            <a:r>
              <a:rPr lang="en-US" sz="1200" dirty="0">
                <a:solidFill>
                  <a:schemeClr val="accent4"/>
                </a:solidFill>
              </a:rPr>
              <a:t>  vs.  </a:t>
            </a:r>
            <a:pPr indent="0" marL="0">
              <a:buNone/>
            </a:pPr>
            <a:r>
              <a:rPr lang="en-US" sz="1200" dirty="0">
                <a:solidFill>
                  <a:schemeClr val="accent2"/>
                </a:solidFill>
              </a:rPr>
              <a:t>Freestyle</a:t>
            </a:r>
            <a:endParaRPr lang="en-US" sz="1200" dirty="0"/>
          </a:p>
        </p:txBody>
      </p:sp>
      <p:sp>
        <p:nvSpPr>
          <p:cNvPr id="9" name="Kennzahl 2"/>
          <p:cNvSpPr/>
          <p:nvPr/>
        </p:nvSpPr>
        <p:spPr>
          <a:xfrm>
            <a:off x="548640" y="3703320"/>
            <a:ext cx="4754880" cy="1965960"/>
          </a:xfrm>
          <a:prstGeom prst="roundRect">
            <a:avLst>
              <a:gd name="adj" fmla="val 5581"/>
            </a:avLst>
          </a:prstGeom>
          <a:solidFill>
            <a:schemeClr val="bg2"/>
          </a:solidFill>
          <a:ln/>
        </p:spPr>
      </p:sp>
      <p:sp>
        <p:nvSpPr>
          <p:cNvPr id="10" name="Text 8"/>
          <p:cNvSpPr txBox="1"/>
          <p:nvPr/>
        </p:nvSpPr>
        <p:spPr>
          <a:xfrm>
            <a:off x="777240" y="3886200"/>
            <a:ext cx="2011680"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5</a:t>
            </a:r>
            <a:endParaRPr lang="en-US" sz="6000" dirty="0"/>
          </a:p>
        </p:txBody>
      </p:sp>
      <p:sp>
        <p:nvSpPr>
          <p:cNvPr id="11" name="Text 9"/>
          <p:cNvSpPr txBox="1"/>
          <p:nvPr/>
        </p:nvSpPr>
        <p:spPr>
          <a:xfrm>
            <a:off x="2377440" y="4114800"/>
            <a:ext cx="548640" cy="640080"/>
          </a:xfrm>
          <a:prstGeom prst="rect">
            <a:avLst/>
          </a:prstGeom>
          <a:noFill/>
          <a:ln/>
        </p:spPr>
        <p:txBody>
          <a:bodyPr wrap="square" lIns="0" tIns="0" rIns="0" bIns="0" rtlCol="0" anchor="ctr"/>
          <a:lstStyle/>
          <a:p>
            <a:pPr indent="0" marL="0">
              <a:buNone/>
            </a:pPr>
            <a:r>
              <a:rPr lang="en-US" sz="1800" dirty="0">
                <a:solidFill>
                  <a:schemeClr val="accent4"/>
                </a:solidFill>
              </a:rPr>
              <a:t>vs.</a:t>
            </a:r>
            <a:endParaRPr lang="en-US" sz="1800" dirty="0"/>
          </a:p>
        </p:txBody>
      </p:sp>
      <p:sp>
        <p:nvSpPr>
          <p:cNvPr id="12" name="Text 10"/>
          <p:cNvSpPr txBox="1"/>
          <p:nvPr/>
        </p:nvSpPr>
        <p:spPr>
          <a:xfrm>
            <a:off x="2926080" y="3886200"/>
            <a:ext cx="2194560" cy="100584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15</a:t>
            </a:r>
            <a:endParaRPr lang="en-US" sz="6000" dirty="0"/>
          </a:p>
        </p:txBody>
      </p:sp>
      <p:sp>
        <p:nvSpPr>
          <p:cNvPr id="13" name="Text 11"/>
          <p:cNvSpPr txBox="1"/>
          <p:nvPr/>
        </p:nvSpPr>
        <p:spPr>
          <a:xfrm>
            <a:off x="777240" y="4937760"/>
            <a:ext cx="4389120" cy="365760"/>
          </a:xfrm>
          <a:prstGeom prst="rect">
            <a:avLst/>
          </a:prstGeom>
          <a:noFill/>
          <a:ln/>
        </p:spPr>
        <p:txBody>
          <a:bodyPr wrap="square" lIns="0" tIns="0" rIns="0" bIns="0" rtlCol="0" anchor="ctr"/>
          <a:lstStyle/>
          <a:p>
            <a:pPr indent="0" marL="0">
              <a:buNone/>
            </a:pPr>
            <a:r>
              <a:rPr lang="en-US" sz="1600" b="1" dirty="0">
                <a:solidFill>
                  <a:schemeClr val="tx1"/>
                </a:solidFill>
              </a:rPr>
              <a:t>Dateien in der App</a:t>
            </a:r>
            <a:endParaRPr lang="en-US" sz="1600" dirty="0"/>
          </a:p>
        </p:txBody>
      </p:sp>
      <p:sp>
        <p:nvSpPr>
          <p:cNvPr id="14" name="Text 12"/>
          <p:cNvSpPr txBox="1"/>
          <p:nvPr/>
        </p:nvSpPr>
        <p:spPr>
          <a:xfrm>
            <a:off x="777240" y="5257800"/>
            <a:ext cx="4389120" cy="274320"/>
          </a:xfrm>
          <a:prstGeom prst="rect">
            <a:avLst/>
          </a:prstGeom>
          <a:noFill/>
          <a:ln/>
        </p:spPr>
        <p:txBody>
          <a:bodyPr wrap="square" lIns="0" tIns="0" rIns="0" bIns="0" rtlCol="0" anchor="ctr"/>
          <a:lstStyle/>
          <a:p>
            <a:pPr indent="0" marL="0">
              <a:buNone/>
            </a:pPr>
            <a:r>
              <a:rPr lang="en-US" sz="1200" dirty="0">
                <a:solidFill>
                  <a:schemeClr val="accent1"/>
                </a:solidFill>
              </a:rPr>
              <a:t>Fiori Elements</a:t>
            </a:r>
            <a:pPr indent="0" marL="0">
              <a:buNone/>
            </a:pPr>
            <a:r>
              <a:rPr lang="en-US" sz="1200" dirty="0">
                <a:solidFill>
                  <a:schemeClr val="accent4"/>
                </a:solidFill>
              </a:rPr>
              <a:t>  vs.  </a:t>
            </a:r>
            <a:pPr indent="0" marL="0">
              <a:buNone/>
            </a:pPr>
            <a:r>
              <a:rPr lang="en-US" sz="1200" dirty="0">
                <a:solidFill>
                  <a:schemeClr val="accent2"/>
                </a:solidFill>
              </a:rPr>
              <a:t>Freestyle</a:t>
            </a:r>
            <a:endParaRPr lang="en-US" sz="1200" dirty="0"/>
          </a:p>
        </p:txBody>
      </p:sp>
      <p:graphicFrame>
        <p:nvGraphicFramePr>
          <p:cNvPr id="15" name="Diagramm Codezeilen" descr=""/>
          <p:cNvGraphicFramePr/>
          <p:nvPr/>
        </p:nvGraphicFramePr>
        <p:xfrm>
          <a:off x="5669280" y="1371600"/>
          <a:ext cx="5943600" cy="4343400"/>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5669280" y="5760720"/>
            <a:ext cx="5943600" cy="457200"/>
          </a:xfrm>
          <a:prstGeom prst="rect">
            <a:avLst/>
          </a:prstGeom>
          <a:noFill/>
          <a:ln/>
        </p:spPr>
        <p:txBody>
          <a:bodyPr wrap="square" lIns="0" tIns="0" rIns="0" bIns="0" rtlCol="0" anchor="ctr"/>
          <a:lstStyle/>
          <a:p>
            <a:pPr indent="0" marL="0">
              <a:buNone/>
            </a:pPr>
            <a:r>
              <a:rPr lang="en-US" sz="1300" i="1" dirty="0">
                <a:solidFill>
                  <a:schemeClr val="accent4"/>
                </a:solidFill>
              </a:rPr>
              <a:t>Annotationen sind deklarativ („zeige Feld X“) – ohne Logik, die brechen kann.</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Geschenkt vs. selbst gebaut</a:t>
            </a:r>
            <a:endParaRPr lang="en-US" sz="3400" dirty="0"/>
          </a:p>
        </p:txBody>
      </p:sp>
      <p:graphicFrame>
        <p:nvGraphicFramePr>
          <p:cNvPr id="8" name="Tabelle Funktionen"/>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4297680"/>
                <a:gridCol w="2926080"/>
                <a:gridCol w="3840480"/>
              </a:tblGrid>
              <a:tr h="47548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Funktion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Fiori Elements</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SAPUI5 Freestyle</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Varianten speichern („Meine Sicht“)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eingebaut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fehlt – müsste gebaut werden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Spalten ein-/ausblenden, umsortieren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eingebaut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fehlt – müsste gebaut werden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Weitere Filterfelder, Filter-Operatoren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eingebaut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fehlt – müsste gebaut werden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Excel-Export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eingebaut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Eigenbau (Spalten doppelt gepflegt)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Wertehilfe Kunde</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1 Annotation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Eigenbau (Fragment + 3 Handler)</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Sortieren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eingebaut, mehrstufig</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Eigenbau, nur einstufig</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Barrierefreiheit, Tastatur</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von SAP getestet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unsere Verantwortung</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Neue UX-Features bei Upgrade</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automatisch</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manuell nachbauen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Eine kleine Änderung: Feld „Region“ ergänzen</a:t>
            </a:r>
            <a:endParaRPr lang="en-US" sz="3400" dirty="0"/>
          </a:p>
        </p:txBody>
      </p:sp>
      <p:sp>
        <p:nvSpPr>
          <p:cNvPr id="3" name="Text 1"/>
          <p:cNvSpPr txBox="1"/>
          <p:nvPr/>
        </p:nvSpPr>
        <p:spPr>
          <a:xfrm>
            <a:off x="548640" y="1280160"/>
            <a:ext cx="11064240" cy="365760"/>
          </a:xfrm>
          <a:prstGeom prst="rect">
            <a:avLst/>
          </a:prstGeom>
          <a:noFill/>
          <a:ln/>
        </p:spPr>
        <p:txBody>
          <a:bodyPr wrap="square" lIns="0" tIns="0" rIns="0" bIns="0" rtlCol="0" anchor="ctr"/>
          <a:lstStyle/>
          <a:p>
            <a:pPr indent="0" marL="0">
              <a:buNone/>
            </a:pPr>
            <a:r>
              <a:rPr lang="en-US" sz="1600" dirty="0">
                <a:solidFill>
                  <a:schemeClr val="accent4"/>
                </a:solidFill>
              </a:rPr>
              <a:t>Anforderung: Region als Spalte, als Filter und auf der Detailseite.</a:t>
            </a:r>
            <a:endParaRPr lang="en-US" sz="1600" dirty="0"/>
          </a:p>
        </p:txBody>
      </p:sp>
      <p:sp>
        <p:nvSpPr>
          <p:cNvPr id="4" name="Änderung FE"/>
          <p:cNvSpPr/>
          <p:nvPr/>
        </p:nvSpPr>
        <p:spPr>
          <a:xfrm>
            <a:off x="548640" y="1828800"/>
            <a:ext cx="4206240" cy="4297680"/>
          </a:xfrm>
          <a:prstGeom prst="roundRect">
            <a:avLst>
              <a:gd name="adj" fmla="val 2609"/>
            </a:avLst>
          </a:prstGeom>
          <a:solidFill>
            <a:schemeClr val="accent6"/>
          </a:solidFill>
          <a:ln/>
        </p:spPr>
      </p:sp>
      <p:sp>
        <p:nvSpPr>
          <p:cNvPr id="5" name="Text 3"/>
          <p:cNvSpPr txBox="1"/>
          <p:nvPr/>
        </p:nvSpPr>
        <p:spPr>
          <a:xfrm>
            <a:off x="822960" y="2011680"/>
            <a:ext cx="3657600" cy="411480"/>
          </a:xfrm>
          <a:prstGeom prst="rect">
            <a:avLst/>
          </a:prstGeom>
          <a:noFill/>
          <a:ln/>
        </p:spPr>
        <p:txBody>
          <a:bodyPr wrap="square" lIns="0" tIns="0" rIns="0" bIns="0" rtlCol="0" anchor="ctr"/>
          <a:lstStyle/>
          <a:p>
            <a:pPr indent="0" marL="0">
              <a:buNone/>
            </a:pPr>
            <a:r>
              <a:rPr lang="en-US" sz="1800" b="1" dirty="0">
                <a:solidFill>
                  <a:schemeClr val="accent1"/>
                </a:solidFill>
              </a:rPr>
              <a:t>Fiori Elements</a:t>
            </a:r>
            <a:endParaRPr lang="en-US" sz="1800" dirty="0"/>
          </a:p>
        </p:txBody>
      </p:sp>
      <p:sp>
        <p:nvSpPr>
          <p:cNvPr id="6" name="Text 4"/>
          <p:cNvSpPr txBox="1"/>
          <p:nvPr/>
        </p:nvSpPr>
        <p:spPr>
          <a:xfrm>
            <a:off x="822960" y="2468880"/>
            <a:ext cx="3657600" cy="73152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 Datei · 3 Stellen</a:t>
            </a:r>
            <a:endParaRPr lang="en-US" sz="3200" dirty="0"/>
          </a:p>
        </p:txBody>
      </p:sp>
      <p:sp>
        <p:nvSpPr>
          <p:cNvPr id="7" name="Text 5"/>
          <p:cNvSpPr txBox="1"/>
          <p:nvPr/>
        </p:nvSpPr>
        <p:spPr>
          <a:xfrm>
            <a:off x="822960" y="3383280"/>
            <a:ext cx="3657600" cy="2286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annotation.xml: Filter, Spalte, Detailfeld + Label</a:t>
            </a:r>
            <a:endParaRPr lang="en-US" sz="1500" dirty="0"/>
          </a:p>
          <a:p>
            <a:pPr marL="342900" indent="-342900">
              <a:spcAft>
                <a:spcPts val="600"/>
              </a:spcAft>
              <a:buSzPct val="100000"/>
              <a:buChar char="•"/>
            </a:pPr>
            <a:r>
              <a:rPr lang="en-US" sz="1500" dirty="0">
                <a:solidFill>
                  <a:schemeClr val="tx1"/>
                </a:solidFill>
              </a:rPr>
              <a:t>Export, Sortierung und Personalisierung kommen automatisch mit</a:t>
            </a:r>
            <a:endParaRPr lang="en-US" sz="1500" dirty="0"/>
          </a:p>
        </p:txBody>
      </p:sp>
      <p:sp>
        <p:nvSpPr>
          <p:cNvPr id="8" name="Änderung Freestyle"/>
          <p:cNvSpPr/>
          <p:nvPr/>
        </p:nvSpPr>
        <p:spPr>
          <a:xfrm>
            <a:off x="5029200" y="1828800"/>
            <a:ext cx="6583680" cy="4297680"/>
          </a:xfrm>
          <a:prstGeom prst="roundRect">
            <a:avLst>
              <a:gd name="adj" fmla="val 2553"/>
            </a:avLst>
          </a:prstGeom>
          <a:solidFill>
            <a:schemeClr val="accent5"/>
          </a:solidFill>
          <a:ln/>
        </p:spPr>
      </p:sp>
      <p:sp>
        <p:nvSpPr>
          <p:cNvPr id="9" name="Text 7"/>
          <p:cNvSpPr txBox="1"/>
          <p:nvPr/>
        </p:nvSpPr>
        <p:spPr>
          <a:xfrm>
            <a:off x="5303520" y="2011680"/>
            <a:ext cx="6035040" cy="411480"/>
          </a:xfrm>
          <a:prstGeom prst="rect">
            <a:avLst/>
          </a:prstGeom>
          <a:noFill/>
          <a:ln/>
        </p:spPr>
        <p:txBody>
          <a:bodyPr wrap="square" lIns="0" tIns="0" rIns="0" bIns="0" rtlCol="0" anchor="ctr"/>
          <a:lstStyle/>
          <a:p>
            <a:pPr indent="0" marL="0">
              <a:buNone/>
            </a:pPr>
            <a:r>
              <a:rPr lang="en-US" sz="1800" b="1" dirty="0">
                <a:solidFill>
                  <a:schemeClr val="accent2"/>
                </a:solidFill>
              </a:rPr>
              <a:t>SAPUI5 Freestyle</a:t>
            </a:r>
            <a:endParaRPr lang="en-US" sz="1800" dirty="0"/>
          </a:p>
        </p:txBody>
      </p:sp>
      <p:sp>
        <p:nvSpPr>
          <p:cNvPr id="10" name="Text 8"/>
          <p:cNvSpPr txBox="1"/>
          <p:nvPr/>
        </p:nvSpPr>
        <p:spPr>
          <a:xfrm>
            <a:off x="5303520" y="2468880"/>
            <a:ext cx="6035040" cy="73152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5 Dateien · 8 Stellen</a:t>
            </a:r>
            <a:endParaRPr lang="en-US" sz="3200" dirty="0"/>
          </a:p>
        </p:txBody>
      </p:sp>
      <p:sp>
        <p:nvSpPr>
          <p:cNvPr id="11" name="Datei i18n.properties"/>
          <p:cNvSpPr/>
          <p:nvPr/>
        </p:nvSpPr>
        <p:spPr>
          <a:xfrm>
            <a:off x="5303520" y="3337560"/>
            <a:ext cx="2743200" cy="420624"/>
          </a:xfrm>
          <a:prstGeom prst="roundRect">
            <a:avLst>
              <a:gd name="adj" fmla="val 17391"/>
            </a:avLst>
          </a:prstGeom>
          <a:solidFill>
            <a:schemeClr val="bg1"/>
          </a:solidFill>
          <a:ln/>
        </p:spPr>
      </p:sp>
      <p:sp>
        <p:nvSpPr>
          <p:cNvPr id="12" name="Text 10"/>
          <p:cNvSpPr txBox="1"/>
          <p:nvPr/>
        </p:nvSpPr>
        <p:spPr>
          <a:xfrm>
            <a:off x="5394960" y="3337560"/>
            <a:ext cx="2651760" cy="420624"/>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i18n.properties</a:t>
            </a:r>
            <a:endParaRPr lang="en-US" sz="1300" dirty="0"/>
          </a:p>
        </p:txBody>
      </p:sp>
      <p:sp>
        <p:nvSpPr>
          <p:cNvPr id="13" name="Text 11"/>
          <p:cNvSpPr txBox="1"/>
          <p:nvPr/>
        </p:nvSpPr>
        <p:spPr>
          <a:xfrm>
            <a:off x="8229600" y="3337560"/>
            <a:ext cx="3200400" cy="420624"/>
          </a:xfrm>
          <a:prstGeom prst="rect">
            <a:avLst/>
          </a:prstGeom>
          <a:noFill/>
          <a:ln/>
        </p:spPr>
        <p:txBody>
          <a:bodyPr wrap="square" lIns="0" tIns="0" rIns="0" bIns="0" rtlCol="0" anchor="ctr"/>
          <a:lstStyle/>
          <a:p>
            <a:pPr indent="0" marL="0">
              <a:buNone/>
            </a:pPr>
            <a:r>
              <a:rPr lang="en-US" sz="1400" dirty="0">
                <a:solidFill>
                  <a:schemeClr val="tx1"/>
                </a:solidFill>
              </a:rPr>
              <a:t>neuer Text</a:t>
            </a:r>
            <a:endParaRPr lang="en-US" sz="1400" dirty="0"/>
          </a:p>
        </p:txBody>
      </p:sp>
      <p:sp>
        <p:nvSpPr>
          <p:cNvPr id="14" name="Datei Worklist.view.xml"/>
          <p:cNvSpPr/>
          <p:nvPr/>
        </p:nvSpPr>
        <p:spPr>
          <a:xfrm>
            <a:off x="5303520" y="3867912"/>
            <a:ext cx="2743200" cy="420624"/>
          </a:xfrm>
          <a:prstGeom prst="roundRect">
            <a:avLst>
              <a:gd name="adj" fmla="val 17391"/>
            </a:avLst>
          </a:prstGeom>
          <a:solidFill>
            <a:schemeClr val="bg1"/>
          </a:solidFill>
          <a:ln/>
        </p:spPr>
      </p:sp>
      <p:sp>
        <p:nvSpPr>
          <p:cNvPr id="15" name="Text 13"/>
          <p:cNvSpPr txBox="1"/>
          <p:nvPr/>
        </p:nvSpPr>
        <p:spPr>
          <a:xfrm>
            <a:off x="5394960" y="3867912"/>
            <a:ext cx="2651760" cy="420624"/>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Worklist.view.xml</a:t>
            </a:r>
            <a:endParaRPr lang="en-US" sz="1300" dirty="0"/>
          </a:p>
        </p:txBody>
      </p:sp>
      <p:sp>
        <p:nvSpPr>
          <p:cNvPr id="16" name="Text 14"/>
          <p:cNvSpPr txBox="1"/>
          <p:nvPr/>
        </p:nvSpPr>
        <p:spPr>
          <a:xfrm>
            <a:off x="8229600" y="3867912"/>
            <a:ext cx="3200400" cy="420624"/>
          </a:xfrm>
          <a:prstGeom prst="rect">
            <a:avLst/>
          </a:prstGeom>
          <a:noFill/>
          <a:ln/>
        </p:spPr>
        <p:txBody>
          <a:bodyPr wrap="square" lIns="0" tIns="0" rIns="0" bIns="0" rtlCol="0" anchor="ctr"/>
          <a:lstStyle/>
          <a:p>
            <a:pPr indent="0" marL="0">
              <a:buNone/>
            </a:pPr>
            <a:r>
              <a:rPr lang="en-US" sz="1400" dirty="0">
                <a:solidFill>
                  <a:schemeClr val="tx1"/>
                </a:solidFill>
              </a:rPr>
              <a:t>Filterfeld, Spalte, Zelle</a:t>
            </a:r>
            <a:endParaRPr lang="en-US" sz="1400" dirty="0"/>
          </a:p>
        </p:txBody>
      </p:sp>
      <p:sp>
        <p:nvSpPr>
          <p:cNvPr id="17" name="Datei Worklist.controller.js"/>
          <p:cNvSpPr/>
          <p:nvPr/>
        </p:nvSpPr>
        <p:spPr>
          <a:xfrm>
            <a:off x="5303520" y="4398264"/>
            <a:ext cx="2743200" cy="420624"/>
          </a:xfrm>
          <a:prstGeom prst="roundRect">
            <a:avLst>
              <a:gd name="adj" fmla="val 17391"/>
            </a:avLst>
          </a:prstGeom>
          <a:solidFill>
            <a:schemeClr val="bg1"/>
          </a:solidFill>
          <a:ln/>
        </p:spPr>
      </p:sp>
      <p:sp>
        <p:nvSpPr>
          <p:cNvPr id="18" name="Text 16"/>
          <p:cNvSpPr txBox="1"/>
          <p:nvPr/>
        </p:nvSpPr>
        <p:spPr>
          <a:xfrm>
            <a:off x="5394960" y="4398264"/>
            <a:ext cx="2651760" cy="420624"/>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Worklist.controller.js</a:t>
            </a:r>
            <a:endParaRPr lang="en-US" sz="1300" dirty="0"/>
          </a:p>
        </p:txBody>
      </p:sp>
      <p:sp>
        <p:nvSpPr>
          <p:cNvPr id="19" name="Text 17"/>
          <p:cNvSpPr txBox="1"/>
          <p:nvPr/>
        </p:nvSpPr>
        <p:spPr>
          <a:xfrm>
            <a:off x="8229600" y="4398264"/>
            <a:ext cx="3200400" cy="420624"/>
          </a:xfrm>
          <a:prstGeom prst="rect">
            <a:avLst/>
          </a:prstGeom>
          <a:noFill/>
          <a:ln/>
        </p:spPr>
        <p:txBody>
          <a:bodyPr wrap="square" lIns="0" tIns="0" rIns="0" bIns="0" rtlCol="0" anchor="ctr"/>
          <a:lstStyle/>
          <a:p>
            <a:pPr indent="0" marL="0">
              <a:buNone/>
            </a:pPr>
            <a:r>
              <a:rPr lang="en-US" sz="1400" dirty="0">
                <a:solidFill>
                  <a:schemeClr val="tx1"/>
                </a:solidFill>
              </a:rPr>
              <a:t>Filterlogik, Reset, Export</a:t>
            </a:r>
            <a:endParaRPr lang="en-US" sz="1400" dirty="0"/>
          </a:p>
        </p:txBody>
      </p:sp>
      <p:sp>
        <p:nvSpPr>
          <p:cNvPr id="20" name="Datei SortDialog.fragment.xml"/>
          <p:cNvSpPr/>
          <p:nvPr/>
        </p:nvSpPr>
        <p:spPr>
          <a:xfrm>
            <a:off x="5303520" y="4928616"/>
            <a:ext cx="2743200" cy="420624"/>
          </a:xfrm>
          <a:prstGeom prst="roundRect">
            <a:avLst>
              <a:gd name="adj" fmla="val 17391"/>
            </a:avLst>
          </a:prstGeom>
          <a:solidFill>
            <a:schemeClr val="bg1"/>
          </a:solidFill>
          <a:ln/>
        </p:spPr>
      </p:sp>
      <p:sp>
        <p:nvSpPr>
          <p:cNvPr id="21" name="Text 19"/>
          <p:cNvSpPr txBox="1"/>
          <p:nvPr/>
        </p:nvSpPr>
        <p:spPr>
          <a:xfrm>
            <a:off x="5394960" y="4928616"/>
            <a:ext cx="2651760" cy="420624"/>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SortDialog.fragment.xml</a:t>
            </a:r>
            <a:endParaRPr lang="en-US" sz="1300" dirty="0"/>
          </a:p>
        </p:txBody>
      </p:sp>
      <p:sp>
        <p:nvSpPr>
          <p:cNvPr id="22" name="Text 20"/>
          <p:cNvSpPr txBox="1"/>
          <p:nvPr/>
        </p:nvSpPr>
        <p:spPr>
          <a:xfrm>
            <a:off x="8229600" y="4928616"/>
            <a:ext cx="3200400" cy="420624"/>
          </a:xfrm>
          <a:prstGeom prst="rect">
            <a:avLst/>
          </a:prstGeom>
          <a:noFill/>
          <a:ln/>
        </p:spPr>
        <p:txBody>
          <a:bodyPr wrap="square" lIns="0" tIns="0" rIns="0" bIns="0" rtlCol="0" anchor="ctr"/>
          <a:lstStyle/>
          <a:p>
            <a:pPr indent="0" marL="0">
              <a:buNone/>
            </a:pPr>
            <a:r>
              <a:rPr lang="en-US" sz="1400" dirty="0">
                <a:solidFill>
                  <a:schemeClr val="tx1"/>
                </a:solidFill>
              </a:rPr>
              <a:t>Sortieroption</a:t>
            </a:r>
            <a:endParaRPr lang="en-US" sz="1400" dirty="0"/>
          </a:p>
        </p:txBody>
      </p:sp>
      <p:sp>
        <p:nvSpPr>
          <p:cNvPr id="23" name="Datei Detail.view.xml"/>
          <p:cNvSpPr/>
          <p:nvPr/>
        </p:nvSpPr>
        <p:spPr>
          <a:xfrm>
            <a:off x="5303520" y="5458968"/>
            <a:ext cx="2743200" cy="420624"/>
          </a:xfrm>
          <a:prstGeom prst="roundRect">
            <a:avLst>
              <a:gd name="adj" fmla="val 17391"/>
            </a:avLst>
          </a:prstGeom>
          <a:solidFill>
            <a:schemeClr val="bg1"/>
          </a:solidFill>
          <a:ln/>
        </p:spPr>
      </p:sp>
      <p:sp>
        <p:nvSpPr>
          <p:cNvPr id="24" name="Text 22"/>
          <p:cNvSpPr txBox="1"/>
          <p:nvPr/>
        </p:nvSpPr>
        <p:spPr>
          <a:xfrm>
            <a:off x="5394960" y="5458968"/>
            <a:ext cx="2651760" cy="420624"/>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Detail.view.xml</a:t>
            </a:r>
            <a:endParaRPr lang="en-US" sz="1300" dirty="0"/>
          </a:p>
        </p:txBody>
      </p:sp>
      <p:sp>
        <p:nvSpPr>
          <p:cNvPr id="25" name="Text 23"/>
          <p:cNvSpPr txBox="1"/>
          <p:nvPr/>
        </p:nvSpPr>
        <p:spPr>
          <a:xfrm>
            <a:off x="8229600" y="5458968"/>
            <a:ext cx="3200400" cy="420624"/>
          </a:xfrm>
          <a:prstGeom prst="rect">
            <a:avLst/>
          </a:prstGeom>
          <a:noFill/>
          <a:ln/>
        </p:spPr>
        <p:txBody>
          <a:bodyPr wrap="square" lIns="0" tIns="0" rIns="0" bIns="0" rtlCol="0" anchor="ctr"/>
          <a:lstStyle/>
          <a:p>
            <a:pPr indent="0" marL="0">
              <a:buNone/>
            </a:pPr>
            <a:r>
              <a:rPr lang="en-US" sz="1400" dirty="0">
                <a:solidFill>
                  <a:schemeClr val="tx1"/>
                </a:solidFill>
              </a:rPr>
              <a:t>Label + Feld</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Freestyle heißt: Wir sind in der Pflicht</a:t>
            </a:r>
            <a:endParaRPr lang="en-US" sz="3400" dirty="0"/>
          </a:p>
        </p:txBody>
      </p:sp>
      <p:sp>
        <p:nvSpPr>
          <p:cNvPr id="3" name="Paketmanagement Kreis"/>
          <p:cNvSpPr/>
          <p:nvPr/>
        </p:nvSpPr>
        <p:spPr>
          <a:xfrm>
            <a:off x="548640" y="1463040"/>
            <a:ext cx="731520" cy="731520"/>
          </a:xfrm>
          <a:prstGeom prst="ellipse">
            <a:avLst/>
          </a:prstGeom>
          <a:solidFill>
            <a:schemeClr val="accent2"/>
          </a:solidFill>
          <a:ln/>
        </p:spPr>
      </p:sp>
      <p:pic>
        <p:nvPicPr>
          <p:cNvPr id="4" name="Paketmanagement Icon" descr="Paketmanagement">    </p:cNvPr>
          <p:cNvPicPr>
            <a:picLocks noChangeAspect="1"/>
          </p:cNvPicPr>
          <p:nvPr/>
        </p:nvPicPr>
        <p:blipFill>
          <a:blip r:embed="rId1"/>
          <a:stretch>
            <a:fillRect/>
          </a:stretch>
        </p:blipFill>
        <p:spPr>
          <a:xfrm>
            <a:off x="731520" y="1645920"/>
            <a:ext cx="365760" cy="365760"/>
          </a:xfrm>
          <a:prstGeom prst="rect">
            <a:avLst/>
          </a:prstGeom>
        </p:spPr>
      </p:pic>
      <p:sp>
        <p:nvSpPr>
          <p:cNvPr id="5" name="Text 2"/>
          <p:cNvSpPr txBox="1"/>
          <p:nvPr/>
        </p:nvSpPr>
        <p:spPr>
          <a:xfrm>
            <a:off x="1508760" y="14173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Paketmanagement</a:t>
            </a:r>
            <a:endParaRPr lang="en-US" sz="1800" dirty="0"/>
          </a:p>
        </p:txBody>
      </p:sp>
      <p:sp>
        <p:nvSpPr>
          <p:cNvPr id="6" name="Text 3"/>
          <p:cNvSpPr txBox="1"/>
          <p:nvPr/>
        </p:nvSpPr>
        <p:spPr>
          <a:xfrm>
            <a:off x="1508760" y="1828800"/>
            <a:ext cx="4389120" cy="960120"/>
          </a:xfrm>
          <a:prstGeom prst="rect">
            <a:avLst/>
          </a:prstGeom>
          <a:noFill/>
          <a:ln/>
        </p:spPr>
        <p:txBody>
          <a:bodyPr wrap="square" lIns="0" tIns="0" rIns="0" bIns="0" rtlCol="0" anchor="t"/>
          <a:lstStyle/>
          <a:p>
            <a:pPr indent="0" marL="0">
              <a:buNone/>
            </a:pPr>
            <a:r>
              <a:rPr lang="en-US" sz="1400" dirty="0">
                <a:solidFill>
                  <a:schemeClr val="tx1"/>
                </a:solidFill>
              </a:rPr>
              <a:t>Jede App hat ihre eigene package.json. Schon das Tooling der Demo: 538 npm-Pakete, die aktuell gehalten werden müssen.</a:t>
            </a:r>
            <a:endParaRPr lang="en-US" sz="1400" dirty="0"/>
          </a:p>
        </p:txBody>
      </p:sp>
      <p:sp>
        <p:nvSpPr>
          <p:cNvPr id="7" name="UI5-Upgrades Kreis"/>
          <p:cNvSpPr/>
          <p:nvPr/>
        </p:nvSpPr>
        <p:spPr>
          <a:xfrm>
            <a:off x="6217920" y="1463040"/>
            <a:ext cx="731520" cy="731520"/>
          </a:xfrm>
          <a:prstGeom prst="ellipse">
            <a:avLst/>
          </a:prstGeom>
          <a:solidFill>
            <a:schemeClr val="accent2"/>
          </a:solidFill>
          <a:ln/>
        </p:spPr>
      </p:sp>
      <p:pic>
        <p:nvPicPr>
          <p:cNvPr id="8" name="UI5-Upgrades Icon" descr="UI5-Upgrades">    </p:cNvPr>
          <p:cNvPicPr>
            <a:picLocks noChangeAspect="1"/>
          </p:cNvPicPr>
          <p:nvPr/>
        </p:nvPicPr>
        <p:blipFill>
          <a:blip r:embed="rId2"/>
          <a:stretch>
            <a:fillRect/>
          </a:stretch>
        </p:blipFill>
        <p:spPr>
          <a:xfrm>
            <a:off x="6400800" y="1645920"/>
            <a:ext cx="365760" cy="365760"/>
          </a:xfrm>
          <a:prstGeom prst="rect">
            <a:avLst/>
          </a:prstGeom>
        </p:spPr>
      </p:pic>
      <p:sp>
        <p:nvSpPr>
          <p:cNvPr id="9" name="Text 5"/>
          <p:cNvSpPr txBox="1"/>
          <p:nvPr/>
        </p:nvSpPr>
        <p:spPr>
          <a:xfrm>
            <a:off x="7178040" y="14173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UI5-Upgrades</a:t>
            </a:r>
            <a:endParaRPr lang="en-US" sz="1800" dirty="0"/>
          </a:p>
        </p:txBody>
      </p:sp>
      <p:sp>
        <p:nvSpPr>
          <p:cNvPr id="10" name="Text 6"/>
          <p:cNvSpPr txBox="1"/>
          <p:nvPr/>
        </p:nvSpPr>
        <p:spPr>
          <a:xfrm>
            <a:off x="7178040" y="1828800"/>
            <a:ext cx="4389120" cy="960120"/>
          </a:xfrm>
          <a:prstGeom prst="rect">
            <a:avLst/>
          </a:prstGeom>
          <a:noFill/>
          <a:ln/>
        </p:spPr>
        <p:txBody>
          <a:bodyPr wrap="square" lIns="0" tIns="0" rIns="0" bIns="0" rtlCol="0" anchor="t"/>
          <a:lstStyle/>
          <a:p>
            <a:pPr indent="0" marL="0">
              <a:buNone/>
            </a:pPr>
            <a:r>
              <a:rPr lang="en-US" sz="1400" dirty="0">
                <a:solidFill>
                  <a:schemeClr val="tx1"/>
                </a:solidFill>
              </a:rPr>
              <a:t>Veraltete APIs fallen weg (UI5 2.x). Jede Freestyle-App muss geprüft und migriert werden.</a:t>
            </a:r>
            <a:endParaRPr lang="en-US" sz="1400" dirty="0"/>
          </a:p>
        </p:txBody>
      </p:sp>
      <p:sp>
        <p:nvSpPr>
          <p:cNvPr id="11" name="Custom-Code-Logik Kreis"/>
          <p:cNvSpPr/>
          <p:nvPr/>
        </p:nvSpPr>
        <p:spPr>
          <a:xfrm>
            <a:off x="548640" y="3063240"/>
            <a:ext cx="731520" cy="731520"/>
          </a:xfrm>
          <a:prstGeom prst="ellipse">
            <a:avLst/>
          </a:prstGeom>
          <a:solidFill>
            <a:schemeClr val="accent2"/>
          </a:solidFill>
          <a:ln/>
        </p:spPr>
      </p:sp>
      <p:pic>
        <p:nvPicPr>
          <p:cNvPr id="12" name="Custom-Code-Logik Icon" descr="Custom-Code-Logik">    </p:cNvPr>
          <p:cNvPicPr>
            <a:picLocks noChangeAspect="1"/>
          </p:cNvPicPr>
          <p:nvPr/>
        </p:nvPicPr>
        <p:blipFill>
          <a:blip r:embed="rId3"/>
          <a:stretch>
            <a:fillRect/>
          </a:stretch>
        </p:blipFill>
        <p:spPr>
          <a:xfrm>
            <a:off x="731520" y="3246120"/>
            <a:ext cx="365760" cy="365760"/>
          </a:xfrm>
          <a:prstGeom prst="rect">
            <a:avLst/>
          </a:prstGeom>
        </p:spPr>
      </p:pic>
      <p:sp>
        <p:nvSpPr>
          <p:cNvPr id="13" name="Text 8"/>
          <p:cNvSpPr txBox="1"/>
          <p:nvPr/>
        </p:nvSpPr>
        <p:spPr>
          <a:xfrm>
            <a:off x="1508760" y="30175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Custom-Code-Logik</a:t>
            </a:r>
            <a:endParaRPr lang="en-US" sz="1800" dirty="0"/>
          </a:p>
        </p:txBody>
      </p:sp>
      <p:sp>
        <p:nvSpPr>
          <p:cNvPr id="14" name="Text 9"/>
          <p:cNvSpPr txBox="1"/>
          <p:nvPr/>
        </p:nvSpPr>
        <p:spPr>
          <a:xfrm>
            <a:off x="1508760" y="3429000"/>
            <a:ext cx="4389120" cy="960120"/>
          </a:xfrm>
          <a:prstGeom prst="rect">
            <a:avLst/>
          </a:prstGeom>
          <a:noFill/>
          <a:ln/>
        </p:spPr>
        <p:txBody>
          <a:bodyPr wrap="square" lIns="0" tIns="0" rIns="0" bIns="0" rtlCol="0" anchor="t"/>
          <a:lstStyle/>
          <a:p>
            <a:pPr indent="0" marL="0">
              <a:buNone/>
            </a:pPr>
            <a:r>
              <a:rPr lang="en-US" sz="1400" dirty="0">
                <a:solidFill>
                  <a:schemeClr val="tx1"/>
                </a:solidFill>
              </a:rPr>
              <a:t>Filter, Export, Navigation, Fehlerbehandlung: alles selbst programmiert, alles selbst zu warten.</a:t>
            </a:r>
            <a:endParaRPr lang="en-US" sz="1400" dirty="0"/>
          </a:p>
        </p:txBody>
      </p:sp>
      <p:sp>
        <p:nvSpPr>
          <p:cNvPr id="15" name="Tests Kreis"/>
          <p:cNvSpPr/>
          <p:nvPr/>
        </p:nvSpPr>
        <p:spPr>
          <a:xfrm>
            <a:off x="6217920" y="3063240"/>
            <a:ext cx="731520" cy="731520"/>
          </a:xfrm>
          <a:prstGeom prst="ellipse">
            <a:avLst/>
          </a:prstGeom>
          <a:solidFill>
            <a:schemeClr val="accent2"/>
          </a:solidFill>
          <a:ln/>
        </p:spPr>
      </p:sp>
      <p:pic>
        <p:nvPicPr>
          <p:cNvPr id="16" name="Tests Icon" descr="Tests">    </p:cNvPr>
          <p:cNvPicPr>
            <a:picLocks noChangeAspect="1"/>
          </p:cNvPicPr>
          <p:nvPr/>
        </p:nvPicPr>
        <p:blipFill>
          <a:blip r:embed="rId4"/>
          <a:stretch>
            <a:fillRect/>
          </a:stretch>
        </p:blipFill>
        <p:spPr>
          <a:xfrm>
            <a:off x="6400800" y="3246120"/>
            <a:ext cx="365760" cy="365760"/>
          </a:xfrm>
          <a:prstGeom prst="rect">
            <a:avLst/>
          </a:prstGeom>
        </p:spPr>
      </p:pic>
      <p:sp>
        <p:nvSpPr>
          <p:cNvPr id="17" name="Text 11"/>
          <p:cNvSpPr txBox="1"/>
          <p:nvPr/>
        </p:nvSpPr>
        <p:spPr>
          <a:xfrm>
            <a:off x="7178040" y="30175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Tests</a:t>
            </a:r>
            <a:endParaRPr lang="en-US" sz="1800" dirty="0"/>
          </a:p>
        </p:txBody>
      </p:sp>
      <p:sp>
        <p:nvSpPr>
          <p:cNvPr id="18" name="Text 12"/>
          <p:cNvSpPr txBox="1"/>
          <p:nvPr/>
        </p:nvSpPr>
        <p:spPr>
          <a:xfrm>
            <a:off x="7178040" y="3429000"/>
            <a:ext cx="4389120" cy="960120"/>
          </a:xfrm>
          <a:prstGeom prst="rect">
            <a:avLst/>
          </a:prstGeom>
          <a:noFill/>
          <a:ln/>
        </p:spPr>
        <p:txBody>
          <a:bodyPr wrap="square" lIns="0" tIns="0" rIns="0" bIns="0" rtlCol="0" anchor="t"/>
          <a:lstStyle/>
          <a:p>
            <a:pPr indent="0" marL="0">
              <a:buNone/>
            </a:pPr>
            <a:r>
              <a:rPr lang="en-US" sz="1400" dirty="0">
                <a:solidFill>
                  <a:schemeClr val="tx1"/>
                </a:solidFill>
              </a:rPr>
              <a:t>Unit- und Oberflächentests (QUnit, OPA5) schreiben und pflegen – sonst bricht jedes Upgrade unbemerkt.</a:t>
            </a:r>
            <a:endParaRPr lang="en-US" sz="1400" dirty="0"/>
          </a:p>
        </p:txBody>
      </p:sp>
      <p:sp>
        <p:nvSpPr>
          <p:cNvPr id="19" name="Know-how Kreis"/>
          <p:cNvSpPr/>
          <p:nvPr/>
        </p:nvSpPr>
        <p:spPr>
          <a:xfrm>
            <a:off x="548640" y="4663440"/>
            <a:ext cx="731520" cy="731520"/>
          </a:xfrm>
          <a:prstGeom prst="ellipse">
            <a:avLst/>
          </a:prstGeom>
          <a:solidFill>
            <a:schemeClr val="accent2"/>
          </a:solidFill>
          <a:ln/>
        </p:spPr>
      </p:sp>
      <p:pic>
        <p:nvPicPr>
          <p:cNvPr id="20" name="Know-how Icon" descr="Know-how">    </p:cNvPr>
          <p:cNvPicPr>
            <a:picLocks noChangeAspect="1"/>
          </p:cNvPicPr>
          <p:nvPr/>
        </p:nvPicPr>
        <p:blipFill>
          <a:blip r:embed="rId5"/>
          <a:stretch>
            <a:fillRect/>
          </a:stretch>
        </p:blipFill>
        <p:spPr>
          <a:xfrm>
            <a:off x="731520" y="4846320"/>
            <a:ext cx="365760" cy="365760"/>
          </a:xfrm>
          <a:prstGeom prst="rect">
            <a:avLst/>
          </a:prstGeom>
        </p:spPr>
      </p:pic>
      <p:sp>
        <p:nvSpPr>
          <p:cNvPr id="21" name="Text 14"/>
          <p:cNvSpPr txBox="1"/>
          <p:nvPr/>
        </p:nvSpPr>
        <p:spPr>
          <a:xfrm>
            <a:off x="1508760" y="46177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Know-how</a:t>
            </a:r>
            <a:endParaRPr lang="en-US" sz="1800" dirty="0"/>
          </a:p>
        </p:txBody>
      </p:sp>
      <p:sp>
        <p:nvSpPr>
          <p:cNvPr id="22" name="Text 15"/>
          <p:cNvSpPr txBox="1"/>
          <p:nvPr/>
        </p:nvSpPr>
        <p:spPr>
          <a:xfrm>
            <a:off x="1508760" y="5029200"/>
            <a:ext cx="4389120" cy="960120"/>
          </a:xfrm>
          <a:prstGeom prst="rect">
            <a:avLst/>
          </a:prstGeom>
          <a:noFill/>
          <a:ln/>
        </p:spPr>
        <p:txBody>
          <a:bodyPr wrap="square" lIns="0" tIns="0" rIns="0" bIns="0" rtlCol="0" anchor="t"/>
          <a:lstStyle/>
          <a:p>
            <a:pPr indent="0" marL="0">
              <a:buNone/>
            </a:pPr>
            <a:r>
              <a:rPr lang="en-US" sz="1400" dirty="0">
                <a:solidFill>
                  <a:schemeClr val="tx1"/>
                </a:solidFill>
              </a:rPr>
              <a:t>JavaScript, UI5-Framework, Browser-Debugging und Node-Tooling – zusätzlich zu ABAP und OData.</a:t>
            </a:r>
            <a:endParaRPr lang="en-US" sz="1400" dirty="0"/>
          </a:p>
        </p:txBody>
      </p:sp>
      <p:sp>
        <p:nvSpPr>
          <p:cNvPr id="23" name="UX &amp; Barrierefreiheit Kreis"/>
          <p:cNvSpPr/>
          <p:nvPr/>
        </p:nvSpPr>
        <p:spPr>
          <a:xfrm>
            <a:off x="6217920" y="4663440"/>
            <a:ext cx="731520" cy="731520"/>
          </a:xfrm>
          <a:prstGeom prst="ellipse">
            <a:avLst/>
          </a:prstGeom>
          <a:solidFill>
            <a:schemeClr val="accent2"/>
          </a:solidFill>
          <a:ln/>
        </p:spPr>
      </p:sp>
      <p:pic>
        <p:nvPicPr>
          <p:cNvPr id="24" name="UX &amp; Barrierefreiheit Icon" descr="UX &amp; Barrierefreiheit">    </p:cNvPr>
          <p:cNvPicPr>
            <a:picLocks noChangeAspect="1"/>
          </p:cNvPicPr>
          <p:nvPr/>
        </p:nvPicPr>
        <p:blipFill>
          <a:blip r:embed="rId6"/>
          <a:stretch>
            <a:fillRect/>
          </a:stretch>
        </p:blipFill>
        <p:spPr>
          <a:xfrm>
            <a:off x="6400800" y="4846320"/>
            <a:ext cx="365760" cy="365760"/>
          </a:xfrm>
          <a:prstGeom prst="rect">
            <a:avLst/>
          </a:prstGeom>
        </p:spPr>
      </p:pic>
      <p:sp>
        <p:nvSpPr>
          <p:cNvPr id="25" name="Text 17"/>
          <p:cNvSpPr txBox="1"/>
          <p:nvPr/>
        </p:nvSpPr>
        <p:spPr>
          <a:xfrm>
            <a:off x="7178040" y="46177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UX &amp; Barrierefreiheit</a:t>
            </a:r>
            <a:endParaRPr lang="en-US" sz="1800" dirty="0"/>
          </a:p>
        </p:txBody>
      </p:sp>
      <p:sp>
        <p:nvSpPr>
          <p:cNvPr id="26" name="Text 18"/>
          <p:cNvSpPr txBox="1"/>
          <p:nvPr/>
        </p:nvSpPr>
        <p:spPr>
          <a:xfrm>
            <a:off x="7178040" y="5029200"/>
            <a:ext cx="4389120" cy="960120"/>
          </a:xfrm>
          <a:prstGeom prst="rect">
            <a:avLst/>
          </a:prstGeom>
          <a:noFill/>
          <a:ln/>
        </p:spPr>
        <p:txBody>
          <a:bodyPr wrap="square" lIns="0" tIns="0" rIns="0" bIns="0" rtlCol="0" anchor="t"/>
          <a:lstStyle/>
          <a:p>
            <a:pPr indent="0" marL="0">
              <a:buNone/>
            </a:pPr>
            <a:r>
              <a:rPr lang="en-US" sz="1400" dirty="0">
                <a:solidFill>
                  <a:schemeClr val="tx1"/>
                </a:solidFill>
              </a:rPr>
              <a:t>Fiori-Guidelines und Barrierefreiheit müssen wir selbst sicherstellen und nachweisen.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Das ist nicht mehr die klassische SAP-Welt</a:t>
            </a:r>
            <a:endParaRPr lang="en-US" sz="3400" dirty="0"/>
          </a:p>
        </p:txBody>
      </p:sp>
      <p:graphicFrame>
        <p:nvGraphicFramePr>
          <p:cNvPr id="11" name="Tabelle Vergleich"/>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011680"/>
                <a:gridCol w="2834640"/>
                <a:gridCol w="2926080"/>
                <a:gridCol w="3291840"/>
              </a:tblGrid>
              <a:tr h="731520">
                <a:tc>
                  <a:txBody>
                    <a:bodyPr/>
                    <a:lstStyle/>
                    <a:p>
                      <a:pPr indent="0" marL="0">
                        <a:buNone/>
                      </a:pP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Klassisch (Dynpro / Web Dynpro)</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5E727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Fiori Elements (+ RAP)</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8A7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SAPUI5 Freestyle</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D9661F"/>
                    </a:solidFill>
                  </a:tcPr>
                </a:tc>
              </a:tr>
              <a:tr h="731520">
                <a:tc>
                  <a:txBody>
                    <a:bodyPr/>
                    <a:lstStyle/>
                    <a:p>
                      <a:pPr indent="0" marL="0">
                        <a:buNone/>
                      </a:pPr>
                      <a:r>
                        <a:rPr lang="en-US" sz="1600" b="1" dirty="0">
                          <a:solidFill>
                            <a:srgbClr val="1B2B34"/>
                          </a:solidFill>
                          <a:latin typeface="Calibri" pitchFamily="34" charset="0"/>
                          <a:ea typeface="Calibri" pitchFamily="34" charset="-122"/>
                          <a:cs typeface="Calibri" pitchFamily="34" charset="-120"/>
                        </a:rPr>
                        <a:t>UI-Logik liegt in</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ABAP, im System</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Annotationen (bei RAP im Backend)</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JavaScript im Frontend</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1B2B34"/>
                          </a:solidFill>
                          <a:latin typeface="Calibri" pitchFamily="34" charset="0"/>
                          <a:ea typeface="Calibri" pitchFamily="34" charset="-122"/>
                          <a:cs typeface="Calibri" pitchFamily="34" charset="-120"/>
                        </a:rPr>
                        <a:t>Objekte pro App</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1 Programm / Komponente</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wenige Dateien</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viele: Views, Controller, Fragmente, Formatter …</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1B2B34"/>
                          </a:solidFill>
                          <a:latin typeface="Calibri" pitchFamily="34" charset="0"/>
                          <a:ea typeface="Calibri" pitchFamily="34" charset="-122"/>
                          <a:cs typeface="Calibri" pitchFamily="34" charset="-120"/>
                        </a:rPr>
                        <a:t>Lebenszyklus</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Transport mit dem System</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Templates pflegt SAP</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npm-Pakete &amp; UI5-Version pflegen wir</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1B2B34"/>
                          </a:solidFill>
                          <a:latin typeface="Calibri" pitchFamily="34" charset="0"/>
                          <a:ea typeface="Calibri" pitchFamily="34" charset="-122"/>
                          <a:cs typeface="Calibri" pitchFamily="34" charset="-120"/>
                        </a:rPr>
                        <a:t>Upgrade</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läuft mit dem System</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SAP testet die Templates</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wir prüfen und migrieren jede App</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1B2B34"/>
                          </a:solidFill>
                          <a:latin typeface="Calibri" pitchFamily="34" charset="0"/>
                          <a:ea typeface="Calibri" pitchFamily="34" charset="-122"/>
                          <a:cs typeface="Calibri" pitchFamily="34" charset="-120"/>
                        </a:rPr>
                        <a:t>Know-how</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ABAP</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ABAP, CDS, Annotationen</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ABAP + JavaScript + UI5 + Node-Tooling</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Ehrliche Bewertung: kein Schwarz-Weiß</a:t>
            </a:r>
            <a:endParaRPr lang="en-US" sz="3400" dirty="0"/>
          </a:p>
        </p:txBody>
      </p:sp>
      <p:sp>
        <p:nvSpPr>
          <p:cNvPr id="3" name="Wo Freestyle richtig ist"/>
          <p:cNvSpPr/>
          <p:nvPr/>
        </p:nvSpPr>
        <p:spPr>
          <a:xfrm>
            <a:off x="548640" y="1371600"/>
            <a:ext cx="5394960" cy="3200400"/>
          </a:xfrm>
          <a:prstGeom prst="roundRect">
            <a:avLst>
              <a:gd name="adj" fmla="val 3429"/>
            </a:avLst>
          </a:prstGeom>
          <a:solidFill>
            <a:schemeClr val="accent5"/>
          </a:solidFill>
          <a:ln/>
        </p:spPr>
      </p:sp>
      <p:sp>
        <p:nvSpPr>
          <p:cNvPr id="4" name="Wo Freestyle richtig ist Kreis"/>
          <p:cNvSpPr/>
          <p:nvPr/>
        </p:nvSpPr>
        <p:spPr>
          <a:xfrm>
            <a:off x="822960" y="1600200"/>
            <a:ext cx="685800" cy="685800"/>
          </a:xfrm>
          <a:prstGeom prst="ellipse">
            <a:avLst/>
          </a:prstGeom>
          <a:solidFill>
            <a:schemeClr val="accent2"/>
          </a:solidFill>
          <a:ln/>
        </p:spPr>
      </p:sp>
      <p:pic>
        <p:nvPicPr>
          <p:cNvPr id="5" name="Wo Freestyle richtig ist Icon" descr="Wo Freestyle richtig ist">    </p:cNvPr>
          <p:cNvPicPr>
            <a:picLocks noChangeAspect="1"/>
          </p:cNvPicPr>
          <p:nvPr/>
        </p:nvPicPr>
        <p:blipFill>
          <a:blip r:embed="rId1"/>
          <a:stretch>
            <a:fillRect/>
          </a:stretch>
        </p:blipFill>
        <p:spPr>
          <a:xfrm>
            <a:off x="994410" y="1771650"/>
            <a:ext cx="342900" cy="342900"/>
          </a:xfrm>
          <a:prstGeom prst="rect">
            <a:avLst/>
          </a:prstGeom>
        </p:spPr>
      </p:pic>
      <p:sp>
        <p:nvSpPr>
          <p:cNvPr id="6" name="Text 3"/>
          <p:cNvSpPr txBox="1"/>
          <p:nvPr/>
        </p:nvSpPr>
        <p:spPr>
          <a:xfrm>
            <a:off x="1691640" y="1600200"/>
            <a:ext cx="4023360" cy="685800"/>
          </a:xfrm>
          <a:prstGeom prst="rect">
            <a:avLst/>
          </a:prstGeom>
          <a:noFill/>
          <a:ln/>
        </p:spPr>
        <p:txBody>
          <a:bodyPr wrap="square" lIns="0" tIns="0" rIns="0" bIns="0" rtlCol="0" anchor="ctr"/>
          <a:lstStyle/>
          <a:p>
            <a:pPr indent="0" marL="0">
              <a:buNone/>
            </a:pPr>
            <a:r>
              <a:rPr lang="en-US" sz="2000" b="1" dirty="0">
                <a:solidFill>
                  <a:schemeClr val="accent2"/>
                </a:solidFill>
              </a:rPr>
              <a:t>Wo Freestyle richtig ist</a:t>
            </a:r>
            <a:endParaRPr lang="en-US" sz="2000" dirty="0"/>
          </a:p>
        </p:txBody>
      </p:sp>
      <p:sp>
        <p:nvSpPr>
          <p:cNvPr id="7" name="Text 4"/>
          <p:cNvSpPr txBox="1"/>
          <p:nvPr/>
        </p:nvSpPr>
        <p:spPr>
          <a:xfrm>
            <a:off x="822960" y="2514600"/>
            <a:ext cx="4846320"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Drag &amp; Drop, Planungstafeln, Gantt</a:t>
            </a:r>
            <a:endParaRPr lang="en-US" sz="1600" dirty="0"/>
          </a:p>
          <a:p>
            <a:pPr marL="342900" indent="-342900">
              <a:spcAft>
                <a:spcPts val="800"/>
              </a:spcAft>
              <a:buSzPct val="100000"/>
              <a:buChar char="•"/>
            </a:pPr>
            <a:r>
              <a:rPr lang="en-US" sz="1600" dirty="0">
                <a:solidFill>
                  <a:schemeClr val="tx1"/>
                </a:solidFill>
              </a:rPr>
              <a:t>Stark grafische oder spielerische Oberflächen</a:t>
            </a:r>
            <a:endParaRPr lang="en-US" sz="1600" dirty="0"/>
          </a:p>
          <a:p>
            <a:pPr marL="342900" indent="-342900">
              <a:spcAft>
                <a:spcPts val="800"/>
              </a:spcAft>
              <a:buSzPct val="100000"/>
              <a:buChar char="•"/>
            </a:pPr>
            <a:r>
              <a:rPr lang="en-US" sz="1600" dirty="0">
                <a:solidFill>
                  <a:schemeClr val="tx1"/>
                </a:solidFill>
              </a:rPr>
              <a:t>Ungewöhnliche Abläufe, die in keinen Floorplan passen</a:t>
            </a:r>
            <a:endParaRPr lang="en-US" sz="1600" dirty="0"/>
          </a:p>
          <a:p>
            <a:pPr marL="342900" indent="-342900">
              <a:spcAft>
                <a:spcPts val="800"/>
              </a:spcAft>
              <a:buSzPct val="100000"/>
              <a:buChar char="•"/>
            </a:pPr>
            <a:r>
              <a:rPr lang="en-US" sz="1600" dirty="0">
                <a:solidFill>
                  <a:schemeClr val="tx1"/>
                </a:solidFill>
              </a:rPr>
              <a:t>Spezielle Geräte- oder Offline-Integration</a:t>
            </a:r>
            <a:endParaRPr lang="en-US" sz="1600" dirty="0"/>
          </a:p>
        </p:txBody>
      </p:sp>
      <p:sp>
        <p:nvSpPr>
          <p:cNvPr id="8" name="Wo Fiori Elements Grenzen hat"/>
          <p:cNvSpPr/>
          <p:nvPr/>
        </p:nvSpPr>
        <p:spPr>
          <a:xfrm>
            <a:off x="6217920" y="1371600"/>
            <a:ext cx="5394960" cy="3200400"/>
          </a:xfrm>
          <a:prstGeom prst="roundRect">
            <a:avLst>
              <a:gd name="adj" fmla="val 3429"/>
            </a:avLst>
          </a:prstGeom>
          <a:solidFill>
            <a:schemeClr val="accent6"/>
          </a:solidFill>
          <a:ln/>
        </p:spPr>
      </p:sp>
      <p:sp>
        <p:nvSpPr>
          <p:cNvPr id="9" name="Wo Fiori Elements Grenzen hat Kreis"/>
          <p:cNvSpPr/>
          <p:nvPr/>
        </p:nvSpPr>
        <p:spPr>
          <a:xfrm>
            <a:off x="6492240" y="1600200"/>
            <a:ext cx="685800" cy="685800"/>
          </a:xfrm>
          <a:prstGeom prst="ellipse">
            <a:avLst/>
          </a:prstGeom>
          <a:solidFill>
            <a:schemeClr val="accent1"/>
          </a:solidFill>
          <a:ln/>
        </p:spPr>
      </p:sp>
      <p:pic>
        <p:nvPicPr>
          <p:cNvPr id="10" name="Wo Fiori Elements Grenzen hat Icon" descr="Wo Fiori Elements Grenzen hat">    </p:cNvPr>
          <p:cNvPicPr>
            <a:picLocks noChangeAspect="1"/>
          </p:cNvPicPr>
          <p:nvPr/>
        </p:nvPicPr>
        <p:blipFill>
          <a:blip r:embed="rId2"/>
          <a:stretch>
            <a:fillRect/>
          </a:stretch>
        </p:blipFill>
        <p:spPr>
          <a:xfrm>
            <a:off x="6663690" y="1771650"/>
            <a:ext cx="342900" cy="342900"/>
          </a:xfrm>
          <a:prstGeom prst="rect">
            <a:avLst/>
          </a:prstGeom>
        </p:spPr>
      </p:pic>
      <p:sp>
        <p:nvSpPr>
          <p:cNvPr id="11" name="Text 7"/>
          <p:cNvSpPr txBox="1"/>
          <p:nvPr/>
        </p:nvSpPr>
        <p:spPr>
          <a:xfrm>
            <a:off x="7360920" y="1600200"/>
            <a:ext cx="4023360" cy="685800"/>
          </a:xfrm>
          <a:prstGeom prst="rect">
            <a:avLst/>
          </a:prstGeom>
          <a:noFill/>
          <a:ln/>
        </p:spPr>
        <p:txBody>
          <a:bodyPr wrap="square" lIns="0" tIns="0" rIns="0" bIns="0" rtlCol="0" anchor="ctr"/>
          <a:lstStyle/>
          <a:p>
            <a:pPr indent="0" marL="0">
              <a:buNone/>
            </a:pPr>
            <a:r>
              <a:rPr lang="en-US" sz="2000" b="1" dirty="0">
                <a:solidFill>
                  <a:schemeClr val="accent1"/>
                </a:solidFill>
              </a:rPr>
              <a:t>Wo Fiori Elements Grenzen hat</a:t>
            </a:r>
            <a:endParaRPr lang="en-US" sz="2000" dirty="0"/>
          </a:p>
        </p:txBody>
      </p:sp>
      <p:sp>
        <p:nvSpPr>
          <p:cNvPr id="12" name="Text 8"/>
          <p:cNvSpPr txBox="1"/>
          <p:nvPr/>
        </p:nvSpPr>
        <p:spPr>
          <a:xfrm>
            <a:off x="6492240" y="2514600"/>
            <a:ext cx="4846320"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Layout nur im Rahmen der Floorplans</a:t>
            </a:r>
            <a:endParaRPr lang="en-US" sz="1600" dirty="0"/>
          </a:p>
          <a:p>
            <a:pPr marL="342900" indent="-342900">
              <a:spcAft>
                <a:spcPts val="800"/>
              </a:spcAft>
              <a:buSzPct val="100000"/>
              <a:buChar char="•"/>
            </a:pPr>
            <a:r>
              <a:rPr lang="en-US" sz="1600" dirty="0">
                <a:solidFill>
                  <a:schemeClr val="tx1"/>
                </a:solidFill>
              </a:rPr>
              <a:t>Lernkurve: Annotationen, CDS, RAP</a:t>
            </a:r>
            <a:endParaRPr lang="en-US" sz="1600" dirty="0"/>
          </a:p>
          <a:p>
            <a:pPr marL="342900" indent="-342900">
              <a:spcAft>
                <a:spcPts val="800"/>
              </a:spcAft>
              <a:buSzPct val="100000"/>
              <a:buChar char="•"/>
            </a:pPr>
            <a:r>
              <a:rPr lang="en-US" sz="1600" dirty="0">
                <a:solidFill>
                  <a:schemeClr val="tx1"/>
                </a:solidFill>
              </a:rPr>
              <a:t>Sonderwünsche über Flexible Programming Model (Building Blocks, Custom Sections)</a:t>
            </a:r>
            <a:endParaRPr lang="en-US" sz="1600" dirty="0"/>
          </a:p>
          <a:p>
            <a:pPr marL="342900" indent="-342900">
              <a:spcAft>
                <a:spcPts val="800"/>
              </a:spcAft>
              <a:buSzPct val="100000"/>
              <a:buChar char="•"/>
            </a:pPr>
            <a:r>
              <a:rPr lang="en-US" sz="1600" dirty="0">
                <a:solidFill>
                  <a:schemeClr val="tx1"/>
                </a:solidFill>
              </a:rPr>
              <a:t>Braucht ein sauberes OData-/RAP-Modell</a:t>
            </a:r>
            <a:endParaRPr lang="en-US" sz="1600" dirty="0"/>
          </a:p>
        </p:txBody>
      </p:sp>
      <p:sp>
        <p:nvSpPr>
          <p:cNvPr id="13" name="Leitfrage"/>
          <p:cNvSpPr/>
          <p:nvPr/>
        </p:nvSpPr>
        <p:spPr>
          <a:xfrm>
            <a:off x="548640" y="4892040"/>
            <a:ext cx="11064240" cy="1005840"/>
          </a:xfrm>
          <a:prstGeom prst="roundRect">
            <a:avLst>
              <a:gd name="adj" fmla="val 9091"/>
            </a:avLst>
          </a:prstGeom>
          <a:solidFill>
            <a:schemeClr val="tx2"/>
          </a:solidFill>
          <a:ln/>
        </p:spPr>
      </p:sp>
      <p:sp>
        <p:nvSpPr>
          <p:cNvPr id="14" name="Text 10"/>
          <p:cNvSpPr txBox="1"/>
          <p:nvPr/>
        </p:nvSpPr>
        <p:spPr>
          <a:xfrm>
            <a:off x="777240" y="4892040"/>
            <a:ext cx="10607040" cy="1005840"/>
          </a:xfrm>
          <a:prstGeom prst="rect">
            <a:avLst/>
          </a:prstGeom>
          <a:noFill/>
          <a:ln/>
        </p:spPr>
        <p:txBody>
          <a:bodyPr wrap="square" lIns="0" tIns="0" rIns="0" bIns="0" rtlCol="0" anchor="ctr"/>
          <a:lstStyle/>
          <a:p>
            <a:pPr indent="0" marL="0">
              <a:buNone/>
            </a:pPr>
            <a:r>
              <a:rPr lang="en-US" sz="2000" b="1" dirty="0">
                <a:solidFill>
                  <a:schemeClr val="bg1"/>
                </a:solidFill>
              </a:rPr>
              <a:t>Die Frage ist nicht „Kann man das bauen?“, sondern „Wer wartet das die nächsten Jahre?“</a:t>
            </a:r>
            <a:endParaRPr lang="en-US" sz="2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Lager &amp; Produktion: Jeder Klick kostet Geld</a:t>
            </a:r>
            <a:endParaRPr lang="en-US" sz="34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600" dirty="0">
                <a:solidFill>
                  <a:schemeClr val="accent4"/>
                </a:solidFill>
              </a:rPr>
              <a:t>Die Anforderungen der Kollegen sind berechtigt – und sie sind die häufigste Begründung für Freestyle.</a:t>
            </a:r>
            <a:endParaRPr lang="en-US" sz="1600" dirty="0"/>
          </a:p>
        </p:txBody>
      </p:sp>
      <p:sp>
        <p:nvSpPr>
          <p:cNvPr id="4" name="Anforderung Große Touch-Flächen"/>
          <p:cNvSpPr/>
          <p:nvPr/>
        </p:nvSpPr>
        <p:spPr>
          <a:xfrm>
            <a:off x="548640" y="1965960"/>
            <a:ext cx="2066544" cy="3291840"/>
          </a:xfrm>
          <a:prstGeom prst="roundRect">
            <a:avLst>
              <a:gd name="adj" fmla="val 5310"/>
            </a:avLst>
          </a:prstGeom>
          <a:solidFill>
            <a:schemeClr val="bg2"/>
          </a:solidFill>
          <a:ln/>
        </p:spPr>
      </p:sp>
      <p:sp>
        <p:nvSpPr>
          <p:cNvPr id="5" name="Große Touch-Flächen Kreis"/>
          <p:cNvSpPr/>
          <p:nvPr/>
        </p:nvSpPr>
        <p:spPr>
          <a:xfrm>
            <a:off x="1216152" y="2240280"/>
            <a:ext cx="731520" cy="731520"/>
          </a:xfrm>
          <a:prstGeom prst="ellipse">
            <a:avLst/>
          </a:prstGeom>
          <a:solidFill>
            <a:schemeClr val="tx2"/>
          </a:solidFill>
          <a:ln/>
        </p:spPr>
      </p:sp>
      <p:pic>
        <p:nvPicPr>
          <p:cNvPr id="6" name="Große Touch-Flächen Icon" descr="Große Touch-Flächen">    </p:cNvPr>
          <p:cNvPicPr>
            <a:picLocks noChangeAspect="1"/>
          </p:cNvPicPr>
          <p:nvPr/>
        </p:nvPicPr>
        <p:blipFill>
          <a:blip r:embed="rId1"/>
          <a:stretch>
            <a:fillRect/>
          </a:stretch>
        </p:blipFill>
        <p:spPr>
          <a:xfrm>
            <a:off x="1399032" y="2423160"/>
            <a:ext cx="365760" cy="365760"/>
          </a:xfrm>
          <a:prstGeom prst="rect">
            <a:avLst/>
          </a:prstGeom>
        </p:spPr>
      </p:pic>
      <p:sp>
        <p:nvSpPr>
          <p:cNvPr id="7" name="Text 4"/>
          <p:cNvSpPr txBox="1"/>
          <p:nvPr/>
        </p:nvSpPr>
        <p:spPr>
          <a:xfrm>
            <a:off x="685800" y="3154680"/>
            <a:ext cx="1792224" cy="685800"/>
          </a:xfrm>
          <a:prstGeom prst="rect">
            <a:avLst/>
          </a:prstGeom>
          <a:noFill/>
          <a:ln/>
        </p:spPr>
        <p:txBody>
          <a:bodyPr wrap="square" lIns="0" tIns="0" rIns="0" bIns="0" rtlCol="0" anchor="t"/>
          <a:lstStyle/>
          <a:p>
            <a:pPr algn="ctr" indent="0" marL="0">
              <a:buNone/>
            </a:pPr>
            <a:r>
              <a:rPr lang="en-US" sz="1700" b="1" dirty="0">
                <a:solidFill>
                  <a:schemeClr val="tx1"/>
                </a:solidFill>
              </a:rPr>
              <a:t>Große Touch-Flächen</a:t>
            </a:r>
            <a:endParaRPr lang="en-US" sz="1700" dirty="0"/>
          </a:p>
        </p:txBody>
      </p:sp>
      <p:sp>
        <p:nvSpPr>
          <p:cNvPr id="8" name="Text 5"/>
          <p:cNvSpPr txBox="1"/>
          <p:nvPr/>
        </p:nvSpPr>
        <p:spPr>
          <a:xfrm>
            <a:off x="685800" y="3886200"/>
            <a:ext cx="1792224" cy="1234440"/>
          </a:xfrm>
          <a:prstGeom prst="rect">
            <a:avLst/>
          </a:prstGeom>
          <a:noFill/>
          <a:ln/>
        </p:spPr>
        <p:txBody>
          <a:bodyPr wrap="square" lIns="0" tIns="0" rIns="0" bIns="0" rtlCol="0" anchor="t"/>
          <a:lstStyle/>
          <a:p>
            <a:pPr algn="ctr" indent="0" marL="0">
              <a:buNone/>
            </a:pPr>
            <a:r>
              <a:rPr lang="en-US" sz="1400" dirty="0">
                <a:solidFill>
                  <a:schemeClr val="tx1"/>
                </a:solidFill>
              </a:rPr>
              <a:t>Bedienung mit Handschuh, am Handheld oder Tablet</a:t>
            </a:r>
            <a:endParaRPr lang="en-US" sz="1400" dirty="0"/>
          </a:p>
        </p:txBody>
      </p:sp>
      <p:sp>
        <p:nvSpPr>
          <p:cNvPr id="9" name="Anforderung Sichtbare Buttons"/>
          <p:cNvSpPr/>
          <p:nvPr/>
        </p:nvSpPr>
        <p:spPr>
          <a:xfrm>
            <a:off x="2816352" y="1965960"/>
            <a:ext cx="2066544" cy="3291840"/>
          </a:xfrm>
          <a:prstGeom prst="roundRect">
            <a:avLst>
              <a:gd name="adj" fmla="val 5310"/>
            </a:avLst>
          </a:prstGeom>
          <a:solidFill>
            <a:schemeClr val="bg2"/>
          </a:solidFill>
          <a:ln/>
        </p:spPr>
      </p:sp>
      <p:sp>
        <p:nvSpPr>
          <p:cNvPr id="10" name="Sichtbare Buttons Kreis"/>
          <p:cNvSpPr/>
          <p:nvPr/>
        </p:nvSpPr>
        <p:spPr>
          <a:xfrm>
            <a:off x="3483864" y="2240280"/>
            <a:ext cx="731520" cy="731520"/>
          </a:xfrm>
          <a:prstGeom prst="ellipse">
            <a:avLst/>
          </a:prstGeom>
          <a:solidFill>
            <a:schemeClr val="tx2"/>
          </a:solidFill>
          <a:ln/>
        </p:spPr>
      </p:sp>
      <p:pic>
        <p:nvPicPr>
          <p:cNvPr id="11" name="Sichtbare Buttons Icon" descr="Sichtbare Buttons">    </p:cNvPr>
          <p:cNvPicPr>
            <a:picLocks noChangeAspect="1"/>
          </p:cNvPicPr>
          <p:nvPr/>
        </p:nvPicPr>
        <p:blipFill>
          <a:blip r:embed="rId2"/>
          <a:stretch>
            <a:fillRect/>
          </a:stretch>
        </p:blipFill>
        <p:spPr>
          <a:xfrm>
            <a:off x="3666744" y="2423160"/>
            <a:ext cx="365760" cy="365760"/>
          </a:xfrm>
          <a:prstGeom prst="rect">
            <a:avLst/>
          </a:prstGeom>
        </p:spPr>
      </p:pic>
      <p:sp>
        <p:nvSpPr>
          <p:cNvPr id="12" name="Text 8"/>
          <p:cNvSpPr txBox="1"/>
          <p:nvPr/>
        </p:nvSpPr>
        <p:spPr>
          <a:xfrm>
            <a:off x="2953512" y="3154680"/>
            <a:ext cx="1792224" cy="685800"/>
          </a:xfrm>
          <a:prstGeom prst="rect">
            <a:avLst/>
          </a:prstGeom>
          <a:noFill/>
          <a:ln/>
        </p:spPr>
        <p:txBody>
          <a:bodyPr wrap="square" lIns="0" tIns="0" rIns="0" bIns="0" rtlCol="0" anchor="t"/>
          <a:lstStyle/>
          <a:p>
            <a:pPr algn="ctr" indent="0" marL="0">
              <a:buNone/>
            </a:pPr>
            <a:r>
              <a:rPr lang="en-US" sz="1700" b="1" dirty="0">
                <a:solidFill>
                  <a:schemeClr val="tx1"/>
                </a:solidFill>
              </a:rPr>
              <a:t>Sichtbare Buttons</a:t>
            </a:r>
            <a:endParaRPr lang="en-US" sz="1700" dirty="0"/>
          </a:p>
        </p:txBody>
      </p:sp>
      <p:sp>
        <p:nvSpPr>
          <p:cNvPr id="13" name="Text 9"/>
          <p:cNvSpPr txBox="1"/>
          <p:nvPr/>
        </p:nvSpPr>
        <p:spPr>
          <a:xfrm>
            <a:off x="2953512" y="3886200"/>
            <a:ext cx="1792224" cy="1234440"/>
          </a:xfrm>
          <a:prstGeom prst="rect">
            <a:avLst/>
          </a:prstGeom>
          <a:noFill/>
          <a:ln/>
        </p:spPr>
        <p:txBody>
          <a:bodyPr wrap="square" lIns="0" tIns="0" rIns="0" bIns="0" rtlCol="0" anchor="t"/>
          <a:lstStyle/>
          <a:p>
            <a:pPr algn="ctr" indent="0" marL="0">
              <a:buNone/>
            </a:pPr>
            <a:r>
              <a:rPr lang="en-US" sz="1400" dirty="0">
                <a:solidFill>
                  <a:schemeClr val="tx1"/>
                </a:solidFill>
              </a:rPr>
              <a:t>Die Hauptaktion liegt im Blick, nicht im Menü versteckt</a:t>
            </a:r>
            <a:endParaRPr lang="en-US" sz="1400" dirty="0"/>
          </a:p>
        </p:txBody>
      </p:sp>
      <p:sp>
        <p:nvSpPr>
          <p:cNvPr id="14" name="Anforderung Wenige Schritte"/>
          <p:cNvSpPr/>
          <p:nvPr/>
        </p:nvSpPr>
        <p:spPr>
          <a:xfrm>
            <a:off x="5084064" y="1965960"/>
            <a:ext cx="2066544" cy="3291840"/>
          </a:xfrm>
          <a:prstGeom prst="roundRect">
            <a:avLst>
              <a:gd name="adj" fmla="val 5310"/>
            </a:avLst>
          </a:prstGeom>
          <a:solidFill>
            <a:schemeClr val="bg2"/>
          </a:solidFill>
          <a:ln/>
        </p:spPr>
      </p:sp>
      <p:sp>
        <p:nvSpPr>
          <p:cNvPr id="15" name="Wenige Schritte Kreis"/>
          <p:cNvSpPr/>
          <p:nvPr/>
        </p:nvSpPr>
        <p:spPr>
          <a:xfrm>
            <a:off x="5751576" y="2240280"/>
            <a:ext cx="731520" cy="731520"/>
          </a:xfrm>
          <a:prstGeom prst="ellipse">
            <a:avLst/>
          </a:prstGeom>
          <a:solidFill>
            <a:schemeClr val="tx2"/>
          </a:solidFill>
          <a:ln/>
        </p:spPr>
      </p:sp>
      <p:pic>
        <p:nvPicPr>
          <p:cNvPr id="16" name="Wenige Schritte Icon" descr="Wenige Schritte">    </p:cNvPr>
          <p:cNvPicPr>
            <a:picLocks noChangeAspect="1"/>
          </p:cNvPicPr>
          <p:nvPr/>
        </p:nvPicPr>
        <p:blipFill>
          <a:blip r:embed="rId3"/>
          <a:stretch>
            <a:fillRect/>
          </a:stretch>
        </p:blipFill>
        <p:spPr>
          <a:xfrm>
            <a:off x="5934456" y="2423160"/>
            <a:ext cx="365760" cy="365760"/>
          </a:xfrm>
          <a:prstGeom prst="rect">
            <a:avLst/>
          </a:prstGeom>
        </p:spPr>
      </p:pic>
      <p:sp>
        <p:nvSpPr>
          <p:cNvPr id="17" name="Text 12"/>
          <p:cNvSpPr txBox="1"/>
          <p:nvPr/>
        </p:nvSpPr>
        <p:spPr>
          <a:xfrm>
            <a:off x="5221224" y="3154680"/>
            <a:ext cx="1792224" cy="685800"/>
          </a:xfrm>
          <a:prstGeom prst="rect">
            <a:avLst/>
          </a:prstGeom>
          <a:noFill/>
          <a:ln/>
        </p:spPr>
        <p:txBody>
          <a:bodyPr wrap="square" lIns="0" tIns="0" rIns="0" bIns="0" rtlCol="0" anchor="t"/>
          <a:lstStyle/>
          <a:p>
            <a:pPr algn="ctr" indent="0" marL="0">
              <a:buNone/>
            </a:pPr>
            <a:r>
              <a:rPr lang="en-US" sz="1700" b="1" dirty="0">
                <a:solidFill>
                  <a:schemeClr val="tx1"/>
                </a:solidFill>
              </a:rPr>
              <a:t>Wenige Schritte</a:t>
            </a:r>
            <a:endParaRPr lang="en-US" sz="1700" dirty="0"/>
          </a:p>
        </p:txBody>
      </p:sp>
      <p:sp>
        <p:nvSpPr>
          <p:cNvPr id="18" name="Text 13"/>
          <p:cNvSpPr txBox="1"/>
          <p:nvPr/>
        </p:nvSpPr>
        <p:spPr>
          <a:xfrm>
            <a:off x="5221224" y="3886200"/>
            <a:ext cx="1792224" cy="1234440"/>
          </a:xfrm>
          <a:prstGeom prst="rect">
            <a:avLst/>
          </a:prstGeom>
          <a:noFill/>
          <a:ln/>
        </p:spPr>
        <p:txBody>
          <a:bodyPr wrap="square" lIns="0" tIns="0" rIns="0" bIns="0" rtlCol="0" anchor="t"/>
          <a:lstStyle/>
          <a:p>
            <a:pPr algn="ctr" indent="0" marL="0">
              <a:buNone/>
            </a:pPr>
            <a:r>
              <a:rPr lang="en-US" sz="1400" dirty="0">
                <a:solidFill>
                  <a:schemeClr val="tx1"/>
                </a:solidFill>
              </a:rPr>
              <a:t>Scannen, Menge, Bestätigen – ohne Umwege über Listen</a:t>
            </a:r>
            <a:endParaRPr lang="en-US" sz="1400" dirty="0"/>
          </a:p>
        </p:txBody>
      </p:sp>
      <p:sp>
        <p:nvSpPr>
          <p:cNvPr id="19" name="Anforderung Scanner-Bedienung"/>
          <p:cNvSpPr/>
          <p:nvPr/>
        </p:nvSpPr>
        <p:spPr>
          <a:xfrm>
            <a:off x="7351776" y="1965960"/>
            <a:ext cx="2066544" cy="3291840"/>
          </a:xfrm>
          <a:prstGeom prst="roundRect">
            <a:avLst>
              <a:gd name="adj" fmla="val 5310"/>
            </a:avLst>
          </a:prstGeom>
          <a:solidFill>
            <a:schemeClr val="bg2"/>
          </a:solidFill>
          <a:ln/>
        </p:spPr>
      </p:sp>
      <p:sp>
        <p:nvSpPr>
          <p:cNvPr id="20" name="Scanner-Bedienung Kreis"/>
          <p:cNvSpPr/>
          <p:nvPr/>
        </p:nvSpPr>
        <p:spPr>
          <a:xfrm>
            <a:off x="8019288" y="2240280"/>
            <a:ext cx="731520" cy="731520"/>
          </a:xfrm>
          <a:prstGeom prst="ellipse">
            <a:avLst/>
          </a:prstGeom>
          <a:solidFill>
            <a:schemeClr val="tx2"/>
          </a:solidFill>
          <a:ln/>
        </p:spPr>
      </p:sp>
      <p:pic>
        <p:nvPicPr>
          <p:cNvPr id="21" name="Scanner-Bedienung Icon" descr="Scanner-Bedienung">    </p:cNvPr>
          <p:cNvPicPr>
            <a:picLocks noChangeAspect="1"/>
          </p:cNvPicPr>
          <p:nvPr/>
        </p:nvPicPr>
        <p:blipFill>
          <a:blip r:embed="rId4"/>
          <a:stretch>
            <a:fillRect/>
          </a:stretch>
        </p:blipFill>
        <p:spPr>
          <a:xfrm>
            <a:off x="8202168" y="2423160"/>
            <a:ext cx="365760" cy="365760"/>
          </a:xfrm>
          <a:prstGeom prst="rect">
            <a:avLst/>
          </a:prstGeom>
        </p:spPr>
      </p:pic>
      <p:sp>
        <p:nvSpPr>
          <p:cNvPr id="22" name="Text 16"/>
          <p:cNvSpPr txBox="1"/>
          <p:nvPr/>
        </p:nvSpPr>
        <p:spPr>
          <a:xfrm>
            <a:off x="7488936" y="3154680"/>
            <a:ext cx="1792224" cy="685800"/>
          </a:xfrm>
          <a:prstGeom prst="rect">
            <a:avLst/>
          </a:prstGeom>
          <a:noFill/>
          <a:ln/>
        </p:spPr>
        <p:txBody>
          <a:bodyPr wrap="square" lIns="0" tIns="0" rIns="0" bIns="0" rtlCol="0" anchor="t"/>
          <a:lstStyle/>
          <a:p>
            <a:pPr algn="ctr" indent="0" marL="0">
              <a:buNone/>
            </a:pPr>
            <a:r>
              <a:rPr lang="en-US" sz="1700" b="1" dirty="0">
                <a:solidFill>
                  <a:schemeClr val="tx1"/>
                </a:solidFill>
              </a:rPr>
              <a:t>Scanner-Bedienung</a:t>
            </a:r>
            <a:endParaRPr lang="en-US" sz="1700" dirty="0"/>
          </a:p>
        </p:txBody>
      </p:sp>
      <p:sp>
        <p:nvSpPr>
          <p:cNvPr id="23" name="Text 17"/>
          <p:cNvSpPr txBox="1"/>
          <p:nvPr/>
        </p:nvSpPr>
        <p:spPr>
          <a:xfrm>
            <a:off x="7488936" y="3886200"/>
            <a:ext cx="1792224" cy="1234440"/>
          </a:xfrm>
          <a:prstGeom prst="rect">
            <a:avLst/>
          </a:prstGeom>
          <a:noFill/>
          <a:ln/>
        </p:spPr>
        <p:txBody>
          <a:bodyPr wrap="square" lIns="0" tIns="0" rIns="0" bIns="0" rtlCol="0" anchor="t"/>
          <a:lstStyle/>
          <a:p>
            <a:pPr algn="ctr" indent="0" marL="0">
              <a:buNone/>
            </a:pPr>
            <a:r>
              <a:rPr lang="en-US" sz="1400" dirty="0">
                <a:solidFill>
                  <a:schemeClr val="tx1"/>
                </a:solidFill>
              </a:rPr>
              <a:t>Handheld mit eingebautem Scanner, Fokus springt automatisch weiter</a:t>
            </a:r>
            <a:endParaRPr lang="en-US" sz="1400" dirty="0"/>
          </a:p>
        </p:txBody>
      </p:sp>
      <p:sp>
        <p:nvSpPr>
          <p:cNvPr id="24" name="Anforderung Schnelles Feedback"/>
          <p:cNvSpPr/>
          <p:nvPr/>
        </p:nvSpPr>
        <p:spPr>
          <a:xfrm>
            <a:off x="9619488" y="1965960"/>
            <a:ext cx="2066544" cy="3291840"/>
          </a:xfrm>
          <a:prstGeom prst="roundRect">
            <a:avLst>
              <a:gd name="adj" fmla="val 5310"/>
            </a:avLst>
          </a:prstGeom>
          <a:solidFill>
            <a:schemeClr val="bg2"/>
          </a:solidFill>
          <a:ln/>
        </p:spPr>
      </p:sp>
      <p:sp>
        <p:nvSpPr>
          <p:cNvPr id="25" name="Schnelles Feedback Kreis"/>
          <p:cNvSpPr/>
          <p:nvPr/>
        </p:nvSpPr>
        <p:spPr>
          <a:xfrm>
            <a:off x="10287000" y="2240280"/>
            <a:ext cx="731520" cy="731520"/>
          </a:xfrm>
          <a:prstGeom prst="ellipse">
            <a:avLst/>
          </a:prstGeom>
          <a:solidFill>
            <a:schemeClr val="tx2"/>
          </a:solidFill>
          <a:ln/>
        </p:spPr>
      </p:sp>
      <p:pic>
        <p:nvPicPr>
          <p:cNvPr id="26" name="Schnelles Feedback Icon" descr="Schnelles Feedback">    </p:cNvPr>
          <p:cNvPicPr>
            <a:picLocks noChangeAspect="1"/>
          </p:cNvPicPr>
          <p:nvPr/>
        </p:nvPicPr>
        <p:blipFill>
          <a:blip r:embed="rId5"/>
          <a:stretch>
            <a:fillRect/>
          </a:stretch>
        </p:blipFill>
        <p:spPr>
          <a:xfrm>
            <a:off x="10469880" y="2423160"/>
            <a:ext cx="365760" cy="365760"/>
          </a:xfrm>
          <a:prstGeom prst="rect">
            <a:avLst/>
          </a:prstGeom>
        </p:spPr>
      </p:pic>
      <p:sp>
        <p:nvSpPr>
          <p:cNvPr id="27" name="Text 20"/>
          <p:cNvSpPr txBox="1"/>
          <p:nvPr/>
        </p:nvSpPr>
        <p:spPr>
          <a:xfrm>
            <a:off x="9756648" y="3154680"/>
            <a:ext cx="1792224" cy="685800"/>
          </a:xfrm>
          <a:prstGeom prst="rect">
            <a:avLst/>
          </a:prstGeom>
          <a:noFill/>
          <a:ln/>
        </p:spPr>
        <p:txBody>
          <a:bodyPr wrap="square" lIns="0" tIns="0" rIns="0" bIns="0" rtlCol="0" anchor="t"/>
          <a:lstStyle/>
          <a:p>
            <a:pPr algn="ctr" indent="0" marL="0">
              <a:buNone/>
            </a:pPr>
            <a:r>
              <a:rPr lang="en-US" sz="1700" b="1" dirty="0">
                <a:solidFill>
                  <a:schemeClr val="tx1"/>
                </a:solidFill>
              </a:rPr>
              <a:t>Schnelles Feedback</a:t>
            </a:r>
            <a:endParaRPr lang="en-US" sz="1700" dirty="0"/>
          </a:p>
        </p:txBody>
      </p:sp>
      <p:sp>
        <p:nvSpPr>
          <p:cNvPr id="28" name="Text 21"/>
          <p:cNvSpPr txBox="1"/>
          <p:nvPr/>
        </p:nvSpPr>
        <p:spPr>
          <a:xfrm>
            <a:off x="9756648" y="3886200"/>
            <a:ext cx="1792224" cy="1234440"/>
          </a:xfrm>
          <a:prstGeom prst="rect">
            <a:avLst/>
          </a:prstGeom>
          <a:noFill/>
          <a:ln/>
        </p:spPr>
        <p:txBody>
          <a:bodyPr wrap="square" lIns="0" tIns="0" rIns="0" bIns="0" rtlCol="0" anchor="t"/>
          <a:lstStyle/>
          <a:p>
            <a:pPr algn="ctr" indent="0" marL="0">
              <a:buNone/>
            </a:pPr>
            <a:r>
              <a:rPr lang="en-US" sz="1400" dirty="0">
                <a:solidFill>
                  <a:schemeClr val="tx1"/>
                </a:solidFill>
              </a:rPr>
              <a:t>Sofort sehen, ob gebucht wurde – optisch und akustisch</a:t>
            </a:r>
            <a:endParaRPr lang="en-US" sz="1400" dirty="0"/>
          </a:p>
        </p:txBody>
      </p:sp>
      <p:sp>
        <p:nvSpPr>
          <p:cNvPr id="29" name="Leitfrage Shopfloor"/>
          <p:cNvSpPr/>
          <p:nvPr/>
        </p:nvSpPr>
        <p:spPr>
          <a:xfrm>
            <a:off x="548640" y="5486400"/>
            <a:ext cx="11064240" cy="685800"/>
          </a:xfrm>
          <a:prstGeom prst="roundRect">
            <a:avLst>
              <a:gd name="adj" fmla="val 13333"/>
            </a:avLst>
          </a:prstGeom>
          <a:solidFill>
            <a:schemeClr val="tx2"/>
          </a:solidFill>
          <a:ln/>
        </p:spPr>
      </p:sp>
      <p:sp>
        <p:nvSpPr>
          <p:cNvPr id="30" name="Text 23"/>
          <p:cNvSpPr txBox="1"/>
          <p:nvPr/>
        </p:nvSpPr>
        <p:spPr>
          <a:xfrm>
            <a:off x="777240" y="5486400"/>
            <a:ext cx="10607040" cy="685800"/>
          </a:xfrm>
          <a:prstGeom prst="rect">
            <a:avLst/>
          </a:prstGeom>
          <a:noFill/>
          <a:ln/>
        </p:spPr>
        <p:txBody>
          <a:bodyPr wrap="square" lIns="0" tIns="0" rIns="0" bIns="0" rtlCol="0" anchor="ctr"/>
          <a:lstStyle/>
          <a:p>
            <a:pPr indent="0" marL="0">
              <a:buNone/>
            </a:pPr>
            <a:r>
              <a:rPr lang="en-US" sz="1700" b="1" dirty="0">
                <a:solidFill>
                  <a:schemeClr val="bg1"/>
                </a:solidFill>
              </a:rPr>
              <a:t>Die Frage ist: Welche dieser Anforderungen erfüllt der Standard schon – und wo fängt Eigenbau wirklich an?</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Was Fiori Elements für effiziente Dialoge kann</a:t>
            </a:r>
            <a:endParaRPr lang="en-US" sz="3400" dirty="0"/>
          </a:p>
        </p:txBody>
      </p:sp>
      <p:sp>
        <p:nvSpPr>
          <p:cNvPr id="3" name="Touch-Modus „Cozy“ Kreis"/>
          <p:cNvSpPr/>
          <p:nvPr/>
        </p:nvSpPr>
        <p:spPr>
          <a:xfrm>
            <a:off x="548640" y="1463040"/>
            <a:ext cx="731520" cy="731520"/>
          </a:xfrm>
          <a:prstGeom prst="ellipse">
            <a:avLst/>
          </a:prstGeom>
          <a:solidFill>
            <a:schemeClr val="accent1"/>
          </a:solidFill>
          <a:ln/>
        </p:spPr>
      </p:sp>
      <p:pic>
        <p:nvPicPr>
          <p:cNvPr id="4" name="Touch-Modus „Cozy“ Icon" descr="Touch-Modus „Cozy“">    </p:cNvPr>
          <p:cNvPicPr>
            <a:picLocks noChangeAspect="1"/>
          </p:cNvPicPr>
          <p:nvPr/>
        </p:nvPicPr>
        <p:blipFill>
          <a:blip r:embed="rId1"/>
          <a:stretch>
            <a:fillRect/>
          </a:stretch>
        </p:blipFill>
        <p:spPr>
          <a:xfrm>
            <a:off x="731520" y="1645920"/>
            <a:ext cx="365760" cy="365760"/>
          </a:xfrm>
          <a:prstGeom prst="rect">
            <a:avLst/>
          </a:prstGeom>
        </p:spPr>
      </p:pic>
      <p:sp>
        <p:nvSpPr>
          <p:cNvPr id="5" name="Text 2"/>
          <p:cNvSpPr txBox="1"/>
          <p:nvPr/>
        </p:nvSpPr>
        <p:spPr>
          <a:xfrm>
            <a:off x="1508760" y="14173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Touch-Modus „Cozy“</a:t>
            </a:r>
            <a:endParaRPr lang="en-US" sz="1800" dirty="0"/>
          </a:p>
        </p:txBody>
      </p:sp>
      <p:sp>
        <p:nvSpPr>
          <p:cNvPr id="6" name="Text 3"/>
          <p:cNvSpPr txBox="1"/>
          <p:nvPr/>
        </p:nvSpPr>
        <p:spPr>
          <a:xfrm>
            <a:off x="1508760" y="1828800"/>
            <a:ext cx="4389120" cy="960120"/>
          </a:xfrm>
          <a:prstGeom prst="rect">
            <a:avLst/>
          </a:prstGeom>
          <a:noFill/>
          <a:ln/>
        </p:spPr>
        <p:txBody>
          <a:bodyPr wrap="square" lIns="0" tIns="0" rIns="0" bIns="0" rtlCol="0" anchor="t"/>
          <a:lstStyle/>
          <a:p>
            <a:pPr indent="0" marL="0">
              <a:buNone/>
            </a:pPr>
            <a:r>
              <a:rPr lang="en-US" sz="1400" dirty="0">
                <a:solidFill>
                  <a:schemeClr val="tx1"/>
                </a:solidFill>
              </a:rPr>
              <a:t>Größere Zeilen, Buttons und Eingabefelder für Touch-Geräte – eine Einstellung, kein CSS.</a:t>
            </a:r>
            <a:endParaRPr lang="en-US" sz="1400" dirty="0"/>
          </a:p>
        </p:txBody>
      </p:sp>
      <p:sp>
        <p:nvSpPr>
          <p:cNvPr id="7" name="Aktionen immer sichtbar Kreis"/>
          <p:cNvSpPr/>
          <p:nvPr/>
        </p:nvSpPr>
        <p:spPr>
          <a:xfrm>
            <a:off x="6217920" y="1463040"/>
            <a:ext cx="731520" cy="731520"/>
          </a:xfrm>
          <a:prstGeom prst="ellipse">
            <a:avLst/>
          </a:prstGeom>
          <a:solidFill>
            <a:schemeClr val="accent1"/>
          </a:solidFill>
          <a:ln/>
        </p:spPr>
      </p:sp>
      <p:pic>
        <p:nvPicPr>
          <p:cNvPr id="8" name="Aktionen immer sichtbar Icon" descr="Aktionen immer sichtbar">    </p:cNvPr>
          <p:cNvPicPr>
            <a:picLocks noChangeAspect="1"/>
          </p:cNvPicPr>
          <p:nvPr/>
        </p:nvPicPr>
        <p:blipFill>
          <a:blip r:embed="rId2"/>
          <a:stretch>
            <a:fillRect/>
          </a:stretch>
        </p:blipFill>
        <p:spPr>
          <a:xfrm>
            <a:off x="6400800" y="1645920"/>
            <a:ext cx="365760" cy="365760"/>
          </a:xfrm>
          <a:prstGeom prst="rect">
            <a:avLst/>
          </a:prstGeom>
        </p:spPr>
      </p:pic>
      <p:sp>
        <p:nvSpPr>
          <p:cNvPr id="9" name="Text 5"/>
          <p:cNvSpPr txBox="1"/>
          <p:nvPr/>
        </p:nvSpPr>
        <p:spPr>
          <a:xfrm>
            <a:off x="7178040" y="14173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Aktionen immer sichtbar</a:t>
            </a:r>
            <a:endParaRPr lang="en-US" sz="1800" dirty="0"/>
          </a:p>
        </p:txBody>
      </p:sp>
      <p:sp>
        <p:nvSpPr>
          <p:cNvPr id="10" name="Text 6"/>
          <p:cNvSpPr txBox="1"/>
          <p:nvPr/>
        </p:nvSpPr>
        <p:spPr>
          <a:xfrm>
            <a:off x="7178040" y="1828800"/>
            <a:ext cx="4389120" cy="960120"/>
          </a:xfrm>
          <a:prstGeom prst="rect">
            <a:avLst/>
          </a:prstGeom>
          <a:noFill/>
          <a:ln/>
        </p:spPr>
        <p:txBody>
          <a:bodyPr wrap="square" lIns="0" tIns="0" rIns="0" bIns="0" rtlCol="0" anchor="t"/>
          <a:lstStyle/>
          <a:p>
            <a:pPr indent="0" marL="0">
              <a:buNone/>
            </a:pPr>
            <a:r>
              <a:rPr lang="en-US" sz="1400" dirty="0">
                <a:solidFill>
                  <a:schemeClr val="tx1"/>
                </a:solidFill>
              </a:rPr>
              <a:t>Hauptaktionen fest in der Fußleiste oder direkt in der Tabellenzeile (Inline-Aktion) – ein Klick.</a:t>
            </a:r>
            <a:endParaRPr lang="en-US" sz="1400" dirty="0"/>
          </a:p>
        </p:txBody>
      </p:sp>
      <p:sp>
        <p:nvSpPr>
          <p:cNvPr id="11" name="Vorbelegte Werte Kreis"/>
          <p:cNvSpPr/>
          <p:nvPr/>
        </p:nvSpPr>
        <p:spPr>
          <a:xfrm>
            <a:off x="548640" y="3063240"/>
            <a:ext cx="731520" cy="731520"/>
          </a:xfrm>
          <a:prstGeom prst="ellipse">
            <a:avLst/>
          </a:prstGeom>
          <a:solidFill>
            <a:schemeClr val="accent1"/>
          </a:solidFill>
          <a:ln/>
        </p:spPr>
      </p:sp>
      <p:pic>
        <p:nvPicPr>
          <p:cNvPr id="12" name="Vorbelegte Werte Icon" descr="Vorbelegte Werte">    </p:cNvPr>
          <p:cNvPicPr>
            <a:picLocks noChangeAspect="1"/>
          </p:cNvPicPr>
          <p:nvPr/>
        </p:nvPicPr>
        <p:blipFill>
          <a:blip r:embed="rId3"/>
          <a:stretch>
            <a:fillRect/>
          </a:stretch>
        </p:blipFill>
        <p:spPr>
          <a:xfrm>
            <a:off x="731520" y="3246120"/>
            <a:ext cx="365760" cy="365760"/>
          </a:xfrm>
          <a:prstGeom prst="rect">
            <a:avLst/>
          </a:prstGeom>
        </p:spPr>
      </p:pic>
      <p:sp>
        <p:nvSpPr>
          <p:cNvPr id="13" name="Text 8"/>
          <p:cNvSpPr txBox="1"/>
          <p:nvPr/>
        </p:nvSpPr>
        <p:spPr>
          <a:xfrm>
            <a:off x="1508760" y="30175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Vorbelegte Werte</a:t>
            </a:r>
            <a:endParaRPr lang="en-US" sz="1800" dirty="0"/>
          </a:p>
        </p:txBody>
      </p:sp>
      <p:sp>
        <p:nvSpPr>
          <p:cNvPr id="14" name="Text 9"/>
          <p:cNvSpPr txBox="1"/>
          <p:nvPr/>
        </p:nvSpPr>
        <p:spPr>
          <a:xfrm>
            <a:off x="1508760" y="3429000"/>
            <a:ext cx="4389120" cy="960120"/>
          </a:xfrm>
          <a:prstGeom prst="rect">
            <a:avLst/>
          </a:prstGeom>
          <a:noFill/>
          <a:ln/>
        </p:spPr>
        <p:txBody>
          <a:bodyPr wrap="square" lIns="0" tIns="0" rIns="0" bIns="0" rtlCol="0" anchor="t"/>
          <a:lstStyle/>
          <a:p>
            <a:pPr indent="0" marL="0">
              <a:buNone/>
            </a:pPr>
            <a:r>
              <a:rPr lang="en-US" sz="1400" dirty="0">
                <a:solidFill>
                  <a:schemeClr val="tx1"/>
                </a:solidFill>
              </a:rPr>
              <a:t>Dialog-Parameter per Annotation vorbelegen – oft nur noch „Bestätigen“.</a:t>
            </a:r>
            <a:endParaRPr lang="en-US" sz="1400" dirty="0"/>
          </a:p>
        </p:txBody>
      </p:sp>
      <p:sp>
        <p:nvSpPr>
          <p:cNvPr id="15" name="Handheld-Scanner Kreis"/>
          <p:cNvSpPr/>
          <p:nvPr/>
        </p:nvSpPr>
        <p:spPr>
          <a:xfrm>
            <a:off x="6217920" y="3063240"/>
            <a:ext cx="731520" cy="731520"/>
          </a:xfrm>
          <a:prstGeom prst="ellipse">
            <a:avLst/>
          </a:prstGeom>
          <a:solidFill>
            <a:schemeClr val="accent1"/>
          </a:solidFill>
          <a:ln/>
        </p:spPr>
      </p:sp>
      <p:pic>
        <p:nvPicPr>
          <p:cNvPr id="16" name="Handheld-Scanner Icon" descr="Handheld-Scanner">    </p:cNvPr>
          <p:cNvPicPr>
            <a:picLocks noChangeAspect="1"/>
          </p:cNvPicPr>
          <p:nvPr/>
        </p:nvPicPr>
        <p:blipFill>
          <a:blip r:embed="rId4"/>
          <a:stretch>
            <a:fillRect/>
          </a:stretch>
        </p:blipFill>
        <p:spPr>
          <a:xfrm>
            <a:off x="6400800" y="3246120"/>
            <a:ext cx="365760" cy="365760"/>
          </a:xfrm>
          <a:prstGeom prst="rect">
            <a:avLst/>
          </a:prstGeom>
        </p:spPr>
      </p:pic>
      <p:sp>
        <p:nvSpPr>
          <p:cNvPr id="17" name="Text 11"/>
          <p:cNvSpPr txBox="1"/>
          <p:nvPr/>
        </p:nvSpPr>
        <p:spPr>
          <a:xfrm>
            <a:off x="7178040" y="30175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Handheld-Scanner</a:t>
            </a:r>
            <a:endParaRPr lang="en-US" sz="1800" dirty="0"/>
          </a:p>
        </p:txBody>
      </p:sp>
      <p:sp>
        <p:nvSpPr>
          <p:cNvPr id="18" name="Text 12"/>
          <p:cNvSpPr txBox="1"/>
          <p:nvPr/>
        </p:nvSpPr>
        <p:spPr>
          <a:xfrm>
            <a:off x="7178040" y="3429000"/>
            <a:ext cx="4389120" cy="960120"/>
          </a:xfrm>
          <a:prstGeom prst="rect">
            <a:avLst/>
          </a:prstGeom>
          <a:noFill/>
          <a:ln/>
        </p:spPr>
        <p:txBody>
          <a:bodyPr wrap="square" lIns="0" tIns="0" rIns="0" bIns="0" rtlCol="0" anchor="t"/>
          <a:lstStyle/>
          <a:p>
            <a:pPr indent="0" marL="0">
              <a:buNone/>
            </a:pPr>
            <a:r>
              <a:rPr lang="en-US" sz="1400" dirty="0">
                <a:solidFill>
                  <a:schemeClr val="tx1"/>
                </a:solidFill>
              </a:rPr>
              <a:t>Unsere Handheld-Scanner arbeiten wie eine Tastatur – sie funktionieren in jedem Eingabefeld. Kamera-Scan wäre eine kleine Erweiterung.</a:t>
            </a:r>
            <a:endParaRPr lang="en-US" sz="1400" dirty="0"/>
          </a:p>
        </p:txBody>
      </p:sp>
      <p:sp>
        <p:nvSpPr>
          <p:cNvPr id="19" name="Massenbearbeitung Kreis"/>
          <p:cNvSpPr/>
          <p:nvPr/>
        </p:nvSpPr>
        <p:spPr>
          <a:xfrm>
            <a:off x="548640" y="4663440"/>
            <a:ext cx="731520" cy="731520"/>
          </a:xfrm>
          <a:prstGeom prst="ellipse">
            <a:avLst/>
          </a:prstGeom>
          <a:solidFill>
            <a:schemeClr val="accent1"/>
          </a:solidFill>
          <a:ln/>
        </p:spPr>
      </p:sp>
      <p:pic>
        <p:nvPicPr>
          <p:cNvPr id="20" name="Massenbearbeitung Icon" descr="Massenbearbeitung">    </p:cNvPr>
          <p:cNvPicPr>
            <a:picLocks noChangeAspect="1"/>
          </p:cNvPicPr>
          <p:nvPr/>
        </p:nvPicPr>
        <p:blipFill>
          <a:blip r:embed="rId5"/>
          <a:stretch>
            <a:fillRect/>
          </a:stretch>
        </p:blipFill>
        <p:spPr>
          <a:xfrm>
            <a:off x="731520" y="4846320"/>
            <a:ext cx="365760" cy="365760"/>
          </a:xfrm>
          <a:prstGeom prst="rect">
            <a:avLst/>
          </a:prstGeom>
        </p:spPr>
      </p:pic>
      <p:sp>
        <p:nvSpPr>
          <p:cNvPr id="21" name="Text 14"/>
          <p:cNvSpPr txBox="1"/>
          <p:nvPr/>
        </p:nvSpPr>
        <p:spPr>
          <a:xfrm>
            <a:off x="1508760" y="46177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Massenbearbeitung</a:t>
            </a:r>
            <a:endParaRPr lang="en-US" sz="1800" dirty="0"/>
          </a:p>
        </p:txBody>
      </p:sp>
      <p:sp>
        <p:nvSpPr>
          <p:cNvPr id="22" name="Text 15"/>
          <p:cNvSpPr txBox="1"/>
          <p:nvPr/>
        </p:nvSpPr>
        <p:spPr>
          <a:xfrm>
            <a:off x="1508760" y="5029200"/>
            <a:ext cx="4389120" cy="960120"/>
          </a:xfrm>
          <a:prstGeom prst="rect">
            <a:avLst/>
          </a:prstGeom>
          <a:noFill/>
          <a:ln/>
        </p:spPr>
        <p:txBody>
          <a:bodyPr wrap="square" lIns="0" tIns="0" rIns="0" bIns="0" rtlCol="0" anchor="t"/>
          <a:lstStyle/>
          <a:p>
            <a:pPr indent="0" marL="0">
              <a:buNone/>
            </a:pPr>
            <a:r>
              <a:rPr lang="en-US" sz="1400" dirty="0">
                <a:solidFill>
                  <a:schemeClr val="tx1"/>
                </a:solidFill>
              </a:rPr>
              <a:t>Mehrere Zeilen markieren und in einem Schritt ändern statt einzeln.</a:t>
            </a:r>
            <a:endParaRPr lang="en-US" sz="1400" dirty="0"/>
          </a:p>
        </p:txBody>
      </p:sp>
      <p:sp>
        <p:nvSpPr>
          <p:cNvPr id="23" name="Firmen-Theme Kreis"/>
          <p:cNvSpPr/>
          <p:nvPr/>
        </p:nvSpPr>
        <p:spPr>
          <a:xfrm>
            <a:off x="6217920" y="4663440"/>
            <a:ext cx="731520" cy="731520"/>
          </a:xfrm>
          <a:prstGeom prst="ellipse">
            <a:avLst/>
          </a:prstGeom>
          <a:solidFill>
            <a:schemeClr val="accent1"/>
          </a:solidFill>
          <a:ln/>
        </p:spPr>
      </p:sp>
      <p:pic>
        <p:nvPicPr>
          <p:cNvPr id="24" name="Firmen-Theme Icon" descr="Firmen-Theme">    </p:cNvPr>
          <p:cNvPicPr>
            <a:picLocks noChangeAspect="1"/>
          </p:cNvPicPr>
          <p:nvPr/>
        </p:nvPicPr>
        <p:blipFill>
          <a:blip r:embed="rId6"/>
          <a:stretch>
            <a:fillRect/>
          </a:stretch>
        </p:blipFill>
        <p:spPr>
          <a:xfrm>
            <a:off x="6400800" y="4846320"/>
            <a:ext cx="365760" cy="365760"/>
          </a:xfrm>
          <a:prstGeom prst="rect">
            <a:avLst/>
          </a:prstGeom>
        </p:spPr>
      </p:pic>
      <p:sp>
        <p:nvSpPr>
          <p:cNvPr id="25" name="Text 17"/>
          <p:cNvSpPr txBox="1"/>
          <p:nvPr/>
        </p:nvSpPr>
        <p:spPr>
          <a:xfrm>
            <a:off x="7178040" y="46177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Firmen-Theme</a:t>
            </a:r>
            <a:endParaRPr lang="en-US" sz="1800" dirty="0"/>
          </a:p>
        </p:txBody>
      </p:sp>
      <p:sp>
        <p:nvSpPr>
          <p:cNvPr id="26" name="Text 18"/>
          <p:cNvSpPr txBox="1"/>
          <p:nvPr/>
        </p:nvSpPr>
        <p:spPr>
          <a:xfrm>
            <a:off x="7178040" y="5029200"/>
            <a:ext cx="4389120" cy="960120"/>
          </a:xfrm>
          <a:prstGeom prst="rect">
            <a:avLst/>
          </a:prstGeom>
          <a:noFill/>
          <a:ln/>
        </p:spPr>
        <p:txBody>
          <a:bodyPr wrap="square" lIns="0" tIns="0" rIns="0" bIns="0" rtlCol="0" anchor="t"/>
          <a:lstStyle/>
          <a:p>
            <a:pPr indent="0" marL="0">
              <a:buNone/>
            </a:pPr>
            <a:r>
              <a:rPr lang="en-US" sz="1400" dirty="0">
                <a:solidFill>
                  <a:schemeClr val="tx1"/>
                </a:solidFill>
              </a:rPr>
              <a:t>Farben, Kontraste und Schriftgrößen zentral über den Theme Designer – für alle Apps.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Technische Grenzen – auf beiden Seiten</a:t>
            </a:r>
            <a:endParaRPr lang="en-US" sz="3400" dirty="0"/>
          </a:p>
        </p:txBody>
      </p:sp>
      <p:sp>
        <p:nvSpPr>
          <p:cNvPr id="3" name="Grenzen von Fiori Elements"/>
          <p:cNvSpPr/>
          <p:nvPr/>
        </p:nvSpPr>
        <p:spPr>
          <a:xfrm>
            <a:off x="548640" y="1371600"/>
            <a:ext cx="5394960" cy="3291840"/>
          </a:xfrm>
          <a:prstGeom prst="roundRect">
            <a:avLst>
              <a:gd name="adj" fmla="val 3333"/>
            </a:avLst>
          </a:prstGeom>
          <a:solidFill>
            <a:schemeClr val="accent6"/>
          </a:solidFill>
          <a:ln/>
        </p:spPr>
      </p:sp>
      <p:sp>
        <p:nvSpPr>
          <p:cNvPr id="4" name="Grenzen von Fiori Elements Kreis"/>
          <p:cNvSpPr/>
          <p:nvPr/>
        </p:nvSpPr>
        <p:spPr>
          <a:xfrm>
            <a:off x="822960" y="1600200"/>
            <a:ext cx="685800" cy="685800"/>
          </a:xfrm>
          <a:prstGeom prst="ellipse">
            <a:avLst/>
          </a:prstGeom>
          <a:solidFill>
            <a:schemeClr val="accent1"/>
          </a:solidFill>
          <a:ln/>
        </p:spPr>
      </p:sp>
      <p:pic>
        <p:nvPicPr>
          <p:cNvPr id="5" name="Grenzen von Fiori Elements Icon" descr="Grenzen von Fiori Elements">    </p:cNvPr>
          <p:cNvPicPr>
            <a:picLocks noChangeAspect="1"/>
          </p:cNvPicPr>
          <p:nvPr/>
        </p:nvPicPr>
        <p:blipFill>
          <a:blip r:embed="rId1"/>
          <a:stretch>
            <a:fillRect/>
          </a:stretch>
        </p:blipFill>
        <p:spPr>
          <a:xfrm>
            <a:off x="994410" y="1771650"/>
            <a:ext cx="342900" cy="342900"/>
          </a:xfrm>
          <a:prstGeom prst="rect">
            <a:avLst/>
          </a:prstGeom>
        </p:spPr>
      </p:pic>
      <p:sp>
        <p:nvSpPr>
          <p:cNvPr id="6" name="Text 3"/>
          <p:cNvSpPr txBox="1"/>
          <p:nvPr/>
        </p:nvSpPr>
        <p:spPr>
          <a:xfrm>
            <a:off x="1691640" y="1600200"/>
            <a:ext cx="4023360" cy="685800"/>
          </a:xfrm>
          <a:prstGeom prst="rect">
            <a:avLst/>
          </a:prstGeom>
          <a:noFill/>
          <a:ln/>
        </p:spPr>
        <p:txBody>
          <a:bodyPr wrap="square" lIns="0" tIns="0" rIns="0" bIns="0" rtlCol="0" anchor="ctr"/>
          <a:lstStyle/>
          <a:p>
            <a:pPr indent="0" marL="0">
              <a:buNone/>
            </a:pPr>
            <a:r>
              <a:rPr lang="en-US" sz="2000" b="1" dirty="0">
                <a:solidFill>
                  <a:schemeClr val="accent1"/>
                </a:solidFill>
              </a:rPr>
              <a:t>Grenzen von Fiori Elements</a:t>
            </a:r>
            <a:endParaRPr lang="en-US" sz="2000" dirty="0"/>
          </a:p>
        </p:txBody>
      </p:sp>
      <p:sp>
        <p:nvSpPr>
          <p:cNvPr id="7" name="Text 4"/>
          <p:cNvSpPr txBox="1"/>
          <p:nvPr/>
        </p:nvSpPr>
        <p:spPr>
          <a:xfrm>
            <a:off x="822960" y="2514600"/>
            <a:ext cx="4846320" cy="20574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Feste Floorplans, kein eigenes CSS – Buttons nicht frei platzierbar</a:t>
            </a:r>
            <a:endParaRPr lang="en-US" sz="1500" dirty="0"/>
          </a:p>
          <a:p>
            <a:pPr marL="342900" indent="-342900">
              <a:spcAft>
                <a:spcPts val="800"/>
              </a:spcAft>
              <a:buSzPct val="100000"/>
              <a:buChar char="•"/>
            </a:pPr>
            <a:r>
              <a:rPr lang="en-US" sz="1500" dirty="0">
                <a:solidFill>
                  <a:schemeClr val="tx1"/>
                </a:solidFill>
              </a:rPr>
              <a:t>Auf kleinen Handheld-Displays wirken Filterleiste und Tabellen schnell überladen</a:t>
            </a:r>
            <a:endParaRPr lang="en-US" sz="1500" dirty="0"/>
          </a:p>
          <a:p>
            <a:pPr marL="342900" indent="-342900">
              <a:spcAft>
                <a:spcPts val="800"/>
              </a:spcAft>
              <a:buSzPct val="100000"/>
              <a:buChar char="•"/>
            </a:pPr>
            <a:r>
              <a:rPr lang="en-US" sz="1500" dirty="0">
                <a:solidFill>
                  <a:schemeClr val="tx1"/>
                </a:solidFill>
              </a:rPr>
              <a:t>Kamera-Scan, Fokus-Sprung und Auto-Bestätigen brauchen eine Erweiterung (UI5-Scanner-Baustein in eigenem Abschnitt)</a:t>
            </a:r>
            <a:endParaRPr lang="en-US" sz="1500" dirty="0"/>
          </a:p>
        </p:txBody>
      </p:sp>
      <p:sp>
        <p:nvSpPr>
          <p:cNvPr id="8" name="Grenzen von Freestyle"/>
          <p:cNvSpPr/>
          <p:nvPr/>
        </p:nvSpPr>
        <p:spPr>
          <a:xfrm>
            <a:off x="6217920" y="1371600"/>
            <a:ext cx="5394960" cy="3291840"/>
          </a:xfrm>
          <a:prstGeom prst="roundRect">
            <a:avLst>
              <a:gd name="adj" fmla="val 3333"/>
            </a:avLst>
          </a:prstGeom>
          <a:solidFill>
            <a:schemeClr val="accent5"/>
          </a:solidFill>
          <a:ln/>
        </p:spPr>
      </p:sp>
      <p:sp>
        <p:nvSpPr>
          <p:cNvPr id="9" name="Grenzen von Freestyle Kreis"/>
          <p:cNvSpPr/>
          <p:nvPr/>
        </p:nvSpPr>
        <p:spPr>
          <a:xfrm>
            <a:off x="6492240" y="1600200"/>
            <a:ext cx="685800" cy="685800"/>
          </a:xfrm>
          <a:prstGeom prst="ellipse">
            <a:avLst/>
          </a:prstGeom>
          <a:solidFill>
            <a:schemeClr val="accent2"/>
          </a:solidFill>
          <a:ln/>
        </p:spPr>
      </p:sp>
      <p:pic>
        <p:nvPicPr>
          <p:cNvPr id="10" name="Grenzen von Freestyle Icon" descr="Grenzen von Freestyle">    </p:cNvPr>
          <p:cNvPicPr>
            <a:picLocks noChangeAspect="1"/>
          </p:cNvPicPr>
          <p:nvPr/>
        </p:nvPicPr>
        <p:blipFill>
          <a:blip r:embed="rId2"/>
          <a:stretch>
            <a:fillRect/>
          </a:stretch>
        </p:blipFill>
        <p:spPr>
          <a:xfrm>
            <a:off x="6663690" y="1771650"/>
            <a:ext cx="342900" cy="342900"/>
          </a:xfrm>
          <a:prstGeom prst="rect">
            <a:avLst/>
          </a:prstGeom>
        </p:spPr>
      </p:pic>
      <p:sp>
        <p:nvSpPr>
          <p:cNvPr id="11" name="Text 7"/>
          <p:cNvSpPr txBox="1"/>
          <p:nvPr/>
        </p:nvSpPr>
        <p:spPr>
          <a:xfrm>
            <a:off x="7360920" y="1600200"/>
            <a:ext cx="4023360" cy="685800"/>
          </a:xfrm>
          <a:prstGeom prst="rect">
            <a:avLst/>
          </a:prstGeom>
          <a:noFill/>
          <a:ln/>
        </p:spPr>
        <p:txBody>
          <a:bodyPr wrap="square" lIns="0" tIns="0" rIns="0" bIns="0" rtlCol="0" anchor="ctr"/>
          <a:lstStyle/>
          <a:p>
            <a:pPr indent="0" marL="0">
              <a:buNone/>
            </a:pPr>
            <a:r>
              <a:rPr lang="en-US" sz="2000" b="1" dirty="0">
                <a:solidFill>
                  <a:schemeClr val="accent2"/>
                </a:solidFill>
              </a:rPr>
              <a:t>Grenzen von Freestyle</a:t>
            </a:r>
            <a:endParaRPr lang="en-US" sz="2000" dirty="0"/>
          </a:p>
        </p:txBody>
      </p:sp>
      <p:sp>
        <p:nvSpPr>
          <p:cNvPr id="12" name="Text 8"/>
          <p:cNvSpPr txBox="1"/>
          <p:nvPr/>
        </p:nvSpPr>
        <p:spPr>
          <a:xfrm>
            <a:off x="6492240" y="2514600"/>
            <a:ext cx="4846320" cy="20574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Eigenes CSS greift in interne UI5-Strukturen ein – kein stabiles API, kann bei jedem Upgrade brechen</a:t>
            </a:r>
            <a:endParaRPr lang="en-US" sz="1500" dirty="0"/>
          </a:p>
          <a:p>
            <a:pPr marL="342900" indent="-342900">
              <a:spcAft>
                <a:spcPts val="800"/>
              </a:spcAft>
              <a:buSzPct val="100000"/>
              <a:buChar char="•"/>
            </a:pPr>
            <a:r>
              <a:rPr lang="en-US" sz="1500" dirty="0">
                <a:solidFill>
                  <a:schemeClr val="tx1"/>
                </a:solidFill>
              </a:rPr>
              <a:t>Jedes Gerät und jede Bildschirmgröße selbst testen</a:t>
            </a:r>
            <a:endParaRPr lang="en-US" sz="1500" dirty="0"/>
          </a:p>
          <a:p>
            <a:pPr marL="342900" indent="-342900">
              <a:spcAft>
                <a:spcPts val="800"/>
              </a:spcAft>
              <a:buSzPct val="100000"/>
              <a:buChar char="•"/>
            </a:pPr>
            <a:r>
              <a:rPr lang="en-US" sz="1500" dirty="0">
                <a:solidFill>
                  <a:schemeClr val="tx1"/>
                </a:solidFill>
              </a:rPr>
              <a:t>Jeder optimierte Ablauf ist eigener Code mit eigener Wartung</a:t>
            </a:r>
            <a:endParaRPr lang="en-US" sz="1500" dirty="0"/>
          </a:p>
        </p:txBody>
      </p:sp>
      <p:sp>
        <p:nvSpPr>
          <p:cNvPr id="13" name="Text 9"/>
          <p:cNvSpPr txBox="1"/>
          <p:nvPr/>
        </p:nvSpPr>
        <p:spPr>
          <a:xfrm>
            <a:off x="548640" y="4754880"/>
            <a:ext cx="11064240" cy="365760"/>
          </a:xfrm>
          <a:prstGeom prst="rect">
            <a:avLst/>
          </a:prstGeom>
          <a:noFill/>
          <a:ln/>
        </p:spPr>
        <p:txBody>
          <a:bodyPr wrap="square" lIns="0" tIns="0" rIns="0" bIns="0" rtlCol="0" anchor="ctr"/>
          <a:lstStyle/>
          <a:p>
            <a:pPr indent="0" marL="0">
              <a:buNone/>
            </a:pPr>
            <a:r>
              <a:rPr lang="en-US" sz="1400" b="1" dirty="0">
                <a:solidFill>
                  <a:schemeClr val="tx1"/>
                </a:solidFill>
              </a:rPr>
              <a:t>Für beide gilt: </a:t>
            </a:r>
            <a:pPr indent="0" marL="0">
              <a:buNone/>
            </a:pPr>
            <a:r>
              <a:rPr lang="en-US" sz="1400" dirty="0">
                <a:solidFill>
                  <a:schemeClr val="tx1"/>
                </a:solidFill>
              </a:rPr>
              <a:t>Unsere Handheld-Scanner funktionieren in beiden Varianten. Offline-Betrieb geht mit keiner der beiden ohne Weiteres.</a:t>
            </a:r>
            <a:endParaRPr lang="en-US" sz="1400" dirty="0"/>
          </a:p>
        </p:txBody>
      </p:sp>
      <p:sp>
        <p:nvSpPr>
          <p:cNvPr id="14" name="Fazit CSS"/>
          <p:cNvSpPr/>
          <p:nvPr/>
        </p:nvSpPr>
        <p:spPr>
          <a:xfrm>
            <a:off x="548640" y="5257800"/>
            <a:ext cx="11064240" cy="914400"/>
          </a:xfrm>
          <a:prstGeom prst="roundRect">
            <a:avLst>
              <a:gd name="adj" fmla="val 10000"/>
            </a:avLst>
          </a:prstGeom>
          <a:solidFill>
            <a:schemeClr val="tx2"/>
          </a:solidFill>
          <a:ln/>
        </p:spPr>
      </p:sp>
      <p:sp>
        <p:nvSpPr>
          <p:cNvPr id="15" name="Text 11"/>
          <p:cNvSpPr txBox="1"/>
          <p:nvPr/>
        </p:nvSpPr>
        <p:spPr>
          <a:xfrm>
            <a:off x="777240" y="5257800"/>
            <a:ext cx="10607040" cy="914400"/>
          </a:xfrm>
          <a:prstGeom prst="rect">
            <a:avLst/>
          </a:prstGeom>
          <a:noFill/>
          <a:ln/>
        </p:spPr>
        <p:txBody>
          <a:bodyPr wrap="square" lIns="0" tIns="0" rIns="0" bIns="0" rtlCol="0" anchor="ctr"/>
          <a:lstStyle/>
          <a:p>
            <a:pPr indent="0" marL="0">
              <a:buNone/>
            </a:pPr>
            <a:r>
              <a:rPr lang="en-US" sz="1800" b="1" dirty="0">
                <a:solidFill>
                  <a:schemeClr val="bg1"/>
                </a:solidFill>
              </a:rPr>
              <a:t>„Wir passen das per CSS an“ ist kein Einmalaufwand – es ist eine Wette darauf, dass SAP die internen Strukturen nie ändert.</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Entscheidungshilfe für den Shopfloor</a:t>
            </a:r>
            <a:endParaRPr lang="en-US" sz="3400" dirty="0"/>
          </a:p>
        </p:txBody>
      </p:sp>
      <p:graphicFrame>
        <p:nvGraphicFramePr>
          <p:cNvPr id="16" name="Tabelle Shopfloor"/>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017520"/>
                <a:gridCol w="4206240"/>
                <a:gridCol w="3840480"/>
              </a:tblGrid>
              <a:tr h="6400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Szenario</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Beispiel</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Empfehlung</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r>
              <a:tr h="640080">
                <a:tc>
                  <a:txBody>
                    <a:bodyPr/>
                    <a:lstStyle/>
                    <a:p>
                      <a:pPr indent="0" marL="0">
                        <a:buNone/>
                      </a:pPr>
                      <a:r>
                        <a:rPr lang="en-US" sz="1500" b="1" dirty="0">
                          <a:solidFill>
                            <a:srgbClr val="1B2B34"/>
                          </a:solidFill>
                          <a:latin typeface="Calibri" pitchFamily="34" charset="0"/>
                          <a:ea typeface="Calibri" pitchFamily="34" charset="-122"/>
                          <a:cs typeface="Calibri" pitchFamily="34" charset="-120"/>
                        </a:rPr>
                        <a:t>Übersicht &amp; Disposition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Leitstand, Auftragsliste, Bestandsübersicht am PC</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rgbClr val="1F8A70"/>
                          </a:solidFill>
                          <a:latin typeface="Calibri" pitchFamily="34" charset="0"/>
                          <a:ea typeface="Calibri" pitchFamily="34" charset="-122"/>
                          <a:cs typeface="Calibri" pitchFamily="34" charset="-120"/>
                        </a:rPr>
                        <a:t>Fiori Elements</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1B2B34"/>
                          </a:solidFill>
                          <a:latin typeface="Calibri" pitchFamily="34" charset="0"/>
                          <a:ea typeface="Calibri" pitchFamily="34" charset="-122"/>
                          <a:cs typeface="Calibri" pitchFamily="34" charset="-120"/>
                        </a:rPr>
                        <a:t>Bestätigen am Tablet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Wareneingang prüfen, Auftrag rückmelden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rgbClr val="1F8A70"/>
                          </a:solidFill>
                          <a:latin typeface="Calibri" pitchFamily="34" charset="0"/>
                          <a:ea typeface="Calibri" pitchFamily="34" charset="-122"/>
                          <a:cs typeface="Calibri" pitchFamily="34" charset="-120"/>
                        </a:rPr>
                        <a:t>Fiori Elements, Cozy + Inline-Aktion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1B2B34"/>
                          </a:solidFill>
                          <a:latin typeface="Calibri" pitchFamily="34" charset="0"/>
                          <a:ea typeface="Calibri" pitchFamily="34" charset="-122"/>
                          <a:cs typeface="Calibri" pitchFamily="34" charset="-120"/>
                        </a:rPr>
                        <a:t>Standard mit Spezialteil</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Objektseite plus eigener Scan-Bereich</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rgbClr val="1F8A70"/>
                          </a:solidFill>
                          <a:latin typeface="Calibri" pitchFamily="34" charset="0"/>
                          <a:ea typeface="Calibri" pitchFamily="34" charset="-122"/>
                          <a:cs typeface="Calibri" pitchFamily="34" charset="-120"/>
                        </a:rPr>
                        <a:t>Fiori Elements + Erweiterung</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1B2B34"/>
                          </a:solidFill>
                          <a:latin typeface="Calibri" pitchFamily="34" charset="0"/>
                          <a:ea typeface="Calibri" pitchFamily="34" charset="-122"/>
                          <a:cs typeface="Calibri" pitchFamily="34" charset="-120"/>
                        </a:rPr>
                        <a:t>Scan-Ablauf am Handheld</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Scannen → Menge → Buchen, hunderte Male pro Schicht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rgbClr val="D9661F"/>
                          </a:solidFill>
                          <a:latin typeface="Calibri" pitchFamily="34" charset="0"/>
                          <a:ea typeface="Calibri" pitchFamily="34" charset="-122"/>
                          <a:cs typeface="Calibri" pitchFamily="34" charset="-120"/>
                        </a:rPr>
                        <a:t>Schlanke Freestyle-App, bewusst klein gehalten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1B2B34"/>
                          </a:solidFill>
                          <a:latin typeface="Calibri" pitchFamily="34" charset="0"/>
                          <a:ea typeface="Calibri" pitchFamily="34" charset="-122"/>
                          <a:cs typeface="Calibri" pitchFamily="34" charset="-120"/>
                        </a:rPr>
                        <a:t>Offline im Lager</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Kein stabiles WLAN in der Halle</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rgbClr val="5E727B"/>
                          </a:solidFill>
                          <a:latin typeface="Calibri" pitchFamily="34" charset="0"/>
                          <a:ea typeface="Calibri" pitchFamily="34" charset="-122"/>
                          <a:cs typeface="Calibri" pitchFamily="34" charset="-120"/>
                        </a:rPr>
                        <a:t>Eigene Bewertung (z. B. SAP Mobile Development Kit)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15000"/>
            <a:ext cx="11064240" cy="457200"/>
          </a:xfrm>
          <a:prstGeom prst="rect">
            <a:avLst/>
          </a:prstGeom>
          <a:noFill/>
          <a:ln/>
        </p:spPr>
        <p:txBody>
          <a:bodyPr wrap="square" lIns="0" tIns="0" rIns="0" bIns="0" rtlCol="0" anchor="ctr"/>
          <a:lstStyle/>
          <a:p>
            <a:pPr indent="0" marL="0">
              <a:buNone/>
            </a:pPr>
            <a:r>
              <a:rPr lang="en-US" sz="1600" i="1" dirty="0">
                <a:solidFill>
                  <a:schemeClr val="tx2"/>
                </a:solidFill>
              </a:rPr>
              <a:t>Wenn Freestyle, dann für genau einen Ablauf – nicht als Nachbau einer kompletten Liste mit Detailseite.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Warehouse: eine Anwendung, zwei Technologien</a:t>
            </a:r>
            <a:endParaRPr lang="en-US" sz="3400" dirty="0"/>
          </a:p>
        </p:txBody>
      </p:sp>
      <p:sp>
        <p:nvSpPr>
          <p:cNvPr id="3" name="Text 1"/>
          <p:cNvSpPr txBox="1"/>
          <p:nvPr/>
        </p:nvSpPr>
        <p:spPr>
          <a:xfrm>
            <a:off x="548640" y="1234440"/>
            <a:ext cx="11064240" cy="365760"/>
          </a:xfrm>
          <a:prstGeom prst="rect">
            <a:avLst/>
          </a:prstGeom>
          <a:noFill/>
          <a:ln/>
        </p:spPr>
        <p:txBody>
          <a:bodyPr wrap="square" lIns="0" tIns="0" rIns="0" bIns="0" rtlCol="0" anchor="ctr"/>
          <a:lstStyle/>
          <a:p>
            <a:pPr indent="0" marL="0">
              <a:buNone/>
            </a:pPr>
            <a:r>
              <a:rPr lang="en-US" sz="1600" dirty="0">
                <a:solidFill>
                  <a:schemeClr val="accent4"/>
                </a:solidFill>
              </a:rPr>
              <a:t>Wareneingang: Die Logik liegt einmal im Backend – jede Oberfläche ist für ihre Nutzer gebaut.</a:t>
            </a:r>
            <a:endParaRPr lang="en-US" sz="1600" dirty="0"/>
          </a:p>
        </p:txBody>
      </p:sp>
      <p:sp>
        <p:nvSpPr>
          <p:cNvPr id="4" name="Lagerleitung Kreis"/>
          <p:cNvSpPr/>
          <p:nvPr/>
        </p:nvSpPr>
        <p:spPr>
          <a:xfrm>
            <a:off x="548640" y="1783080"/>
            <a:ext cx="548640" cy="548640"/>
          </a:xfrm>
          <a:prstGeom prst="ellipse">
            <a:avLst/>
          </a:prstGeom>
          <a:solidFill>
            <a:schemeClr val="tx2"/>
          </a:solidFill>
          <a:ln/>
        </p:spPr>
      </p:sp>
      <p:pic>
        <p:nvPicPr>
          <p:cNvPr id="5" name="Lagerleitung Icon" descr="Lagerleitung">    </p:cNvPr>
          <p:cNvPicPr>
            <a:picLocks noChangeAspect="1"/>
          </p:cNvPicPr>
          <p:nvPr/>
        </p:nvPicPr>
        <p:blipFill>
          <a:blip r:embed="rId1"/>
          <a:stretch>
            <a:fillRect/>
          </a:stretch>
        </p:blipFill>
        <p:spPr>
          <a:xfrm>
            <a:off x="685800" y="1920240"/>
            <a:ext cx="274320" cy="274320"/>
          </a:xfrm>
          <a:prstGeom prst="rect">
            <a:avLst/>
          </a:prstGeom>
        </p:spPr>
      </p:pic>
      <p:sp>
        <p:nvSpPr>
          <p:cNvPr id="6" name="Text 3"/>
          <p:cNvSpPr txBox="1"/>
          <p:nvPr/>
        </p:nvSpPr>
        <p:spPr>
          <a:xfrm>
            <a:off x="1234440" y="1737360"/>
            <a:ext cx="2788920" cy="640080"/>
          </a:xfrm>
          <a:prstGeom prst="rect">
            <a:avLst/>
          </a:prstGeom>
          <a:noFill/>
          <a:ln/>
        </p:spPr>
        <p:txBody>
          <a:bodyPr wrap="square" lIns="0" tIns="0" rIns="0" bIns="0" rtlCol="0" anchor="ctr"/>
          <a:lstStyle/>
          <a:p>
            <a:pPr indent="0" marL="0">
              <a:buNone/>
            </a:pPr>
            <a:r>
              <a:rPr lang="en-US" sz="1400" b="1" dirty="0">
                <a:solidFill>
                  <a:schemeClr val="tx1"/>
                </a:solidFill>
              </a:rPr>
              <a:t>Lagerleitung</a:t>
            </a:r>
            <a:endParaRPr lang="en-US" sz="1400" dirty="0"/>
          </a:p>
          <a:p>
            <a:pPr indent="0" marL="0">
              <a:buNone/>
            </a:pPr>
            <a:r>
              <a:rPr lang="en-US" sz="1400" dirty="0">
                <a:solidFill>
                  <a:schemeClr val="accent4"/>
                </a:solidFill>
              </a:rPr>
              <a:t>PC im Büro</a:t>
            </a:r>
            <a:endParaRPr lang="en-US" sz="1400" dirty="0"/>
          </a:p>
        </p:txBody>
      </p:sp>
      <p:sp>
        <p:nvSpPr>
          <p:cNvPr id="7" name="App Wareneingänge im Blick"/>
          <p:cNvSpPr/>
          <p:nvPr/>
        </p:nvSpPr>
        <p:spPr>
          <a:xfrm>
            <a:off x="548640" y="2560320"/>
            <a:ext cx="3474720" cy="2331720"/>
          </a:xfrm>
          <a:prstGeom prst="roundRect">
            <a:avLst>
              <a:gd name="adj" fmla="val 4706"/>
            </a:avLst>
          </a:prstGeom>
          <a:solidFill>
            <a:schemeClr val="accent6"/>
          </a:solidFill>
          <a:ln/>
        </p:spPr>
      </p:sp>
      <p:sp>
        <p:nvSpPr>
          <p:cNvPr id="8" name="Technik Wareneingänge im Blick"/>
          <p:cNvSpPr/>
          <p:nvPr/>
        </p:nvSpPr>
        <p:spPr>
          <a:xfrm>
            <a:off x="777240" y="2743200"/>
            <a:ext cx="1645920" cy="347472"/>
          </a:xfrm>
          <a:prstGeom prst="roundRect">
            <a:avLst>
              <a:gd name="adj" fmla="val 21053"/>
            </a:avLst>
          </a:prstGeom>
          <a:solidFill>
            <a:schemeClr val="accent1"/>
          </a:solidFill>
          <a:ln/>
        </p:spPr>
      </p:sp>
      <p:sp>
        <p:nvSpPr>
          <p:cNvPr id="9" name="Text 6"/>
          <p:cNvSpPr txBox="1"/>
          <p:nvPr/>
        </p:nvSpPr>
        <p:spPr>
          <a:xfrm>
            <a:off x="777240" y="2743200"/>
            <a:ext cx="1645920" cy="347472"/>
          </a:xfrm>
          <a:prstGeom prst="rect">
            <a:avLst/>
          </a:prstGeom>
          <a:noFill/>
          <a:ln/>
        </p:spPr>
        <p:txBody>
          <a:bodyPr wrap="square" lIns="0" tIns="0" rIns="0" bIns="0" rtlCol="0" anchor="ctr"/>
          <a:lstStyle/>
          <a:p>
            <a:pPr algn="ctr" indent="0" marL="0">
              <a:buNone/>
            </a:pPr>
            <a:r>
              <a:rPr lang="en-US" sz="1200" b="1" dirty="0">
                <a:solidFill>
                  <a:schemeClr val="bg1"/>
                </a:solidFill>
              </a:rPr>
              <a:t>Fiori Elements</a:t>
            </a:r>
            <a:endParaRPr lang="en-US" sz="1200" dirty="0"/>
          </a:p>
        </p:txBody>
      </p:sp>
      <p:sp>
        <p:nvSpPr>
          <p:cNvPr id="10" name="Text 7"/>
          <p:cNvSpPr txBox="1"/>
          <p:nvPr/>
        </p:nvSpPr>
        <p:spPr>
          <a:xfrm>
            <a:off x="777240" y="320040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Wareneingänge im Blick</a:t>
            </a:r>
            <a:endParaRPr lang="en-US" sz="1800" dirty="0"/>
          </a:p>
        </p:txBody>
      </p:sp>
      <p:sp>
        <p:nvSpPr>
          <p:cNvPr id="11" name="Text 8"/>
          <p:cNvSpPr txBox="1"/>
          <p:nvPr/>
        </p:nvSpPr>
        <p:spPr>
          <a:xfrm>
            <a:off x="777240" y="3611880"/>
            <a:ext cx="3017520" cy="1188720"/>
          </a:xfrm>
          <a:prstGeom prst="rect">
            <a:avLst/>
          </a:prstGeom>
          <a:noFill/>
          <a:ln/>
        </p:spPr>
        <p:txBody>
          <a:bodyPr wrap="square" lIns="0" tIns="0" rIns="0" bIns="0" rtlCol="0" anchor="t"/>
          <a:lstStyle/>
          <a:p>
            <a:pPr indent="0" marL="0">
              <a:buNone/>
            </a:pPr>
            <a:r>
              <a:rPr lang="en-US" sz="1400" dirty="0">
                <a:solidFill>
                  <a:schemeClr val="tx1"/>
                </a:solidFill>
              </a:rPr>
              <a:t>Liste mit Filter nach Lieferant, Status und Datum. Varianten, Export, Personalisierung inklusive.</a:t>
            </a:r>
            <a:endParaRPr lang="en-US" sz="1400" dirty="0"/>
          </a:p>
        </p:txBody>
      </p:sp>
      <p:sp>
        <p:nvSpPr>
          <p:cNvPr id="12" name="Pfeil Wareneingänge im Blick"/>
          <p:cNvSpPr/>
          <p:nvPr/>
        </p:nvSpPr>
        <p:spPr>
          <a:xfrm>
            <a:off x="2103120" y="4956048"/>
            <a:ext cx="365760" cy="320040"/>
          </a:xfrm>
          <a:prstGeom prst="downArrow">
            <a:avLst/>
          </a:prstGeom>
          <a:solidFill>
            <a:schemeClr val="accent4"/>
          </a:solidFill>
          <a:ln/>
        </p:spPr>
      </p:sp>
      <p:sp>
        <p:nvSpPr>
          <p:cNvPr id="13" name="Klärung / Qualität Kreis"/>
          <p:cNvSpPr/>
          <p:nvPr/>
        </p:nvSpPr>
        <p:spPr>
          <a:xfrm>
            <a:off x="4343400" y="1783080"/>
            <a:ext cx="548640" cy="548640"/>
          </a:xfrm>
          <a:prstGeom prst="ellipse">
            <a:avLst/>
          </a:prstGeom>
          <a:solidFill>
            <a:schemeClr val="tx2"/>
          </a:solidFill>
          <a:ln/>
        </p:spPr>
      </p:sp>
      <p:pic>
        <p:nvPicPr>
          <p:cNvPr id="14" name="Klärung / Qualität Icon" descr="Klärung / Qualität">    </p:cNvPr>
          <p:cNvPicPr>
            <a:picLocks noChangeAspect="1"/>
          </p:cNvPicPr>
          <p:nvPr/>
        </p:nvPicPr>
        <p:blipFill>
          <a:blip r:embed="rId2"/>
          <a:stretch>
            <a:fillRect/>
          </a:stretch>
        </p:blipFill>
        <p:spPr>
          <a:xfrm>
            <a:off x="4480560" y="1920240"/>
            <a:ext cx="274320" cy="274320"/>
          </a:xfrm>
          <a:prstGeom prst="rect">
            <a:avLst/>
          </a:prstGeom>
        </p:spPr>
      </p:pic>
      <p:sp>
        <p:nvSpPr>
          <p:cNvPr id="15" name="Text 11"/>
          <p:cNvSpPr txBox="1"/>
          <p:nvPr/>
        </p:nvSpPr>
        <p:spPr>
          <a:xfrm>
            <a:off x="5029200" y="1737360"/>
            <a:ext cx="2788920" cy="640080"/>
          </a:xfrm>
          <a:prstGeom prst="rect">
            <a:avLst/>
          </a:prstGeom>
          <a:noFill/>
          <a:ln/>
        </p:spPr>
        <p:txBody>
          <a:bodyPr wrap="square" lIns="0" tIns="0" rIns="0" bIns="0" rtlCol="0" anchor="ctr"/>
          <a:lstStyle/>
          <a:p>
            <a:pPr indent="0" marL="0">
              <a:buNone/>
            </a:pPr>
            <a:r>
              <a:rPr lang="en-US" sz="1400" b="1" dirty="0">
                <a:solidFill>
                  <a:schemeClr val="tx1"/>
                </a:solidFill>
              </a:rPr>
              <a:t>Klärung / Qualität</a:t>
            </a:r>
            <a:endParaRPr lang="en-US" sz="1400" dirty="0"/>
          </a:p>
          <a:p>
            <a:pPr indent="0" marL="0">
              <a:buNone/>
            </a:pPr>
            <a:r>
              <a:rPr lang="en-US" sz="1400" dirty="0">
                <a:solidFill>
                  <a:schemeClr val="accent4"/>
                </a:solidFill>
              </a:rPr>
              <a:t>PC oder Tablet</a:t>
            </a:r>
            <a:endParaRPr lang="en-US" sz="1400" dirty="0"/>
          </a:p>
        </p:txBody>
      </p:sp>
      <p:sp>
        <p:nvSpPr>
          <p:cNvPr id="16" name="App Abweichung klären"/>
          <p:cNvSpPr/>
          <p:nvPr/>
        </p:nvSpPr>
        <p:spPr>
          <a:xfrm>
            <a:off x="4343400" y="2560320"/>
            <a:ext cx="3474720" cy="2331720"/>
          </a:xfrm>
          <a:prstGeom prst="roundRect">
            <a:avLst>
              <a:gd name="adj" fmla="val 4706"/>
            </a:avLst>
          </a:prstGeom>
          <a:solidFill>
            <a:schemeClr val="accent6"/>
          </a:solidFill>
          <a:ln/>
        </p:spPr>
      </p:sp>
      <p:sp>
        <p:nvSpPr>
          <p:cNvPr id="17" name="Technik Abweichung klären"/>
          <p:cNvSpPr/>
          <p:nvPr/>
        </p:nvSpPr>
        <p:spPr>
          <a:xfrm>
            <a:off x="4572000" y="2743200"/>
            <a:ext cx="1645920" cy="347472"/>
          </a:xfrm>
          <a:prstGeom prst="roundRect">
            <a:avLst>
              <a:gd name="adj" fmla="val 21053"/>
            </a:avLst>
          </a:prstGeom>
          <a:solidFill>
            <a:schemeClr val="accent1"/>
          </a:solidFill>
          <a:ln/>
        </p:spPr>
      </p:sp>
      <p:sp>
        <p:nvSpPr>
          <p:cNvPr id="18" name="Text 14"/>
          <p:cNvSpPr txBox="1"/>
          <p:nvPr/>
        </p:nvSpPr>
        <p:spPr>
          <a:xfrm>
            <a:off x="4572000" y="2743200"/>
            <a:ext cx="1645920" cy="347472"/>
          </a:xfrm>
          <a:prstGeom prst="rect">
            <a:avLst/>
          </a:prstGeom>
          <a:noFill/>
          <a:ln/>
        </p:spPr>
        <p:txBody>
          <a:bodyPr wrap="square" lIns="0" tIns="0" rIns="0" bIns="0" rtlCol="0" anchor="ctr"/>
          <a:lstStyle/>
          <a:p>
            <a:pPr algn="ctr" indent="0" marL="0">
              <a:buNone/>
            </a:pPr>
            <a:r>
              <a:rPr lang="en-US" sz="1200" b="1" dirty="0">
                <a:solidFill>
                  <a:schemeClr val="bg1"/>
                </a:solidFill>
              </a:rPr>
              <a:t>Fiori Elements</a:t>
            </a:r>
            <a:endParaRPr lang="en-US" sz="1200" dirty="0"/>
          </a:p>
        </p:txBody>
      </p:sp>
      <p:sp>
        <p:nvSpPr>
          <p:cNvPr id="19" name="Text 15"/>
          <p:cNvSpPr txBox="1"/>
          <p:nvPr/>
        </p:nvSpPr>
        <p:spPr>
          <a:xfrm>
            <a:off x="4572000" y="320040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Abweichung klären</a:t>
            </a:r>
            <a:endParaRPr lang="en-US" sz="1800" dirty="0"/>
          </a:p>
        </p:txBody>
      </p:sp>
      <p:sp>
        <p:nvSpPr>
          <p:cNvPr id="20" name="Text 16"/>
          <p:cNvSpPr txBox="1"/>
          <p:nvPr/>
        </p:nvSpPr>
        <p:spPr>
          <a:xfrm>
            <a:off x="4572000" y="3611880"/>
            <a:ext cx="3017520" cy="1188720"/>
          </a:xfrm>
          <a:prstGeom prst="rect">
            <a:avLst/>
          </a:prstGeom>
          <a:noFill/>
          <a:ln/>
        </p:spPr>
        <p:txBody>
          <a:bodyPr wrap="square" lIns="0" tIns="0" rIns="0" bIns="0" rtlCol="0" anchor="t"/>
          <a:lstStyle/>
          <a:p>
            <a:pPr indent="0" marL="0">
              <a:buNone/>
            </a:pPr>
            <a:r>
              <a:rPr lang="en-US" sz="1400" dirty="0">
                <a:solidFill>
                  <a:schemeClr val="tx1"/>
                </a:solidFill>
              </a:rPr>
              <a:t>Detailseite mit Positionen, Mengendifferenzen und Aktionen wie „Freigeben“ oder „Sperren“.</a:t>
            </a:r>
            <a:endParaRPr lang="en-US" sz="1400" dirty="0"/>
          </a:p>
        </p:txBody>
      </p:sp>
      <p:sp>
        <p:nvSpPr>
          <p:cNvPr id="21" name="Pfeil Abweichung klären"/>
          <p:cNvSpPr/>
          <p:nvPr/>
        </p:nvSpPr>
        <p:spPr>
          <a:xfrm>
            <a:off x="5897880" y="4956048"/>
            <a:ext cx="365760" cy="320040"/>
          </a:xfrm>
          <a:prstGeom prst="downArrow">
            <a:avLst/>
          </a:prstGeom>
          <a:solidFill>
            <a:schemeClr val="accent4"/>
          </a:solidFill>
          <a:ln/>
        </p:spPr>
      </p:sp>
      <p:sp>
        <p:nvSpPr>
          <p:cNvPr id="22" name="Lagermitarbeiter Kreis"/>
          <p:cNvSpPr/>
          <p:nvPr/>
        </p:nvSpPr>
        <p:spPr>
          <a:xfrm>
            <a:off x="8138160" y="1783080"/>
            <a:ext cx="548640" cy="548640"/>
          </a:xfrm>
          <a:prstGeom prst="ellipse">
            <a:avLst/>
          </a:prstGeom>
          <a:solidFill>
            <a:schemeClr val="tx2"/>
          </a:solidFill>
          <a:ln/>
        </p:spPr>
      </p:sp>
      <p:pic>
        <p:nvPicPr>
          <p:cNvPr id="23" name="Lagermitarbeiter Icon" descr="Lagermitarbeiter">    </p:cNvPr>
          <p:cNvPicPr>
            <a:picLocks noChangeAspect="1"/>
          </p:cNvPicPr>
          <p:nvPr/>
        </p:nvPicPr>
        <p:blipFill>
          <a:blip r:embed="rId3"/>
          <a:stretch>
            <a:fillRect/>
          </a:stretch>
        </p:blipFill>
        <p:spPr>
          <a:xfrm>
            <a:off x="8275320" y="1920240"/>
            <a:ext cx="274320" cy="274320"/>
          </a:xfrm>
          <a:prstGeom prst="rect">
            <a:avLst/>
          </a:prstGeom>
        </p:spPr>
      </p:pic>
      <p:sp>
        <p:nvSpPr>
          <p:cNvPr id="24" name="Text 19"/>
          <p:cNvSpPr txBox="1"/>
          <p:nvPr/>
        </p:nvSpPr>
        <p:spPr>
          <a:xfrm>
            <a:off x="8823960" y="1737360"/>
            <a:ext cx="2788920" cy="640080"/>
          </a:xfrm>
          <a:prstGeom prst="rect">
            <a:avLst/>
          </a:prstGeom>
          <a:noFill/>
          <a:ln/>
        </p:spPr>
        <p:txBody>
          <a:bodyPr wrap="square" lIns="0" tIns="0" rIns="0" bIns="0" rtlCol="0" anchor="ctr"/>
          <a:lstStyle/>
          <a:p>
            <a:pPr indent="0" marL="0">
              <a:buNone/>
            </a:pPr>
            <a:r>
              <a:rPr lang="en-US" sz="1400" b="1" dirty="0">
                <a:solidFill>
                  <a:schemeClr val="tx1"/>
                </a:solidFill>
              </a:rPr>
              <a:t>Lagermitarbeiter</a:t>
            </a:r>
            <a:endParaRPr lang="en-US" sz="1400" dirty="0"/>
          </a:p>
          <a:p>
            <a:pPr indent="0" marL="0">
              <a:buNone/>
            </a:pPr>
            <a:r>
              <a:rPr lang="en-US" sz="1400" dirty="0">
                <a:solidFill>
                  <a:schemeClr val="accent4"/>
                </a:solidFill>
              </a:rPr>
              <a:t>Handheld mit Scanner</a:t>
            </a:r>
            <a:endParaRPr lang="en-US" sz="1400" dirty="0"/>
          </a:p>
        </p:txBody>
      </p:sp>
      <p:sp>
        <p:nvSpPr>
          <p:cNvPr id="25" name="App Scannen &amp; Buchen"/>
          <p:cNvSpPr/>
          <p:nvPr/>
        </p:nvSpPr>
        <p:spPr>
          <a:xfrm>
            <a:off x="8138160" y="2560320"/>
            <a:ext cx="3474720" cy="2331720"/>
          </a:xfrm>
          <a:prstGeom prst="roundRect">
            <a:avLst>
              <a:gd name="adj" fmla="val 4706"/>
            </a:avLst>
          </a:prstGeom>
          <a:solidFill>
            <a:schemeClr val="accent5"/>
          </a:solidFill>
          <a:ln/>
        </p:spPr>
      </p:sp>
      <p:sp>
        <p:nvSpPr>
          <p:cNvPr id="26" name="Technik Scannen &amp; Buchen"/>
          <p:cNvSpPr/>
          <p:nvPr/>
        </p:nvSpPr>
        <p:spPr>
          <a:xfrm>
            <a:off x="8366760" y="2743200"/>
            <a:ext cx="1828800" cy="347472"/>
          </a:xfrm>
          <a:prstGeom prst="roundRect">
            <a:avLst>
              <a:gd name="adj" fmla="val 21053"/>
            </a:avLst>
          </a:prstGeom>
          <a:solidFill>
            <a:schemeClr val="accent2"/>
          </a:solidFill>
          <a:ln/>
        </p:spPr>
      </p:sp>
      <p:sp>
        <p:nvSpPr>
          <p:cNvPr id="27" name="Text 22"/>
          <p:cNvSpPr txBox="1"/>
          <p:nvPr/>
        </p:nvSpPr>
        <p:spPr>
          <a:xfrm>
            <a:off x="8366760" y="2743200"/>
            <a:ext cx="1828800" cy="347472"/>
          </a:xfrm>
          <a:prstGeom prst="rect">
            <a:avLst/>
          </a:prstGeom>
          <a:noFill/>
          <a:ln/>
        </p:spPr>
        <p:txBody>
          <a:bodyPr wrap="square" lIns="0" tIns="0" rIns="0" bIns="0" rtlCol="0" anchor="ctr"/>
          <a:lstStyle/>
          <a:p>
            <a:pPr algn="ctr" indent="0" marL="0">
              <a:buNone/>
            </a:pPr>
            <a:r>
              <a:rPr lang="en-US" sz="1200" b="1" dirty="0">
                <a:solidFill>
                  <a:schemeClr val="bg1"/>
                </a:solidFill>
              </a:rPr>
              <a:t>SAPUI5 Freestyle</a:t>
            </a:r>
            <a:endParaRPr lang="en-US" sz="1200" dirty="0"/>
          </a:p>
        </p:txBody>
      </p:sp>
      <p:sp>
        <p:nvSpPr>
          <p:cNvPr id="28" name="Text 23"/>
          <p:cNvSpPr txBox="1"/>
          <p:nvPr/>
        </p:nvSpPr>
        <p:spPr>
          <a:xfrm>
            <a:off x="8366760" y="320040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Scannen &amp; Buchen</a:t>
            </a:r>
            <a:endParaRPr lang="en-US" sz="1800" dirty="0"/>
          </a:p>
        </p:txBody>
      </p:sp>
      <p:sp>
        <p:nvSpPr>
          <p:cNvPr id="29" name="Text 24"/>
          <p:cNvSpPr txBox="1"/>
          <p:nvPr/>
        </p:nvSpPr>
        <p:spPr>
          <a:xfrm>
            <a:off x="8366760" y="3611880"/>
            <a:ext cx="3017520" cy="1188720"/>
          </a:xfrm>
          <a:prstGeom prst="rect">
            <a:avLst/>
          </a:prstGeom>
          <a:noFill/>
          <a:ln/>
        </p:spPr>
        <p:txBody>
          <a:bodyPr wrap="square" lIns="0" tIns="0" rIns="0" bIns="0" rtlCol="0" anchor="t"/>
          <a:lstStyle/>
          <a:p>
            <a:pPr indent="0" marL="0">
              <a:buNone/>
            </a:pPr>
            <a:r>
              <a:rPr lang="en-US" sz="1400" dirty="0">
                <a:solidFill>
                  <a:schemeClr val="tx1"/>
                </a:solidFill>
              </a:rPr>
              <a:t>Lieferung scannen → Menge bestätigen → buchen. Große Buttons, Fokus springt weiter, klares Feedback.</a:t>
            </a:r>
            <a:endParaRPr lang="en-US" sz="1400" dirty="0"/>
          </a:p>
        </p:txBody>
      </p:sp>
      <p:sp>
        <p:nvSpPr>
          <p:cNvPr id="30" name="Pfeil Scannen &amp; Buchen"/>
          <p:cNvSpPr/>
          <p:nvPr/>
        </p:nvSpPr>
        <p:spPr>
          <a:xfrm>
            <a:off x="9692640" y="4956048"/>
            <a:ext cx="365760" cy="320040"/>
          </a:xfrm>
          <a:prstGeom prst="downArrow">
            <a:avLst/>
          </a:prstGeom>
          <a:solidFill>
            <a:schemeClr val="accent4"/>
          </a:solidFill>
          <a:ln/>
        </p:spPr>
      </p:sp>
      <p:sp>
        <p:nvSpPr>
          <p:cNvPr id="31" name="Gemeinsames Backend"/>
          <p:cNvSpPr/>
          <p:nvPr/>
        </p:nvSpPr>
        <p:spPr>
          <a:xfrm>
            <a:off x="548640" y="5349240"/>
            <a:ext cx="11064240" cy="731520"/>
          </a:xfrm>
          <a:prstGeom prst="roundRect">
            <a:avLst>
              <a:gd name="adj" fmla="val 12500"/>
            </a:avLst>
          </a:prstGeom>
          <a:solidFill>
            <a:schemeClr val="tx2"/>
          </a:solidFill>
          <a:ln/>
        </p:spPr>
      </p:sp>
      <p:sp>
        <p:nvSpPr>
          <p:cNvPr id="32" name="Text 27"/>
          <p:cNvSpPr txBox="1"/>
          <p:nvPr/>
        </p:nvSpPr>
        <p:spPr>
          <a:xfrm>
            <a:off x="777240" y="5349240"/>
            <a:ext cx="10607040" cy="731520"/>
          </a:xfrm>
          <a:prstGeom prst="rect">
            <a:avLst/>
          </a:prstGeom>
          <a:noFill/>
          <a:ln/>
        </p:spPr>
        <p:txBody>
          <a:bodyPr wrap="square" lIns="0" tIns="0" rIns="0" bIns="0" rtlCol="0" anchor="ctr"/>
          <a:lstStyle/>
          <a:p>
            <a:pPr indent="0" marL="0">
              <a:buNone/>
            </a:pPr>
            <a:r>
              <a:rPr lang="en-US" sz="1500" b="1" dirty="0">
                <a:solidFill>
                  <a:schemeClr val="bg1"/>
                </a:solidFill>
              </a:rPr>
              <a:t>Ein gemeinsames Backend (RAP): </a:t>
            </a:r>
            <a:pPr indent="0" marL="0">
              <a:buNone/>
            </a:pPr>
            <a:r>
              <a:rPr lang="en-US" sz="1500" dirty="0">
                <a:solidFill>
                  <a:schemeClr val="bg1"/>
                </a:solidFill>
              </a:rPr>
              <a:t>Prüfungen, Buchungslogik und Berechtigungen – einmal entwickelt, von allen drei Oberflächen genutzt.</a:t>
            </a:r>
            <a:endParaRPr lang="en-US" sz="1500" dirty="0"/>
          </a:p>
        </p:txBody>
      </p:sp>
      <p:sp>
        <p:nvSpPr>
          <p:cNvPr id="33" name="Text 28"/>
          <p:cNvSpPr txBox="1"/>
          <p:nvPr/>
        </p:nvSpPr>
        <p:spPr>
          <a:xfrm>
            <a:off x="6309360" y="6382512"/>
            <a:ext cx="4754880" cy="292608"/>
          </a:xfrm>
          <a:prstGeom prst="rect">
            <a:avLst/>
          </a:prstGeom>
          <a:noFill/>
          <a:ln/>
        </p:spPr>
        <p:txBody>
          <a:bodyPr wrap="square" lIns="0" tIns="0" rIns="0" bIns="0" rtlCol="0" anchor="ctr"/>
          <a:lstStyle/>
          <a:p>
            <a:pPr algn="r" indent="0" marL="0">
              <a:buNone/>
            </a:pPr>
            <a:r>
              <a:rPr lang="en-US" sz="1100" i="1" dirty="0">
                <a:solidFill>
                  <a:schemeClr val="accent4"/>
                </a:solidFill>
              </a:rPr>
              <a:t>Schematisches Beispiel</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Produktion: eine Anwendung, zwei Technologien</a:t>
            </a:r>
            <a:endParaRPr lang="en-US" sz="3400" dirty="0"/>
          </a:p>
        </p:txBody>
      </p:sp>
      <p:sp>
        <p:nvSpPr>
          <p:cNvPr id="3" name="Text 1"/>
          <p:cNvSpPr txBox="1"/>
          <p:nvPr/>
        </p:nvSpPr>
        <p:spPr>
          <a:xfrm>
            <a:off x="548640" y="1234440"/>
            <a:ext cx="11064240" cy="365760"/>
          </a:xfrm>
          <a:prstGeom prst="rect">
            <a:avLst/>
          </a:prstGeom>
          <a:noFill/>
          <a:ln/>
        </p:spPr>
        <p:txBody>
          <a:bodyPr wrap="square" lIns="0" tIns="0" rIns="0" bIns="0" rtlCol="0" anchor="ctr"/>
          <a:lstStyle/>
          <a:p>
            <a:pPr indent="0" marL="0">
              <a:buNone/>
            </a:pPr>
            <a:r>
              <a:rPr lang="en-US" sz="1600" dirty="0">
                <a:solidFill>
                  <a:schemeClr val="accent4"/>
                </a:solidFill>
              </a:rPr>
              <a:t>Rückmeldung von Fertigungsaufträgen: Planung am PC, Rückmeldung direkt an der Linie.</a:t>
            </a:r>
            <a:endParaRPr lang="en-US" sz="1600" dirty="0"/>
          </a:p>
        </p:txBody>
      </p:sp>
      <p:sp>
        <p:nvSpPr>
          <p:cNvPr id="4" name="Meister / Planung Kreis"/>
          <p:cNvSpPr/>
          <p:nvPr/>
        </p:nvSpPr>
        <p:spPr>
          <a:xfrm>
            <a:off x="548640" y="1783080"/>
            <a:ext cx="548640" cy="548640"/>
          </a:xfrm>
          <a:prstGeom prst="ellipse">
            <a:avLst/>
          </a:prstGeom>
          <a:solidFill>
            <a:schemeClr val="tx2"/>
          </a:solidFill>
          <a:ln/>
        </p:spPr>
      </p:sp>
      <p:pic>
        <p:nvPicPr>
          <p:cNvPr id="5" name="Meister / Planung Icon" descr="Meister / Planung">    </p:cNvPr>
          <p:cNvPicPr>
            <a:picLocks noChangeAspect="1"/>
          </p:cNvPicPr>
          <p:nvPr/>
        </p:nvPicPr>
        <p:blipFill>
          <a:blip r:embed="rId1"/>
          <a:stretch>
            <a:fillRect/>
          </a:stretch>
        </p:blipFill>
        <p:spPr>
          <a:xfrm>
            <a:off x="685800" y="1920240"/>
            <a:ext cx="274320" cy="274320"/>
          </a:xfrm>
          <a:prstGeom prst="rect">
            <a:avLst/>
          </a:prstGeom>
        </p:spPr>
      </p:pic>
      <p:sp>
        <p:nvSpPr>
          <p:cNvPr id="6" name="Text 3"/>
          <p:cNvSpPr txBox="1"/>
          <p:nvPr/>
        </p:nvSpPr>
        <p:spPr>
          <a:xfrm>
            <a:off x="1234440" y="1737360"/>
            <a:ext cx="2788920" cy="640080"/>
          </a:xfrm>
          <a:prstGeom prst="rect">
            <a:avLst/>
          </a:prstGeom>
          <a:noFill/>
          <a:ln/>
        </p:spPr>
        <p:txBody>
          <a:bodyPr wrap="square" lIns="0" tIns="0" rIns="0" bIns="0" rtlCol="0" anchor="ctr"/>
          <a:lstStyle/>
          <a:p>
            <a:pPr indent="0" marL="0">
              <a:buNone/>
            </a:pPr>
            <a:r>
              <a:rPr lang="en-US" sz="1400" b="1" dirty="0">
                <a:solidFill>
                  <a:schemeClr val="tx1"/>
                </a:solidFill>
              </a:rPr>
              <a:t>Meister / Planung</a:t>
            </a:r>
            <a:endParaRPr lang="en-US" sz="1400" dirty="0"/>
          </a:p>
          <a:p>
            <a:pPr indent="0" marL="0">
              <a:buNone/>
            </a:pPr>
            <a:r>
              <a:rPr lang="en-US" sz="1400" dirty="0">
                <a:solidFill>
                  <a:schemeClr val="accent4"/>
                </a:solidFill>
              </a:rPr>
              <a:t>PC im Büro</a:t>
            </a:r>
            <a:endParaRPr lang="en-US" sz="1400" dirty="0"/>
          </a:p>
        </p:txBody>
      </p:sp>
      <p:sp>
        <p:nvSpPr>
          <p:cNvPr id="7" name="App Auftragsübersicht"/>
          <p:cNvSpPr/>
          <p:nvPr/>
        </p:nvSpPr>
        <p:spPr>
          <a:xfrm>
            <a:off x="548640" y="2560320"/>
            <a:ext cx="3474720" cy="2331720"/>
          </a:xfrm>
          <a:prstGeom prst="roundRect">
            <a:avLst>
              <a:gd name="adj" fmla="val 4706"/>
            </a:avLst>
          </a:prstGeom>
          <a:solidFill>
            <a:schemeClr val="accent6"/>
          </a:solidFill>
          <a:ln/>
        </p:spPr>
      </p:sp>
      <p:sp>
        <p:nvSpPr>
          <p:cNvPr id="8" name="Technik Auftragsübersicht"/>
          <p:cNvSpPr/>
          <p:nvPr/>
        </p:nvSpPr>
        <p:spPr>
          <a:xfrm>
            <a:off x="777240" y="2743200"/>
            <a:ext cx="1645920" cy="347472"/>
          </a:xfrm>
          <a:prstGeom prst="roundRect">
            <a:avLst>
              <a:gd name="adj" fmla="val 21053"/>
            </a:avLst>
          </a:prstGeom>
          <a:solidFill>
            <a:schemeClr val="accent1"/>
          </a:solidFill>
          <a:ln/>
        </p:spPr>
      </p:sp>
      <p:sp>
        <p:nvSpPr>
          <p:cNvPr id="9" name="Text 6"/>
          <p:cNvSpPr txBox="1"/>
          <p:nvPr/>
        </p:nvSpPr>
        <p:spPr>
          <a:xfrm>
            <a:off x="777240" y="2743200"/>
            <a:ext cx="1645920" cy="347472"/>
          </a:xfrm>
          <a:prstGeom prst="rect">
            <a:avLst/>
          </a:prstGeom>
          <a:noFill/>
          <a:ln/>
        </p:spPr>
        <p:txBody>
          <a:bodyPr wrap="square" lIns="0" tIns="0" rIns="0" bIns="0" rtlCol="0" anchor="ctr"/>
          <a:lstStyle/>
          <a:p>
            <a:pPr algn="ctr" indent="0" marL="0">
              <a:buNone/>
            </a:pPr>
            <a:r>
              <a:rPr lang="en-US" sz="1200" b="1" dirty="0">
                <a:solidFill>
                  <a:schemeClr val="bg1"/>
                </a:solidFill>
              </a:rPr>
              <a:t>Fiori Elements</a:t>
            </a:r>
            <a:endParaRPr lang="en-US" sz="1200" dirty="0"/>
          </a:p>
        </p:txBody>
      </p:sp>
      <p:sp>
        <p:nvSpPr>
          <p:cNvPr id="10" name="Text 7"/>
          <p:cNvSpPr txBox="1"/>
          <p:nvPr/>
        </p:nvSpPr>
        <p:spPr>
          <a:xfrm>
            <a:off x="777240" y="320040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Auftragsübersicht</a:t>
            </a:r>
            <a:endParaRPr lang="en-US" sz="1800" dirty="0"/>
          </a:p>
        </p:txBody>
      </p:sp>
      <p:sp>
        <p:nvSpPr>
          <p:cNvPr id="11" name="Text 8"/>
          <p:cNvSpPr txBox="1"/>
          <p:nvPr/>
        </p:nvSpPr>
        <p:spPr>
          <a:xfrm>
            <a:off x="777240" y="3611880"/>
            <a:ext cx="3017520" cy="1188720"/>
          </a:xfrm>
          <a:prstGeom prst="rect">
            <a:avLst/>
          </a:prstGeom>
          <a:noFill/>
          <a:ln/>
        </p:spPr>
        <p:txBody>
          <a:bodyPr wrap="square" lIns="0" tIns="0" rIns="0" bIns="0" rtlCol="0" anchor="t"/>
          <a:lstStyle/>
          <a:p>
            <a:pPr indent="0" marL="0">
              <a:buNone/>
            </a:pPr>
            <a:r>
              <a:rPr lang="en-US" sz="1400" dirty="0">
                <a:solidFill>
                  <a:schemeClr val="tx1"/>
                </a:solidFill>
              </a:rPr>
              <a:t>Fertigungsaufträge nach Linie, Status und Termin. Rückstände und Engpässe auf einen Blick.</a:t>
            </a:r>
            <a:endParaRPr lang="en-US" sz="1400" dirty="0"/>
          </a:p>
        </p:txBody>
      </p:sp>
      <p:sp>
        <p:nvSpPr>
          <p:cNvPr id="12" name="Pfeil Auftragsübersicht"/>
          <p:cNvSpPr/>
          <p:nvPr/>
        </p:nvSpPr>
        <p:spPr>
          <a:xfrm>
            <a:off x="2103120" y="4956048"/>
            <a:ext cx="365760" cy="320040"/>
          </a:xfrm>
          <a:prstGeom prst="downArrow">
            <a:avLst/>
          </a:prstGeom>
          <a:solidFill>
            <a:schemeClr val="accent4"/>
          </a:solidFill>
          <a:ln/>
        </p:spPr>
      </p:sp>
      <p:sp>
        <p:nvSpPr>
          <p:cNvPr id="13" name="Qualität / Meister Kreis"/>
          <p:cNvSpPr/>
          <p:nvPr/>
        </p:nvSpPr>
        <p:spPr>
          <a:xfrm>
            <a:off x="4343400" y="1783080"/>
            <a:ext cx="548640" cy="548640"/>
          </a:xfrm>
          <a:prstGeom prst="ellipse">
            <a:avLst/>
          </a:prstGeom>
          <a:solidFill>
            <a:schemeClr val="tx2"/>
          </a:solidFill>
          <a:ln/>
        </p:spPr>
      </p:sp>
      <p:pic>
        <p:nvPicPr>
          <p:cNvPr id="14" name="Qualität / Meister Icon" descr="Qualität / Meister">    </p:cNvPr>
          <p:cNvPicPr>
            <a:picLocks noChangeAspect="1"/>
          </p:cNvPicPr>
          <p:nvPr/>
        </p:nvPicPr>
        <p:blipFill>
          <a:blip r:embed="rId2"/>
          <a:stretch>
            <a:fillRect/>
          </a:stretch>
        </p:blipFill>
        <p:spPr>
          <a:xfrm>
            <a:off x="4480560" y="1920240"/>
            <a:ext cx="274320" cy="274320"/>
          </a:xfrm>
          <a:prstGeom prst="rect">
            <a:avLst/>
          </a:prstGeom>
        </p:spPr>
      </p:pic>
      <p:sp>
        <p:nvSpPr>
          <p:cNvPr id="15" name="Text 11"/>
          <p:cNvSpPr txBox="1"/>
          <p:nvPr/>
        </p:nvSpPr>
        <p:spPr>
          <a:xfrm>
            <a:off x="5029200" y="1737360"/>
            <a:ext cx="2788920" cy="640080"/>
          </a:xfrm>
          <a:prstGeom prst="rect">
            <a:avLst/>
          </a:prstGeom>
          <a:noFill/>
          <a:ln/>
        </p:spPr>
        <p:txBody>
          <a:bodyPr wrap="square" lIns="0" tIns="0" rIns="0" bIns="0" rtlCol="0" anchor="ctr"/>
          <a:lstStyle/>
          <a:p>
            <a:pPr indent="0" marL="0">
              <a:buNone/>
            </a:pPr>
            <a:r>
              <a:rPr lang="en-US" sz="1400" b="1" dirty="0">
                <a:solidFill>
                  <a:schemeClr val="tx1"/>
                </a:solidFill>
              </a:rPr>
              <a:t>Qualität / Meister</a:t>
            </a:r>
            <a:endParaRPr lang="en-US" sz="1400" dirty="0"/>
          </a:p>
          <a:p>
            <a:pPr indent="0" marL="0">
              <a:buNone/>
            </a:pPr>
            <a:r>
              <a:rPr lang="en-US" sz="1400" dirty="0">
                <a:solidFill>
                  <a:schemeClr val="accent4"/>
                </a:solidFill>
              </a:rPr>
              <a:t>PC oder Tablet</a:t>
            </a:r>
            <a:endParaRPr lang="en-US" sz="1400" dirty="0"/>
          </a:p>
        </p:txBody>
      </p:sp>
      <p:sp>
        <p:nvSpPr>
          <p:cNvPr id="16" name="App Auftrag &amp; Störung"/>
          <p:cNvSpPr/>
          <p:nvPr/>
        </p:nvSpPr>
        <p:spPr>
          <a:xfrm>
            <a:off x="4343400" y="2560320"/>
            <a:ext cx="3474720" cy="2331720"/>
          </a:xfrm>
          <a:prstGeom prst="roundRect">
            <a:avLst>
              <a:gd name="adj" fmla="val 4706"/>
            </a:avLst>
          </a:prstGeom>
          <a:solidFill>
            <a:schemeClr val="accent6"/>
          </a:solidFill>
          <a:ln/>
        </p:spPr>
      </p:sp>
      <p:sp>
        <p:nvSpPr>
          <p:cNvPr id="17" name="Technik Auftrag &amp; Störung"/>
          <p:cNvSpPr/>
          <p:nvPr/>
        </p:nvSpPr>
        <p:spPr>
          <a:xfrm>
            <a:off x="4572000" y="2743200"/>
            <a:ext cx="1645920" cy="347472"/>
          </a:xfrm>
          <a:prstGeom prst="roundRect">
            <a:avLst>
              <a:gd name="adj" fmla="val 21053"/>
            </a:avLst>
          </a:prstGeom>
          <a:solidFill>
            <a:schemeClr val="accent1"/>
          </a:solidFill>
          <a:ln/>
        </p:spPr>
      </p:sp>
      <p:sp>
        <p:nvSpPr>
          <p:cNvPr id="18" name="Text 14"/>
          <p:cNvSpPr txBox="1"/>
          <p:nvPr/>
        </p:nvSpPr>
        <p:spPr>
          <a:xfrm>
            <a:off x="4572000" y="2743200"/>
            <a:ext cx="1645920" cy="347472"/>
          </a:xfrm>
          <a:prstGeom prst="rect">
            <a:avLst/>
          </a:prstGeom>
          <a:noFill/>
          <a:ln/>
        </p:spPr>
        <p:txBody>
          <a:bodyPr wrap="square" lIns="0" tIns="0" rIns="0" bIns="0" rtlCol="0" anchor="ctr"/>
          <a:lstStyle/>
          <a:p>
            <a:pPr algn="ctr" indent="0" marL="0">
              <a:buNone/>
            </a:pPr>
            <a:r>
              <a:rPr lang="en-US" sz="1200" b="1" dirty="0">
                <a:solidFill>
                  <a:schemeClr val="bg1"/>
                </a:solidFill>
              </a:rPr>
              <a:t>Fiori Elements</a:t>
            </a:r>
            <a:endParaRPr lang="en-US" sz="1200" dirty="0"/>
          </a:p>
        </p:txBody>
      </p:sp>
      <p:sp>
        <p:nvSpPr>
          <p:cNvPr id="19" name="Text 15"/>
          <p:cNvSpPr txBox="1"/>
          <p:nvPr/>
        </p:nvSpPr>
        <p:spPr>
          <a:xfrm>
            <a:off x="4572000" y="320040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Auftrag &amp; Störung</a:t>
            </a:r>
            <a:endParaRPr lang="en-US" sz="1800" dirty="0"/>
          </a:p>
        </p:txBody>
      </p:sp>
      <p:sp>
        <p:nvSpPr>
          <p:cNvPr id="20" name="Text 16"/>
          <p:cNvSpPr txBox="1"/>
          <p:nvPr/>
        </p:nvSpPr>
        <p:spPr>
          <a:xfrm>
            <a:off x="4572000" y="3611880"/>
            <a:ext cx="3017520" cy="1188720"/>
          </a:xfrm>
          <a:prstGeom prst="rect">
            <a:avLst/>
          </a:prstGeom>
          <a:noFill/>
          <a:ln/>
        </p:spPr>
        <p:txBody>
          <a:bodyPr wrap="square" lIns="0" tIns="0" rIns="0" bIns="0" rtlCol="0" anchor="t"/>
          <a:lstStyle/>
          <a:p>
            <a:pPr indent="0" marL="0">
              <a:buNone/>
            </a:pPr>
            <a:r>
              <a:rPr lang="en-US" sz="1400" dirty="0">
                <a:solidFill>
                  <a:schemeClr val="tx1"/>
                </a:solidFill>
              </a:rPr>
              <a:t>Detailseite mit Vorgängen, Ausschussgründen und Störmeldungen. Störung anlegen per Aktion.</a:t>
            </a:r>
            <a:endParaRPr lang="en-US" sz="1400" dirty="0"/>
          </a:p>
        </p:txBody>
      </p:sp>
      <p:sp>
        <p:nvSpPr>
          <p:cNvPr id="21" name="Pfeil Auftrag &amp; Störung"/>
          <p:cNvSpPr/>
          <p:nvPr/>
        </p:nvSpPr>
        <p:spPr>
          <a:xfrm>
            <a:off x="5897880" y="4956048"/>
            <a:ext cx="365760" cy="320040"/>
          </a:xfrm>
          <a:prstGeom prst="downArrow">
            <a:avLst/>
          </a:prstGeom>
          <a:solidFill>
            <a:schemeClr val="accent4"/>
          </a:solidFill>
          <a:ln/>
        </p:spPr>
      </p:sp>
      <p:sp>
        <p:nvSpPr>
          <p:cNvPr id="22" name="Werker an der Linie Kreis"/>
          <p:cNvSpPr/>
          <p:nvPr/>
        </p:nvSpPr>
        <p:spPr>
          <a:xfrm>
            <a:off x="8138160" y="1783080"/>
            <a:ext cx="548640" cy="548640"/>
          </a:xfrm>
          <a:prstGeom prst="ellipse">
            <a:avLst/>
          </a:prstGeom>
          <a:solidFill>
            <a:schemeClr val="tx2"/>
          </a:solidFill>
          <a:ln/>
        </p:spPr>
      </p:sp>
      <p:pic>
        <p:nvPicPr>
          <p:cNvPr id="23" name="Werker an der Linie Icon" descr="Werker an der Linie">    </p:cNvPr>
          <p:cNvPicPr>
            <a:picLocks noChangeAspect="1"/>
          </p:cNvPicPr>
          <p:nvPr/>
        </p:nvPicPr>
        <p:blipFill>
          <a:blip r:embed="rId3"/>
          <a:stretch>
            <a:fillRect/>
          </a:stretch>
        </p:blipFill>
        <p:spPr>
          <a:xfrm>
            <a:off x="8275320" y="1920240"/>
            <a:ext cx="274320" cy="274320"/>
          </a:xfrm>
          <a:prstGeom prst="rect">
            <a:avLst/>
          </a:prstGeom>
        </p:spPr>
      </p:pic>
      <p:sp>
        <p:nvSpPr>
          <p:cNvPr id="24" name="Text 19"/>
          <p:cNvSpPr txBox="1"/>
          <p:nvPr/>
        </p:nvSpPr>
        <p:spPr>
          <a:xfrm>
            <a:off x="8823960" y="1737360"/>
            <a:ext cx="2788920" cy="640080"/>
          </a:xfrm>
          <a:prstGeom prst="rect">
            <a:avLst/>
          </a:prstGeom>
          <a:noFill/>
          <a:ln/>
        </p:spPr>
        <p:txBody>
          <a:bodyPr wrap="square" lIns="0" tIns="0" rIns="0" bIns="0" rtlCol="0" anchor="ctr"/>
          <a:lstStyle/>
          <a:p>
            <a:pPr indent="0" marL="0">
              <a:buNone/>
            </a:pPr>
            <a:r>
              <a:rPr lang="en-US" sz="1400" b="1" dirty="0">
                <a:solidFill>
                  <a:schemeClr val="tx1"/>
                </a:solidFill>
              </a:rPr>
              <a:t>Werker an der Linie</a:t>
            </a:r>
            <a:endParaRPr lang="en-US" sz="1400" dirty="0"/>
          </a:p>
          <a:p>
            <a:pPr indent="0" marL="0">
              <a:buNone/>
            </a:pPr>
            <a:r>
              <a:rPr lang="en-US" sz="1400" dirty="0">
                <a:solidFill>
                  <a:schemeClr val="accent4"/>
                </a:solidFill>
              </a:rPr>
              <a:t>Terminal oder Handheld</a:t>
            </a:r>
            <a:endParaRPr lang="en-US" sz="1400" dirty="0"/>
          </a:p>
        </p:txBody>
      </p:sp>
      <p:sp>
        <p:nvSpPr>
          <p:cNvPr id="25" name="App Rückmelde-Terminal"/>
          <p:cNvSpPr/>
          <p:nvPr/>
        </p:nvSpPr>
        <p:spPr>
          <a:xfrm>
            <a:off x="8138160" y="2560320"/>
            <a:ext cx="3474720" cy="2331720"/>
          </a:xfrm>
          <a:prstGeom prst="roundRect">
            <a:avLst>
              <a:gd name="adj" fmla="val 4706"/>
            </a:avLst>
          </a:prstGeom>
          <a:solidFill>
            <a:schemeClr val="accent5"/>
          </a:solidFill>
          <a:ln/>
        </p:spPr>
      </p:sp>
      <p:sp>
        <p:nvSpPr>
          <p:cNvPr id="26" name="Technik Rückmelde-Terminal"/>
          <p:cNvSpPr/>
          <p:nvPr/>
        </p:nvSpPr>
        <p:spPr>
          <a:xfrm>
            <a:off x="8366760" y="2743200"/>
            <a:ext cx="1828800" cy="347472"/>
          </a:xfrm>
          <a:prstGeom prst="roundRect">
            <a:avLst>
              <a:gd name="adj" fmla="val 21053"/>
            </a:avLst>
          </a:prstGeom>
          <a:solidFill>
            <a:schemeClr val="accent2"/>
          </a:solidFill>
          <a:ln/>
        </p:spPr>
      </p:sp>
      <p:sp>
        <p:nvSpPr>
          <p:cNvPr id="27" name="Text 22"/>
          <p:cNvSpPr txBox="1"/>
          <p:nvPr/>
        </p:nvSpPr>
        <p:spPr>
          <a:xfrm>
            <a:off x="8366760" y="2743200"/>
            <a:ext cx="1828800" cy="347472"/>
          </a:xfrm>
          <a:prstGeom prst="rect">
            <a:avLst/>
          </a:prstGeom>
          <a:noFill/>
          <a:ln/>
        </p:spPr>
        <p:txBody>
          <a:bodyPr wrap="square" lIns="0" tIns="0" rIns="0" bIns="0" rtlCol="0" anchor="ctr"/>
          <a:lstStyle/>
          <a:p>
            <a:pPr algn="ctr" indent="0" marL="0">
              <a:buNone/>
            </a:pPr>
            <a:r>
              <a:rPr lang="en-US" sz="1200" b="1" dirty="0">
                <a:solidFill>
                  <a:schemeClr val="bg1"/>
                </a:solidFill>
              </a:rPr>
              <a:t>SAPUI5 Freestyle</a:t>
            </a:r>
            <a:endParaRPr lang="en-US" sz="1200" dirty="0"/>
          </a:p>
        </p:txBody>
      </p:sp>
      <p:sp>
        <p:nvSpPr>
          <p:cNvPr id="28" name="Text 23"/>
          <p:cNvSpPr txBox="1"/>
          <p:nvPr/>
        </p:nvSpPr>
        <p:spPr>
          <a:xfrm>
            <a:off x="8366760" y="320040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Rückmelde-Terminal</a:t>
            </a:r>
            <a:endParaRPr lang="en-US" sz="1800" dirty="0"/>
          </a:p>
        </p:txBody>
      </p:sp>
      <p:sp>
        <p:nvSpPr>
          <p:cNvPr id="29" name="Text 24"/>
          <p:cNvSpPr txBox="1"/>
          <p:nvPr/>
        </p:nvSpPr>
        <p:spPr>
          <a:xfrm>
            <a:off x="8366760" y="3611880"/>
            <a:ext cx="3017520" cy="1188720"/>
          </a:xfrm>
          <a:prstGeom prst="rect">
            <a:avLst/>
          </a:prstGeom>
          <a:noFill/>
          <a:ln/>
        </p:spPr>
        <p:txBody>
          <a:bodyPr wrap="square" lIns="0" tIns="0" rIns="0" bIns="0" rtlCol="0" anchor="t"/>
          <a:lstStyle/>
          <a:p>
            <a:pPr indent="0" marL="0">
              <a:buNone/>
            </a:pPr>
            <a:r>
              <a:rPr lang="en-US" sz="1400" dirty="0">
                <a:solidFill>
                  <a:schemeClr val="tx1"/>
                </a:solidFill>
              </a:rPr>
              <a:t>Auftrag scannen → Start / Stopp → Gutmenge und Ausschuss mit großen Buttons melden.</a:t>
            </a:r>
            <a:endParaRPr lang="en-US" sz="1400" dirty="0"/>
          </a:p>
        </p:txBody>
      </p:sp>
      <p:sp>
        <p:nvSpPr>
          <p:cNvPr id="30" name="Pfeil Rückmelde-Terminal"/>
          <p:cNvSpPr/>
          <p:nvPr/>
        </p:nvSpPr>
        <p:spPr>
          <a:xfrm>
            <a:off x="9692640" y="4956048"/>
            <a:ext cx="365760" cy="320040"/>
          </a:xfrm>
          <a:prstGeom prst="downArrow">
            <a:avLst/>
          </a:prstGeom>
          <a:solidFill>
            <a:schemeClr val="accent4"/>
          </a:solidFill>
          <a:ln/>
        </p:spPr>
      </p:sp>
      <p:sp>
        <p:nvSpPr>
          <p:cNvPr id="31" name="Gemeinsames Backend"/>
          <p:cNvSpPr/>
          <p:nvPr/>
        </p:nvSpPr>
        <p:spPr>
          <a:xfrm>
            <a:off x="548640" y="5349240"/>
            <a:ext cx="11064240" cy="731520"/>
          </a:xfrm>
          <a:prstGeom prst="roundRect">
            <a:avLst>
              <a:gd name="adj" fmla="val 12500"/>
            </a:avLst>
          </a:prstGeom>
          <a:solidFill>
            <a:schemeClr val="tx2"/>
          </a:solidFill>
          <a:ln/>
        </p:spPr>
      </p:sp>
      <p:sp>
        <p:nvSpPr>
          <p:cNvPr id="32" name="Text 27"/>
          <p:cNvSpPr txBox="1"/>
          <p:nvPr/>
        </p:nvSpPr>
        <p:spPr>
          <a:xfrm>
            <a:off x="777240" y="5349240"/>
            <a:ext cx="10607040" cy="731520"/>
          </a:xfrm>
          <a:prstGeom prst="rect">
            <a:avLst/>
          </a:prstGeom>
          <a:noFill/>
          <a:ln/>
        </p:spPr>
        <p:txBody>
          <a:bodyPr wrap="square" lIns="0" tIns="0" rIns="0" bIns="0" rtlCol="0" anchor="ctr"/>
          <a:lstStyle/>
          <a:p>
            <a:pPr indent="0" marL="0">
              <a:buNone/>
            </a:pPr>
            <a:r>
              <a:rPr lang="en-US" sz="1500" b="1" dirty="0">
                <a:solidFill>
                  <a:schemeClr val="bg1"/>
                </a:solidFill>
              </a:rPr>
              <a:t>Ein gemeinsames Backend (RAP): </a:t>
            </a:r>
            <a:pPr indent="0" marL="0">
              <a:buNone/>
            </a:pPr>
            <a:r>
              <a:rPr lang="en-US" sz="1500" dirty="0">
                <a:solidFill>
                  <a:schemeClr val="bg1"/>
                </a:solidFill>
              </a:rPr>
              <a:t>Auftragsstatus, Rückmeldelogik und Prüfungen – einmal entwickelt, von allen drei Oberflächen genutzt.</a:t>
            </a:r>
            <a:endParaRPr lang="en-US" sz="1500" dirty="0"/>
          </a:p>
        </p:txBody>
      </p:sp>
      <p:sp>
        <p:nvSpPr>
          <p:cNvPr id="33" name="Text 28"/>
          <p:cNvSpPr txBox="1"/>
          <p:nvPr/>
        </p:nvSpPr>
        <p:spPr>
          <a:xfrm>
            <a:off x="6309360" y="6382512"/>
            <a:ext cx="4754880" cy="292608"/>
          </a:xfrm>
          <a:prstGeom prst="rect">
            <a:avLst/>
          </a:prstGeom>
          <a:noFill/>
          <a:ln/>
        </p:spPr>
        <p:txBody>
          <a:bodyPr wrap="square" lIns="0" tIns="0" rIns="0" bIns="0" rtlCol="0" anchor="ctr"/>
          <a:lstStyle/>
          <a:p>
            <a:pPr algn="r" indent="0" marL="0">
              <a:buNone/>
            </a:pPr>
            <a:r>
              <a:rPr lang="en-US" sz="1100" i="1" dirty="0">
                <a:solidFill>
                  <a:schemeClr val="accent4"/>
                </a:solidFill>
              </a:rPr>
              <a:t>Schematisches Beispiel</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Eine App – mehrere Umsetzungen darin</a:t>
            </a:r>
            <a:endParaRPr lang="en-US" sz="3400" dirty="0"/>
          </a:p>
        </p:txBody>
      </p:sp>
      <p:sp>
        <p:nvSpPr>
          <p:cNvPr id="3" name="Text 1"/>
          <p:cNvSpPr txBox="1"/>
          <p:nvPr/>
        </p:nvSpPr>
        <p:spPr>
          <a:xfrm>
            <a:off x="548640" y="1234440"/>
            <a:ext cx="11064240" cy="365760"/>
          </a:xfrm>
          <a:prstGeom prst="rect">
            <a:avLst/>
          </a:prstGeom>
          <a:noFill/>
          <a:ln/>
        </p:spPr>
        <p:txBody>
          <a:bodyPr wrap="square" lIns="0" tIns="0" rIns="0" bIns="0" rtlCol="0" anchor="ctr"/>
          <a:lstStyle/>
          <a:p>
            <a:pPr indent="0" marL="0">
              <a:buNone/>
            </a:pPr>
            <a:r>
              <a:rPr lang="en-US" sz="1600" dirty="0">
                <a:solidFill>
                  <a:schemeClr val="accent4"/>
                </a:solidFill>
              </a:rPr>
              <a:t>Flexible Programming Model: Fiori-Elements-Seiten und eigene Freestyle-Seiten in einer App, ohne Launchpad-Sprung.</a:t>
            </a:r>
            <a:endParaRPr lang="en-US" sz="1600" dirty="0"/>
          </a:p>
        </p:txBody>
      </p:sp>
      <p:sp>
        <p:nvSpPr>
          <p:cNvPr id="4" name="App-Rahmen"/>
          <p:cNvSpPr/>
          <p:nvPr/>
        </p:nvSpPr>
        <p:spPr>
          <a:xfrm>
            <a:off x="548640" y="1783080"/>
            <a:ext cx="5120640" cy="4343400"/>
          </a:xfrm>
          <a:prstGeom prst="roundRect">
            <a:avLst>
              <a:gd name="adj" fmla="val 2526"/>
            </a:avLst>
          </a:prstGeom>
          <a:solidFill>
            <a:schemeClr val="bg1"/>
          </a:solidFill>
          <a:ln w="19050">
            <a:solidFill>
              <a:srgbClr val="0B3C49"/>
            </a:solidFill>
            <a:prstDash val="solid"/>
          </a:ln>
        </p:spPr>
      </p:sp>
      <p:sp>
        <p:nvSpPr>
          <p:cNvPr id="5" name="Text 3"/>
          <p:cNvSpPr txBox="1"/>
          <p:nvPr/>
        </p:nvSpPr>
        <p:spPr>
          <a:xfrm>
            <a:off x="777240" y="1874520"/>
            <a:ext cx="4663440" cy="411480"/>
          </a:xfrm>
          <a:prstGeom prst="rect">
            <a:avLst/>
          </a:prstGeom>
          <a:noFill/>
          <a:ln/>
        </p:spPr>
        <p:txBody>
          <a:bodyPr wrap="square" lIns="0" tIns="0" rIns="0" bIns="0" rtlCol="0" anchor="ctr"/>
          <a:lstStyle/>
          <a:p>
            <a:pPr indent="0" marL="0">
              <a:buNone/>
            </a:pPr>
            <a:r>
              <a:rPr lang="en-US" sz="1500" b="1" dirty="0">
                <a:solidFill>
                  <a:schemeClr val="tx2"/>
                </a:solidFill>
              </a:rPr>
              <a:t>Eine App · ein Einstieg · ein Deployment</a:t>
            </a:r>
            <a:endParaRPr lang="en-US" sz="1500" dirty="0"/>
          </a:p>
        </p:txBody>
      </p:sp>
      <p:sp>
        <p:nvSpPr>
          <p:cNvPr id="6" name="Teil Liste"/>
          <p:cNvSpPr/>
          <p:nvPr/>
        </p:nvSpPr>
        <p:spPr>
          <a:xfrm>
            <a:off x="777240" y="2377440"/>
            <a:ext cx="4663440" cy="1005840"/>
          </a:xfrm>
          <a:prstGeom prst="roundRect">
            <a:avLst>
              <a:gd name="adj" fmla="val 9091"/>
            </a:avLst>
          </a:prstGeom>
          <a:solidFill>
            <a:schemeClr val="accent6"/>
          </a:solidFill>
          <a:ln/>
        </p:spPr>
      </p:sp>
      <p:sp>
        <p:nvSpPr>
          <p:cNvPr id="7" name="Text 5"/>
          <p:cNvSpPr txBox="1"/>
          <p:nvPr/>
        </p:nvSpPr>
        <p:spPr>
          <a:xfrm>
            <a:off x="960120" y="2487168"/>
            <a:ext cx="2377440" cy="365760"/>
          </a:xfrm>
          <a:prstGeom prst="rect">
            <a:avLst/>
          </a:prstGeom>
          <a:noFill/>
          <a:ln/>
        </p:spPr>
        <p:txBody>
          <a:bodyPr wrap="square" lIns="0" tIns="0" rIns="0" bIns="0" rtlCol="0" anchor="ctr"/>
          <a:lstStyle/>
          <a:p>
            <a:pPr indent="0" marL="0">
              <a:buNone/>
            </a:pPr>
            <a:r>
              <a:rPr lang="en-US" sz="1700" b="1" dirty="0">
                <a:solidFill>
                  <a:schemeClr val="tx1"/>
                </a:solidFill>
              </a:rPr>
              <a:t>Liste</a:t>
            </a:r>
            <a:endParaRPr lang="en-US" sz="1700" dirty="0"/>
          </a:p>
        </p:txBody>
      </p:sp>
      <p:sp>
        <p:nvSpPr>
          <p:cNvPr id="8" name="Text 6"/>
          <p:cNvSpPr txBox="1"/>
          <p:nvPr/>
        </p:nvSpPr>
        <p:spPr>
          <a:xfrm>
            <a:off x="960120" y="2852928"/>
            <a:ext cx="4297680" cy="457200"/>
          </a:xfrm>
          <a:prstGeom prst="rect">
            <a:avLst/>
          </a:prstGeom>
          <a:noFill/>
          <a:ln/>
        </p:spPr>
        <p:txBody>
          <a:bodyPr wrap="square" lIns="0" tIns="0" rIns="0" bIns="0" rtlCol="0" anchor="t"/>
          <a:lstStyle/>
          <a:p>
            <a:pPr indent="0" marL="0">
              <a:buNone/>
            </a:pPr>
            <a:r>
              <a:rPr lang="en-US" sz="1300" dirty="0">
                <a:solidFill>
                  <a:schemeClr val="tx1"/>
                </a:solidFill>
              </a:rPr>
              <a:t>List Report – Annotationen</a:t>
            </a:r>
            <a:endParaRPr lang="en-US" sz="1300" dirty="0"/>
          </a:p>
        </p:txBody>
      </p:sp>
      <p:sp>
        <p:nvSpPr>
          <p:cNvPr id="9" name="Technik Liste"/>
          <p:cNvSpPr/>
          <p:nvPr/>
        </p:nvSpPr>
        <p:spPr>
          <a:xfrm>
            <a:off x="3794760" y="2505456"/>
            <a:ext cx="1463040" cy="310896"/>
          </a:xfrm>
          <a:prstGeom prst="roundRect">
            <a:avLst>
              <a:gd name="adj" fmla="val 23529"/>
            </a:avLst>
          </a:prstGeom>
          <a:solidFill>
            <a:schemeClr val="accent1"/>
          </a:solidFill>
          <a:ln/>
        </p:spPr>
      </p:sp>
      <p:sp>
        <p:nvSpPr>
          <p:cNvPr id="10" name="Text 8"/>
          <p:cNvSpPr txBox="1"/>
          <p:nvPr/>
        </p:nvSpPr>
        <p:spPr>
          <a:xfrm>
            <a:off x="3794760" y="2505456"/>
            <a:ext cx="1463040" cy="310896"/>
          </a:xfrm>
          <a:prstGeom prst="rect">
            <a:avLst/>
          </a:prstGeom>
          <a:noFill/>
          <a:ln/>
        </p:spPr>
        <p:txBody>
          <a:bodyPr wrap="square" lIns="0" tIns="0" rIns="0" bIns="0" rtlCol="0" anchor="ctr"/>
          <a:lstStyle/>
          <a:p>
            <a:pPr algn="ctr" indent="0" marL="0">
              <a:buNone/>
            </a:pPr>
            <a:r>
              <a:rPr lang="en-US" sz="1100" b="1" dirty="0">
                <a:solidFill>
                  <a:schemeClr val="bg1"/>
                </a:solidFill>
              </a:rPr>
              <a:t>Fiori Elements</a:t>
            </a:r>
            <a:endParaRPr lang="en-US" sz="1100" dirty="0"/>
          </a:p>
        </p:txBody>
      </p:sp>
      <p:sp>
        <p:nvSpPr>
          <p:cNvPr id="11" name="Teil Detail"/>
          <p:cNvSpPr/>
          <p:nvPr/>
        </p:nvSpPr>
        <p:spPr>
          <a:xfrm>
            <a:off x="777240" y="3566160"/>
            <a:ext cx="4663440" cy="1005840"/>
          </a:xfrm>
          <a:prstGeom prst="roundRect">
            <a:avLst>
              <a:gd name="adj" fmla="val 9091"/>
            </a:avLst>
          </a:prstGeom>
          <a:solidFill>
            <a:schemeClr val="accent6"/>
          </a:solidFill>
          <a:ln/>
        </p:spPr>
      </p:sp>
      <p:sp>
        <p:nvSpPr>
          <p:cNvPr id="12" name="Text 10"/>
          <p:cNvSpPr txBox="1"/>
          <p:nvPr/>
        </p:nvSpPr>
        <p:spPr>
          <a:xfrm>
            <a:off x="960120" y="3675888"/>
            <a:ext cx="2377440" cy="365760"/>
          </a:xfrm>
          <a:prstGeom prst="rect">
            <a:avLst/>
          </a:prstGeom>
          <a:noFill/>
          <a:ln/>
        </p:spPr>
        <p:txBody>
          <a:bodyPr wrap="square" lIns="0" tIns="0" rIns="0" bIns="0" rtlCol="0" anchor="ctr"/>
          <a:lstStyle/>
          <a:p>
            <a:pPr indent="0" marL="0">
              <a:buNone/>
            </a:pPr>
            <a:r>
              <a:rPr lang="en-US" sz="1700" b="1" dirty="0">
                <a:solidFill>
                  <a:schemeClr val="tx1"/>
                </a:solidFill>
              </a:rPr>
              <a:t>Detail</a:t>
            </a:r>
            <a:endParaRPr lang="en-US" sz="1700" dirty="0"/>
          </a:p>
        </p:txBody>
      </p:sp>
      <p:sp>
        <p:nvSpPr>
          <p:cNvPr id="13" name="Text 11"/>
          <p:cNvSpPr txBox="1"/>
          <p:nvPr/>
        </p:nvSpPr>
        <p:spPr>
          <a:xfrm>
            <a:off x="960120" y="4041648"/>
            <a:ext cx="4297680" cy="457200"/>
          </a:xfrm>
          <a:prstGeom prst="rect">
            <a:avLst/>
          </a:prstGeom>
          <a:noFill/>
          <a:ln/>
        </p:spPr>
        <p:txBody>
          <a:bodyPr wrap="square" lIns="0" tIns="0" rIns="0" bIns="0" rtlCol="0" anchor="t"/>
          <a:lstStyle/>
          <a:p>
            <a:pPr indent="0" marL="0">
              <a:buNone/>
            </a:pPr>
            <a:r>
              <a:rPr lang="en-US" sz="1300" dirty="0">
                <a:solidFill>
                  <a:schemeClr val="tx1"/>
                </a:solidFill>
              </a:rPr>
              <a:t>Object Page – Annotationen</a:t>
            </a:r>
            <a:endParaRPr lang="en-US" sz="1300" dirty="0"/>
          </a:p>
        </p:txBody>
      </p:sp>
      <p:sp>
        <p:nvSpPr>
          <p:cNvPr id="14" name="Technik Detail"/>
          <p:cNvSpPr/>
          <p:nvPr/>
        </p:nvSpPr>
        <p:spPr>
          <a:xfrm>
            <a:off x="3794760" y="3694176"/>
            <a:ext cx="1463040" cy="310896"/>
          </a:xfrm>
          <a:prstGeom prst="roundRect">
            <a:avLst>
              <a:gd name="adj" fmla="val 23529"/>
            </a:avLst>
          </a:prstGeom>
          <a:solidFill>
            <a:schemeClr val="accent1"/>
          </a:solidFill>
          <a:ln/>
        </p:spPr>
      </p:sp>
      <p:sp>
        <p:nvSpPr>
          <p:cNvPr id="15" name="Text 13"/>
          <p:cNvSpPr txBox="1"/>
          <p:nvPr/>
        </p:nvSpPr>
        <p:spPr>
          <a:xfrm>
            <a:off x="3794760" y="3694176"/>
            <a:ext cx="1463040" cy="310896"/>
          </a:xfrm>
          <a:prstGeom prst="rect">
            <a:avLst/>
          </a:prstGeom>
          <a:noFill/>
          <a:ln/>
        </p:spPr>
        <p:txBody>
          <a:bodyPr wrap="square" lIns="0" tIns="0" rIns="0" bIns="0" rtlCol="0" anchor="ctr"/>
          <a:lstStyle/>
          <a:p>
            <a:pPr algn="ctr" indent="0" marL="0">
              <a:buNone/>
            </a:pPr>
            <a:r>
              <a:rPr lang="en-US" sz="1100" b="1" dirty="0">
                <a:solidFill>
                  <a:schemeClr val="bg1"/>
                </a:solidFill>
              </a:rPr>
              <a:t>Fiori Elements</a:t>
            </a:r>
            <a:endParaRPr lang="en-US" sz="1100" dirty="0"/>
          </a:p>
        </p:txBody>
      </p:sp>
      <p:sp>
        <p:nvSpPr>
          <p:cNvPr id="16" name="Teil Scan-Seite"/>
          <p:cNvSpPr/>
          <p:nvPr/>
        </p:nvSpPr>
        <p:spPr>
          <a:xfrm>
            <a:off x="777240" y="4754880"/>
            <a:ext cx="4663440" cy="1005840"/>
          </a:xfrm>
          <a:prstGeom prst="roundRect">
            <a:avLst>
              <a:gd name="adj" fmla="val 9091"/>
            </a:avLst>
          </a:prstGeom>
          <a:solidFill>
            <a:schemeClr val="accent5"/>
          </a:solidFill>
          <a:ln/>
        </p:spPr>
      </p:sp>
      <p:sp>
        <p:nvSpPr>
          <p:cNvPr id="17" name="Text 15"/>
          <p:cNvSpPr txBox="1"/>
          <p:nvPr/>
        </p:nvSpPr>
        <p:spPr>
          <a:xfrm>
            <a:off x="960120" y="4864608"/>
            <a:ext cx="2377440" cy="365760"/>
          </a:xfrm>
          <a:prstGeom prst="rect">
            <a:avLst/>
          </a:prstGeom>
          <a:noFill/>
          <a:ln/>
        </p:spPr>
        <p:txBody>
          <a:bodyPr wrap="square" lIns="0" tIns="0" rIns="0" bIns="0" rtlCol="0" anchor="ctr"/>
          <a:lstStyle/>
          <a:p>
            <a:pPr indent="0" marL="0">
              <a:buNone/>
            </a:pPr>
            <a:r>
              <a:rPr lang="en-US" sz="1700" b="1" dirty="0">
                <a:solidFill>
                  <a:schemeClr val="tx1"/>
                </a:solidFill>
              </a:rPr>
              <a:t>Scan-Seite</a:t>
            </a:r>
            <a:endParaRPr lang="en-US" sz="1700" dirty="0"/>
          </a:p>
        </p:txBody>
      </p:sp>
      <p:sp>
        <p:nvSpPr>
          <p:cNvPr id="18" name="Text 16"/>
          <p:cNvSpPr txBox="1"/>
          <p:nvPr/>
        </p:nvSpPr>
        <p:spPr>
          <a:xfrm>
            <a:off x="960120" y="5230368"/>
            <a:ext cx="4297680" cy="457200"/>
          </a:xfrm>
          <a:prstGeom prst="rect">
            <a:avLst/>
          </a:prstGeom>
          <a:noFill/>
          <a:ln/>
        </p:spPr>
        <p:txBody>
          <a:bodyPr wrap="square" lIns="0" tIns="0" rIns="0" bIns="0" rtlCol="0" anchor="t"/>
          <a:lstStyle/>
          <a:p>
            <a:pPr indent="0" marL="0">
              <a:buNone/>
            </a:pPr>
            <a:r>
              <a:rPr lang="en-US" sz="1300" dirty="0">
                <a:solidFill>
                  <a:schemeClr val="tx1"/>
                </a:solidFill>
              </a:rPr>
              <a:t>Eigene View + Controller, Tabelle als Building Block</a:t>
            </a:r>
            <a:endParaRPr lang="en-US" sz="1300" dirty="0"/>
          </a:p>
        </p:txBody>
      </p:sp>
      <p:sp>
        <p:nvSpPr>
          <p:cNvPr id="19" name="Technik Scan-Seite"/>
          <p:cNvSpPr/>
          <p:nvPr/>
        </p:nvSpPr>
        <p:spPr>
          <a:xfrm>
            <a:off x="3794760" y="4882896"/>
            <a:ext cx="1463040" cy="310896"/>
          </a:xfrm>
          <a:prstGeom prst="roundRect">
            <a:avLst>
              <a:gd name="adj" fmla="val 23529"/>
            </a:avLst>
          </a:prstGeom>
          <a:solidFill>
            <a:schemeClr val="accent2"/>
          </a:solidFill>
          <a:ln/>
        </p:spPr>
      </p:sp>
      <p:sp>
        <p:nvSpPr>
          <p:cNvPr id="20" name="Text 18"/>
          <p:cNvSpPr txBox="1"/>
          <p:nvPr/>
        </p:nvSpPr>
        <p:spPr>
          <a:xfrm>
            <a:off x="3794760" y="4882896"/>
            <a:ext cx="1463040" cy="310896"/>
          </a:xfrm>
          <a:prstGeom prst="rect">
            <a:avLst/>
          </a:prstGeom>
          <a:noFill/>
          <a:ln/>
        </p:spPr>
        <p:txBody>
          <a:bodyPr wrap="square" lIns="0" tIns="0" rIns="0" bIns="0" rtlCol="0" anchor="ctr"/>
          <a:lstStyle/>
          <a:p>
            <a:pPr algn="ctr" indent="0" marL="0">
              <a:buNone/>
            </a:pPr>
            <a:r>
              <a:rPr lang="en-US" sz="1100" b="1" dirty="0">
                <a:solidFill>
                  <a:schemeClr val="bg1"/>
                </a:solidFill>
              </a:rPr>
              <a:t>Freestyle</a:t>
            </a:r>
            <a:endParaRPr lang="en-US" sz="1100" dirty="0"/>
          </a:p>
        </p:txBody>
      </p:sp>
      <p:sp>
        <p:nvSpPr>
          <p:cNvPr id="21" name="Text 19"/>
          <p:cNvSpPr txBox="1"/>
          <p:nvPr/>
        </p:nvSpPr>
        <p:spPr>
          <a:xfrm>
            <a:off x="6035040" y="1783080"/>
            <a:ext cx="5577840" cy="365760"/>
          </a:xfrm>
          <a:prstGeom prst="rect">
            <a:avLst/>
          </a:prstGeom>
          <a:noFill/>
          <a:ln/>
        </p:spPr>
        <p:txBody>
          <a:bodyPr wrap="square" lIns="0" tIns="0" rIns="0" bIns="0" rtlCol="0" anchor="ctr"/>
          <a:lstStyle/>
          <a:p>
            <a:pPr indent="0" marL="0">
              <a:buNone/>
            </a:pPr>
            <a:r>
              <a:rPr lang="en-US" sz="1500" b="1" dirty="0">
                <a:solidFill>
                  <a:schemeClr val="tx1"/>
                </a:solidFill>
              </a:rPr>
              <a:t>In der Demo: Liste → „Scan-Modus“ → scannen → Details</a:t>
            </a:r>
            <a:endParaRPr lang="en-US" sz="1500" dirty="0"/>
          </a:p>
        </p:txBody>
      </p:sp>
      <p:pic>
        <p:nvPicPr>
          <p:cNvPr id="22" name="Screenshot Scan-Seite" descr="Screenshot Scan-Seite in der kombinierten App">    </p:cNvPr>
          <p:cNvPicPr>
            <a:picLocks noChangeAspect="1"/>
          </p:cNvPicPr>
          <p:nvPr/>
        </p:nvPicPr>
        <p:blipFill>
          <a:blip r:embed="rId1"/>
          <a:stretch>
            <a:fillRect/>
          </a:stretch>
        </p:blipFill>
        <p:spPr>
          <a:xfrm>
            <a:off x="6035040" y="2331720"/>
            <a:ext cx="5577840" cy="2871216"/>
          </a:xfrm>
          <a:prstGeom prst="rect">
            <a:avLst/>
          </a:prstGeom>
        </p:spPr>
      </p:pic>
      <p:sp>
        <p:nvSpPr>
          <p:cNvPr id="23" name="Rahmen Scan-Seite"/>
          <p:cNvSpPr/>
          <p:nvPr/>
        </p:nvSpPr>
        <p:spPr>
          <a:xfrm>
            <a:off x="6035040" y="2331720"/>
            <a:ext cx="5577840" cy="2871216"/>
          </a:xfrm>
          <a:prstGeom prst="rect">
            <a:avLst/>
          </a:prstGeom>
          <a:ln w="9525">
            <a:solidFill>
              <a:srgbClr val="5E727B"/>
            </a:solidFill>
            <a:prstDash val="solid"/>
          </a:ln>
        </p:spPr>
      </p:sp>
      <p:sp>
        <p:nvSpPr>
          <p:cNvPr id="24" name="Text 21"/>
          <p:cNvSpPr txBox="1"/>
          <p:nvPr/>
        </p:nvSpPr>
        <p:spPr>
          <a:xfrm>
            <a:off x="6035040" y="5349240"/>
            <a:ext cx="5577840" cy="548640"/>
          </a:xfrm>
          <a:prstGeom prst="rect">
            <a:avLst/>
          </a:prstGeom>
          <a:noFill/>
          <a:ln/>
        </p:spPr>
        <p:txBody>
          <a:bodyPr wrap="square" lIns="0" tIns="0" rIns="0" bIns="0" rtlCol="0" anchor="t"/>
          <a:lstStyle/>
          <a:p>
            <a:pPr indent="0" marL="0">
              <a:buNone/>
            </a:pPr>
            <a:r>
              <a:rPr lang="en-US" sz="1400" b="1" dirty="0">
                <a:solidFill>
                  <a:schemeClr val="accent2"/>
                </a:solidFill>
              </a:rPr>
              <a:t>85 Zeilen</a:t>
            </a:r>
            <a:pPr indent="0" marL="0">
              <a:buNone/>
            </a:pPr>
            <a:r>
              <a:rPr lang="en-US" sz="1400" dirty="0">
                <a:solidFill>
                  <a:schemeClr val="tx1"/>
                </a:solidFill>
              </a:rPr>
              <a:t> eigenes JavaScript statt 246 · </a:t>
            </a:r>
            <a:pPr indent="0" marL="0">
              <a:buNone/>
            </a:pPr>
            <a:r>
              <a:rPr lang="en-US" sz="1400" b="1" dirty="0">
                <a:solidFill>
                  <a:schemeClr val="tx1"/>
                </a:solidFill>
              </a:rPr>
              <a:t>aber:</a:t>
            </a:r>
            <a:pPr indent="0" marL="0">
              <a:buNone/>
            </a:pPr>
            <a:r>
              <a:rPr lang="en-US" sz="1400" dirty="0">
                <a:solidFill>
                  <a:schemeClr val="tx1"/>
                </a:solidFill>
              </a:rPr>
              <a:t> eine UI5-Version für die ganze App</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Wie eine Kombination entstehen kann</a:t>
            </a:r>
            <a:endParaRPr lang="en-US" sz="3400" dirty="0"/>
          </a:p>
        </p:txBody>
      </p:sp>
      <p:sp>
        <p:nvSpPr>
          <p:cNvPr id="3" name="Schritt 1"/>
          <p:cNvSpPr/>
          <p:nvPr/>
        </p:nvSpPr>
        <p:spPr>
          <a:xfrm>
            <a:off x="548640" y="1417320"/>
            <a:ext cx="2560320" cy="2743200"/>
          </a:xfrm>
          <a:prstGeom prst="roundRect">
            <a:avLst>
              <a:gd name="adj" fmla="val 4286"/>
            </a:avLst>
          </a:prstGeom>
          <a:solidFill>
            <a:schemeClr val="bg2"/>
          </a:solidFill>
          <a:ln/>
        </p:spPr>
      </p:sp>
      <p:sp>
        <p:nvSpPr>
          <p:cNvPr id="4" name="Schritt 1 Nummer"/>
          <p:cNvSpPr/>
          <p:nvPr/>
        </p:nvSpPr>
        <p:spPr>
          <a:xfrm>
            <a:off x="777240" y="1645920"/>
            <a:ext cx="594360" cy="594360"/>
          </a:xfrm>
          <a:prstGeom prst="ellipse">
            <a:avLst/>
          </a:prstGeom>
          <a:solidFill>
            <a:schemeClr val="accent4"/>
          </a:solidFill>
          <a:ln/>
        </p:spPr>
      </p:sp>
      <p:sp>
        <p:nvSpPr>
          <p:cNvPr id="5" name="Text 3"/>
          <p:cNvSpPr txBox="1"/>
          <p:nvPr/>
        </p:nvSpPr>
        <p:spPr>
          <a:xfrm>
            <a:off x="777240" y="1645920"/>
            <a:ext cx="594360" cy="59436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6" name="Text 4"/>
          <p:cNvSpPr txBox="1"/>
          <p:nvPr/>
        </p:nvSpPr>
        <p:spPr>
          <a:xfrm>
            <a:off x="777240" y="2377440"/>
            <a:ext cx="2194560" cy="685800"/>
          </a:xfrm>
          <a:prstGeom prst="rect">
            <a:avLst/>
          </a:prstGeom>
          <a:noFill/>
          <a:ln/>
        </p:spPr>
        <p:txBody>
          <a:bodyPr wrap="square" lIns="0" tIns="0" rIns="0" bIns="0" rtlCol="0" anchor="t"/>
          <a:lstStyle/>
          <a:p>
            <a:pPr indent="0" marL="0">
              <a:buNone/>
            </a:pPr>
            <a:r>
              <a:rPr lang="en-US" sz="1700" b="1" dirty="0">
                <a:solidFill>
                  <a:schemeClr val="accent4"/>
                </a:solidFill>
              </a:rPr>
              <a:t>Standard prüfen</a:t>
            </a:r>
            <a:endParaRPr lang="en-US" sz="1700" dirty="0"/>
          </a:p>
        </p:txBody>
      </p:sp>
      <p:sp>
        <p:nvSpPr>
          <p:cNvPr id="7" name="Text 5"/>
          <p:cNvSpPr txBox="1"/>
          <p:nvPr/>
        </p:nvSpPr>
        <p:spPr>
          <a:xfrm>
            <a:off x="777240" y="3063240"/>
            <a:ext cx="2194560" cy="1005840"/>
          </a:xfrm>
          <a:prstGeom prst="rect">
            <a:avLst/>
          </a:prstGeom>
          <a:noFill/>
          <a:ln/>
        </p:spPr>
        <p:txBody>
          <a:bodyPr wrap="square" lIns="0" tIns="0" rIns="0" bIns="0" rtlCol="0" anchor="t"/>
          <a:lstStyle/>
          <a:p>
            <a:pPr indent="0" marL="0">
              <a:buNone/>
            </a:pPr>
            <a:r>
              <a:rPr lang="en-US" sz="1400" dirty="0">
                <a:solidFill>
                  <a:schemeClr val="tx1"/>
                </a:solidFill>
              </a:rPr>
              <a:t>Gibt es für den Ablauf schon eine SAP-Standard-App? Dann diese nutzen.</a:t>
            </a:r>
            <a:endParaRPr lang="en-US" sz="1400" dirty="0"/>
          </a:p>
        </p:txBody>
      </p:sp>
      <p:sp>
        <p:nvSpPr>
          <p:cNvPr id="8" name="Pfeil Schritt 1"/>
          <p:cNvSpPr/>
          <p:nvPr/>
        </p:nvSpPr>
        <p:spPr>
          <a:xfrm>
            <a:off x="3127248" y="2606040"/>
            <a:ext cx="219456" cy="365760"/>
          </a:xfrm>
          <a:prstGeom prst="rightArrow">
            <a:avLst/>
          </a:prstGeom>
          <a:solidFill>
            <a:schemeClr val="accent4"/>
          </a:solidFill>
          <a:ln/>
        </p:spPr>
      </p:sp>
      <p:sp>
        <p:nvSpPr>
          <p:cNvPr id="9" name="Schritt 2"/>
          <p:cNvSpPr/>
          <p:nvPr/>
        </p:nvSpPr>
        <p:spPr>
          <a:xfrm>
            <a:off x="3364992" y="1417320"/>
            <a:ext cx="2560320" cy="2743200"/>
          </a:xfrm>
          <a:prstGeom prst="roundRect">
            <a:avLst>
              <a:gd name="adj" fmla="val 4286"/>
            </a:avLst>
          </a:prstGeom>
          <a:solidFill>
            <a:schemeClr val="bg2"/>
          </a:solidFill>
          <a:ln/>
        </p:spPr>
      </p:sp>
      <p:sp>
        <p:nvSpPr>
          <p:cNvPr id="10" name="Schritt 2 Nummer"/>
          <p:cNvSpPr/>
          <p:nvPr/>
        </p:nvSpPr>
        <p:spPr>
          <a:xfrm>
            <a:off x="3593592" y="1645920"/>
            <a:ext cx="594360" cy="594360"/>
          </a:xfrm>
          <a:prstGeom prst="ellipse">
            <a:avLst/>
          </a:prstGeom>
          <a:solidFill>
            <a:schemeClr val="tx2"/>
          </a:solidFill>
          <a:ln/>
        </p:spPr>
      </p:sp>
      <p:sp>
        <p:nvSpPr>
          <p:cNvPr id="11" name="Text 9"/>
          <p:cNvSpPr txBox="1"/>
          <p:nvPr/>
        </p:nvSpPr>
        <p:spPr>
          <a:xfrm>
            <a:off x="3593592" y="1645920"/>
            <a:ext cx="594360" cy="59436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2" name="Text 10"/>
          <p:cNvSpPr txBox="1"/>
          <p:nvPr/>
        </p:nvSpPr>
        <p:spPr>
          <a:xfrm>
            <a:off x="3593592" y="2377440"/>
            <a:ext cx="2194560" cy="685800"/>
          </a:xfrm>
          <a:prstGeom prst="rect">
            <a:avLst/>
          </a:prstGeom>
          <a:noFill/>
          <a:ln/>
        </p:spPr>
        <p:txBody>
          <a:bodyPr wrap="square" lIns="0" tIns="0" rIns="0" bIns="0" rtlCol="0" anchor="t"/>
          <a:lstStyle/>
          <a:p>
            <a:pPr indent="0" marL="0">
              <a:buNone/>
            </a:pPr>
            <a:r>
              <a:rPr lang="en-US" sz="1700" b="1" dirty="0">
                <a:solidFill>
                  <a:schemeClr val="tx2"/>
                </a:solidFill>
              </a:rPr>
              <a:t>Backend zuerst</a:t>
            </a:r>
            <a:endParaRPr lang="en-US" sz="1700" dirty="0"/>
          </a:p>
        </p:txBody>
      </p:sp>
      <p:sp>
        <p:nvSpPr>
          <p:cNvPr id="13" name="Text 11"/>
          <p:cNvSpPr txBox="1"/>
          <p:nvPr/>
        </p:nvSpPr>
        <p:spPr>
          <a:xfrm>
            <a:off x="3593592" y="3063240"/>
            <a:ext cx="2194560" cy="1005840"/>
          </a:xfrm>
          <a:prstGeom prst="rect">
            <a:avLst/>
          </a:prstGeom>
          <a:noFill/>
          <a:ln/>
        </p:spPr>
        <p:txBody>
          <a:bodyPr wrap="square" lIns="0" tIns="0" rIns="0" bIns="0" rtlCol="0" anchor="t"/>
          <a:lstStyle/>
          <a:p>
            <a:pPr indent="0" marL="0">
              <a:buNone/>
            </a:pPr>
            <a:r>
              <a:rPr lang="en-US" sz="1400" dirty="0">
                <a:solidFill>
                  <a:schemeClr val="tx1"/>
                </a:solidFill>
              </a:rPr>
              <a:t>RAP-Business-Objekt mit Prüfungen und Aktionen – einmal, für alle Oberflächen.</a:t>
            </a:r>
            <a:endParaRPr lang="en-US" sz="1400" dirty="0"/>
          </a:p>
        </p:txBody>
      </p:sp>
      <p:sp>
        <p:nvSpPr>
          <p:cNvPr id="14" name="Pfeil Schritt 2"/>
          <p:cNvSpPr/>
          <p:nvPr/>
        </p:nvSpPr>
        <p:spPr>
          <a:xfrm>
            <a:off x="5943600" y="2606040"/>
            <a:ext cx="219456" cy="365760"/>
          </a:xfrm>
          <a:prstGeom prst="rightArrow">
            <a:avLst/>
          </a:prstGeom>
          <a:solidFill>
            <a:schemeClr val="accent4"/>
          </a:solidFill>
          <a:ln/>
        </p:spPr>
      </p:sp>
      <p:sp>
        <p:nvSpPr>
          <p:cNvPr id="15" name="Schritt 3"/>
          <p:cNvSpPr/>
          <p:nvPr/>
        </p:nvSpPr>
        <p:spPr>
          <a:xfrm>
            <a:off x="6181344" y="1417320"/>
            <a:ext cx="2560320" cy="2743200"/>
          </a:xfrm>
          <a:prstGeom prst="roundRect">
            <a:avLst>
              <a:gd name="adj" fmla="val 4286"/>
            </a:avLst>
          </a:prstGeom>
          <a:solidFill>
            <a:schemeClr val="accent6"/>
          </a:solidFill>
          <a:ln/>
        </p:spPr>
      </p:sp>
      <p:sp>
        <p:nvSpPr>
          <p:cNvPr id="16" name="Schritt 3 Nummer"/>
          <p:cNvSpPr/>
          <p:nvPr/>
        </p:nvSpPr>
        <p:spPr>
          <a:xfrm>
            <a:off x="6409944" y="1645920"/>
            <a:ext cx="594360" cy="594360"/>
          </a:xfrm>
          <a:prstGeom prst="ellipse">
            <a:avLst/>
          </a:prstGeom>
          <a:solidFill>
            <a:schemeClr val="accent1"/>
          </a:solidFill>
          <a:ln/>
        </p:spPr>
      </p:sp>
      <p:sp>
        <p:nvSpPr>
          <p:cNvPr id="17" name="Text 15"/>
          <p:cNvSpPr txBox="1"/>
          <p:nvPr/>
        </p:nvSpPr>
        <p:spPr>
          <a:xfrm>
            <a:off x="6409944" y="1645920"/>
            <a:ext cx="594360" cy="59436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8" name="Text 16"/>
          <p:cNvSpPr txBox="1"/>
          <p:nvPr/>
        </p:nvSpPr>
        <p:spPr>
          <a:xfrm>
            <a:off x="6409944" y="2377440"/>
            <a:ext cx="2194560" cy="685800"/>
          </a:xfrm>
          <a:prstGeom prst="rect">
            <a:avLst/>
          </a:prstGeom>
          <a:noFill/>
          <a:ln/>
        </p:spPr>
        <p:txBody>
          <a:bodyPr wrap="square" lIns="0" tIns="0" rIns="0" bIns="0" rtlCol="0" anchor="t"/>
          <a:lstStyle/>
          <a:p>
            <a:pPr indent="0" marL="0">
              <a:buNone/>
            </a:pPr>
            <a:r>
              <a:rPr lang="en-US" sz="1700" b="1" dirty="0">
                <a:solidFill>
                  <a:schemeClr val="accent1"/>
                </a:solidFill>
              </a:rPr>
              <a:t>Fiori Elements für Büro-Abläufe</a:t>
            </a:r>
            <a:endParaRPr lang="en-US" sz="1700" dirty="0"/>
          </a:p>
        </p:txBody>
      </p:sp>
      <p:sp>
        <p:nvSpPr>
          <p:cNvPr id="19" name="Text 17"/>
          <p:cNvSpPr txBox="1"/>
          <p:nvPr/>
        </p:nvSpPr>
        <p:spPr>
          <a:xfrm>
            <a:off x="6409944" y="3063240"/>
            <a:ext cx="2194560" cy="1005840"/>
          </a:xfrm>
          <a:prstGeom prst="rect">
            <a:avLst/>
          </a:prstGeom>
          <a:noFill/>
          <a:ln/>
        </p:spPr>
        <p:txBody>
          <a:bodyPr wrap="square" lIns="0" tIns="0" rIns="0" bIns="0" rtlCol="0" anchor="t"/>
          <a:lstStyle/>
          <a:p>
            <a:pPr indent="0" marL="0">
              <a:buNone/>
            </a:pPr>
            <a:r>
              <a:rPr lang="en-US" sz="1400" dirty="0">
                <a:solidFill>
                  <a:schemeClr val="tx1"/>
                </a:solidFill>
              </a:rPr>
              <a:t>Übersicht, Detail, Klärung – ohne eigenen UI-Code.</a:t>
            </a:r>
            <a:endParaRPr lang="en-US" sz="1400" dirty="0"/>
          </a:p>
        </p:txBody>
      </p:sp>
      <p:sp>
        <p:nvSpPr>
          <p:cNvPr id="20" name="Pfeil Schritt 3"/>
          <p:cNvSpPr/>
          <p:nvPr/>
        </p:nvSpPr>
        <p:spPr>
          <a:xfrm>
            <a:off x="8759952" y="2606040"/>
            <a:ext cx="219456" cy="365760"/>
          </a:xfrm>
          <a:prstGeom prst="rightArrow">
            <a:avLst/>
          </a:prstGeom>
          <a:solidFill>
            <a:schemeClr val="accent4"/>
          </a:solidFill>
          <a:ln/>
        </p:spPr>
      </p:sp>
      <p:sp>
        <p:nvSpPr>
          <p:cNvPr id="21" name="Schritt 4"/>
          <p:cNvSpPr/>
          <p:nvPr/>
        </p:nvSpPr>
        <p:spPr>
          <a:xfrm>
            <a:off x="8997696" y="1417320"/>
            <a:ext cx="2560320" cy="2743200"/>
          </a:xfrm>
          <a:prstGeom prst="roundRect">
            <a:avLst>
              <a:gd name="adj" fmla="val 4286"/>
            </a:avLst>
          </a:prstGeom>
          <a:solidFill>
            <a:schemeClr val="accent5"/>
          </a:solidFill>
          <a:ln/>
        </p:spPr>
      </p:sp>
      <p:sp>
        <p:nvSpPr>
          <p:cNvPr id="22" name="Schritt 4 Nummer"/>
          <p:cNvSpPr/>
          <p:nvPr/>
        </p:nvSpPr>
        <p:spPr>
          <a:xfrm>
            <a:off x="9226296" y="1645920"/>
            <a:ext cx="594360" cy="594360"/>
          </a:xfrm>
          <a:prstGeom prst="ellipse">
            <a:avLst/>
          </a:prstGeom>
          <a:solidFill>
            <a:schemeClr val="accent2"/>
          </a:solidFill>
          <a:ln/>
        </p:spPr>
      </p:sp>
      <p:sp>
        <p:nvSpPr>
          <p:cNvPr id="23" name="Text 21"/>
          <p:cNvSpPr txBox="1"/>
          <p:nvPr/>
        </p:nvSpPr>
        <p:spPr>
          <a:xfrm>
            <a:off x="9226296" y="1645920"/>
            <a:ext cx="594360" cy="59436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4" name="Text 22"/>
          <p:cNvSpPr txBox="1"/>
          <p:nvPr/>
        </p:nvSpPr>
        <p:spPr>
          <a:xfrm>
            <a:off x="9226296" y="2377440"/>
            <a:ext cx="2194560" cy="685800"/>
          </a:xfrm>
          <a:prstGeom prst="rect">
            <a:avLst/>
          </a:prstGeom>
          <a:noFill/>
          <a:ln/>
        </p:spPr>
        <p:txBody>
          <a:bodyPr wrap="square" lIns="0" tIns="0" rIns="0" bIns="0" rtlCol="0" anchor="t"/>
          <a:lstStyle/>
          <a:p>
            <a:pPr indent="0" marL="0">
              <a:buNone/>
            </a:pPr>
            <a:r>
              <a:rPr lang="en-US" sz="1700" b="1" dirty="0">
                <a:solidFill>
                  <a:schemeClr val="accent2"/>
                </a:solidFill>
              </a:rPr>
              <a:t>Freestyle gezielt</a:t>
            </a:r>
            <a:endParaRPr lang="en-US" sz="1700" dirty="0"/>
          </a:p>
        </p:txBody>
      </p:sp>
      <p:sp>
        <p:nvSpPr>
          <p:cNvPr id="25" name="Text 23"/>
          <p:cNvSpPr txBox="1"/>
          <p:nvPr/>
        </p:nvSpPr>
        <p:spPr>
          <a:xfrm>
            <a:off x="9226296" y="3063240"/>
            <a:ext cx="2194560" cy="1005840"/>
          </a:xfrm>
          <a:prstGeom prst="rect">
            <a:avLst/>
          </a:prstGeom>
          <a:noFill/>
          <a:ln/>
        </p:spPr>
        <p:txBody>
          <a:bodyPr wrap="square" lIns="0" tIns="0" rIns="0" bIns="0" rtlCol="0" anchor="t"/>
          <a:lstStyle/>
          <a:p>
            <a:pPr indent="0" marL="0">
              <a:buNone/>
            </a:pPr>
            <a:r>
              <a:rPr lang="en-US" sz="1400" dirty="0">
                <a:solidFill>
                  <a:schemeClr val="tx1"/>
                </a:solidFill>
              </a:rPr>
              <a:t>Nur der Handheld- oder Werker-Ablauf – gern als eigene Seite in derselben App.</a:t>
            </a:r>
            <a:endParaRPr lang="en-US" sz="1400" dirty="0"/>
          </a:p>
        </p:txBody>
      </p:sp>
      <p:sp>
        <p:nvSpPr>
          <p:cNvPr id="26" name="Text 24"/>
          <p:cNvSpPr txBox="1"/>
          <p:nvPr/>
        </p:nvSpPr>
        <p:spPr>
          <a:xfrm>
            <a:off x="548640" y="4480560"/>
            <a:ext cx="11064240" cy="411480"/>
          </a:xfrm>
          <a:prstGeom prst="rect">
            <a:avLst/>
          </a:prstGeom>
          <a:noFill/>
          <a:ln/>
        </p:spPr>
        <p:txBody>
          <a:bodyPr wrap="square" lIns="0" tIns="0" rIns="0" bIns="0" rtlCol="0" anchor="ctr"/>
          <a:lstStyle/>
          <a:p>
            <a:pPr indent="0" marL="0">
              <a:buNone/>
            </a:pPr>
            <a:r>
              <a:rPr lang="en-US" sz="1800" b="1" dirty="0">
                <a:solidFill>
                  <a:schemeClr val="tx1"/>
                </a:solidFill>
              </a:rPr>
              <a:t>Was die Freestyle-Teile wartbar hält</a:t>
            </a:r>
            <a:endParaRPr lang="en-US" sz="1800" dirty="0"/>
          </a:p>
        </p:txBody>
      </p:sp>
      <p:sp>
        <p:nvSpPr>
          <p:cNvPr id="27" name="Regel 1"/>
          <p:cNvSpPr/>
          <p:nvPr/>
        </p:nvSpPr>
        <p:spPr>
          <a:xfrm>
            <a:off x="548640" y="5029200"/>
            <a:ext cx="2029968" cy="731520"/>
          </a:xfrm>
          <a:prstGeom prst="roundRect">
            <a:avLst>
              <a:gd name="adj" fmla="val 12500"/>
            </a:avLst>
          </a:prstGeom>
          <a:solidFill>
            <a:schemeClr val="accent5"/>
          </a:solidFill>
          <a:ln/>
        </p:spPr>
      </p:sp>
      <p:sp>
        <p:nvSpPr>
          <p:cNvPr id="28" name="Text 26"/>
          <p:cNvSpPr txBox="1"/>
          <p:nvPr/>
        </p:nvSpPr>
        <p:spPr>
          <a:xfrm>
            <a:off x="640080" y="5029200"/>
            <a:ext cx="1847088" cy="731520"/>
          </a:xfrm>
          <a:prstGeom prst="rect">
            <a:avLst/>
          </a:prstGeom>
          <a:noFill/>
          <a:ln/>
        </p:spPr>
        <p:txBody>
          <a:bodyPr wrap="square" lIns="0" tIns="0" rIns="0" bIns="0" rtlCol="0" anchor="ctr"/>
          <a:lstStyle/>
          <a:p>
            <a:pPr algn="ctr" indent="0" marL="0">
              <a:buNone/>
            </a:pPr>
            <a:r>
              <a:rPr lang="en-US" sz="1400" b="1" dirty="0">
                <a:solidFill>
                  <a:schemeClr val="tx1"/>
                </a:solidFill>
              </a:rPr>
              <a:t>Owner benannt</a:t>
            </a:r>
            <a:endParaRPr lang="en-US" sz="1400" dirty="0"/>
          </a:p>
        </p:txBody>
      </p:sp>
      <p:sp>
        <p:nvSpPr>
          <p:cNvPr id="29" name="Regel 2"/>
          <p:cNvSpPr/>
          <p:nvPr/>
        </p:nvSpPr>
        <p:spPr>
          <a:xfrm>
            <a:off x="2798064" y="5029200"/>
            <a:ext cx="2029968" cy="731520"/>
          </a:xfrm>
          <a:prstGeom prst="roundRect">
            <a:avLst>
              <a:gd name="adj" fmla="val 12500"/>
            </a:avLst>
          </a:prstGeom>
          <a:solidFill>
            <a:schemeClr val="accent5"/>
          </a:solidFill>
          <a:ln/>
        </p:spPr>
      </p:sp>
      <p:sp>
        <p:nvSpPr>
          <p:cNvPr id="30" name="Text 28"/>
          <p:cNvSpPr txBox="1"/>
          <p:nvPr/>
        </p:nvSpPr>
        <p:spPr>
          <a:xfrm>
            <a:off x="2889504" y="5029200"/>
            <a:ext cx="1847088" cy="731520"/>
          </a:xfrm>
          <a:prstGeom prst="rect">
            <a:avLst/>
          </a:prstGeom>
          <a:noFill/>
          <a:ln/>
        </p:spPr>
        <p:txBody>
          <a:bodyPr wrap="square" lIns="0" tIns="0" rIns="0" bIns="0" rtlCol="0" anchor="ctr"/>
          <a:lstStyle/>
          <a:p>
            <a:pPr algn="ctr" indent="0" marL="0">
              <a:buNone/>
            </a:pPr>
            <a:r>
              <a:rPr lang="en-US" sz="1400" b="1" dirty="0">
                <a:solidFill>
                  <a:schemeClr val="tx1"/>
                </a:solidFill>
              </a:rPr>
              <a:t>Gemeinsame UI5-Version</a:t>
            </a:r>
            <a:endParaRPr lang="en-US" sz="1400" dirty="0"/>
          </a:p>
        </p:txBody>
      </p:sp>
      <p:sp>
        <p:nvSpPr>
          <p:cNvPr id="31" name="Regel 3"/>
          <p:cNvSpPr/>
          <p:nvPr/>
        </p:nvSpPr>
        <p:spPr>
          <a:xfrm>
            <a:off x="5047488" y="5029200"/>
            <a:ext cx="2029968" cy="731520"/>
          </a:xfrm>
          <a:prstGeom prst="roundRect">
            <a:avLst>
              <a:gd name="adj" fmla="val 12500"/>
            </a:avLst>
          </a:prstGeom>
          <a:solidFill>
            <a:schemeClr val="accent5"/>
          </a:solidFill>
          <a:ln/>
        </p:spPr>
      </p:sp>
      <p:sp>
        <p:nvSpPr>
          <p:cNvPr id="32" name="Text 30"/>
          <p:cNvSpPr txBox="1"/>
          <p:nvPr/>
        </p:nvSpPr>
        <p:spPr>
          <a:xfrm>
            <a:off x="5138928" y="5029200"/>
            <a:ext cx="1847088" cy="731520"/>
          </a:xfrm>
          <a:prstGeom prst="rect">
            <a:avLst/>
          </a:prstGeom>
          <a:noFill/>
          <a:ln/>
        </p:spPr>
        <p:txBody>
          <a:bodyPr wrap="square" lIns="0" tIns="0" rIns="0" bIns="0" rtlCol="0" anchor="ctr"/>
          <a:lstStyle/>
          <a:p>
            <a:pPr algn="ctr" indent="0" marL="0">
              <a:buNone/>
            </a:pPr>
            <a:r>
              <a:rPr lang="en-US" sz="1400" b="1" dirty="0">
                <a:solidFill>
                  <a:schemeClr val="tx1"/>
                </a:solidFill>
              </a:rPr>
              <a:t>Pakete regelmäßig aktualisieren</a:t>
            </a:r>
            <a:endParaRPr lang="en-US" sz="1400" dirty="0"/>
          </a:p>
        </p:txBody>
      </p:sp>
      <p:sp>
        <p:nvSpPr>
          <p:cNvPr id="33" name="Regel 4"/>
          <p:cNvSpPr/>
          <p:nvPr/>
        </p:nvSpPr>
        <p:spPr>
          <a:xfrm>
            <a:off x="7296912" y="5029200"/>
            <a:ext cx="2029968" cy="731520"/>
          </a:xfrm>
          <a:prstGeom prst="roundRect">
            <a:avLst>
              <a:gd name="adj" fmla="val 12500"/>
            </a:avLst>
          </a:prstGeom>
          <a:solidFill>
            <a:schemeClr val="accent5"/>
          </a:solidFill>
          <a:ln/>
        </p:spPr>
      </p:sp>
      <p:sp>
        <p:nvSpPr>
          <p:cNvPr id="34" name="Text 32"/>
          <p:cNvSpPr txBox="1"/>
          <p:nvPr/>
        </p:nvSpPr>
        <p:spPr>
          <a:xfrm>
            <a:off x="7388352" y="5029200"/>
            <a:ext cx="1847088" cy="731520"/>
          </a:xfrm>
          <a:prstGeom prst="rect">
            <a:avLst/>
          </a:prstGeom>
          <a:noFill/>
          <a:ln/>
        </p:spPr>
        <p:txBody>
          <a:bodyPr wrap="square" lIns="0" tIns="0" rIns="0" bIns="0" rtlCol="0" anchor="ctr"/>
          <a:lstStyle/>
          <a:p>
            <a:pPr algn="ctr" indent="0" marL="0">
              <a:buNone/>
            </a:pPr>
            <a:r>
              <a:rPr lang="en-US" sz="1400" b="1" dirty="0">
                <a:solidFill>
                  <a:schemeClr val="tx1"/>
                </a:solidFill>
              </a:rPr>
              <a:t>Tests für den Kernablauf</a:t>
            </a:r>
            <a:endParaRPr lang="en-US" sz="1400" dirty="0"/>
          </a:p>
        </p:txBody>
      </p:sp>
      <p:sp>
        <p:nvSpPr>
          <p:cNvPr id="35" name="Regel 5"/>
          <p:cNvSpPr/>
          <p:nvPr/>
        </p:nvSpPr>
        <p:spPr>
          <a:xfrm>
            <a:off x="9546336" y="5029200"/>
            <a:ext cx="2029968" cy="731520"/>
          </a:xfrm>
          <a:prstGeom prst="roundRect">
            <a:avLst>
              <a:gd name="adj" fmla="val 12500"/>
            </a:avLst>
          </a:prstGeom>
          <a:solidFill>
            <a:schemeClr val="accent5"/>
          </a:solidFill>
          <a:ln/>
        </p:spPr>
      </p:sp>
      <p:sp>
        <p:nvSpPr>
          <p:cNvPr id="36" name="Text 34"/>
          <p:cNvSpPr txBox="1"/>
          <p:nvPr/>
        </p:nvSpPr>
        <p:spPr>
          <a:xfrm>
            <a:off x="9637776" y="5029200"/>
            <a:ext cx="1847088" cy="731520"/>
          </a:xfrm>
          <a:prstGeom prst="rect">
            <a:avLst/>
          </a:prstGeom>
          <a:noFill/>
          <a:ln/>
        </p:spPr>
        <p:txBody>
          <a:bodyPr wrap="square" lIns="0" tIns="0" rIns="0" bIns="0" rtlCol="0" anchor="ctr"/>
          <a:lstStyle/>
          <a:p>
            <a:pPr algn="ctr" indent="0" marL="0">
              <a:buNone/>
            </a:pPr>
            <a:r>
              <a:rPr lang="en-US" sz="1400" b="1" dirty="0">
                <a:solidFill>
                  <a:schemeClr val="tx1"/>
                </a:solidFill>
              </a:rPr>
              <a:t>Logik bleibt im Backend</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Orientierung: die passende Technik je Ablauf</a:t>
            </a:r>
            <a:endParaRPr lang="en-US" sz="3400" dirty="0"/>
          </a:p>
        </p:txBody>
      </p:sp>
      <p:sp>
        <p:nvSpPr>
          <p:cNvPr id="3" name="Stufe 1"/>
          <p:cNvSpPr/>
          <p:nvPr/>
        </p:nvSpPr>
        <p:spPr>
          <a:xfrm>
            <a:off x="548640" y="1463040"/>
            <a:ext cx="3474720" cy="2743200"/>
          </a:xfrm>
          <a:prstGeom prst="roundRect">
            <a:avLst>
              <a:gd name="adj" fmla="val 4000"/>
            </a:avLst>
          </a:prstGeom>
          <a:solidFill>
            <a:schemeClr val="accent6"/>
          </a:solidFill>
          <a:ln/>
        </p:spPr>
      </p:sp>
      <p:sp>
        <p:nvSpPr>
          <p:cNvPr id="4" name="Stufe 1 Nummer"/>
          <p:cNvSpPr/>
          <p:nvPr/>
        </p:nvSpPr>
        <p:spPr>
          <a:xfrm>
            <a:off x="822960" y="1691640"/>
            <a:ext cx="640080" cy="640080"/>
          </a:xfrm>
          <a:prstGeom prst="ellipse">
            <a:avLst/>
          </a:prstGeom>
          <a:solidFill>
            <a:schemeClr val="accent1"/>
          </a:solidFill>
          <a:ln/>
        </p:spPr>
      </p:sp>
      <p:sp>
        <p:nvSpPr>
          <p:cNvPr id="5" name="Text 3"/>
          <p:cNvSpPr txBox="1"/>
          <p:nvPr/>
        </p:nvSpPr>
        <p:spPr>
          <a:xfrm>
            <a:off x="822960" y="16916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6" name="Text 4"/>
          <p:cNvSpPr txBox="1"/>
          <p:nvPr/>
        </p:nvSpPr>
        <p:spPr>
          <a:xfrm>
            <a:off x="822960" y="2468880"/>
            <a:ext cx="2926080" cy="457200"/>
          </a:xfrm>
          <a:prstGeom prst="rect">
            <a:avLst/>
          </a:prstGeom>
          <a:noFill/>
          <a:ln/>
        </p:spPr>
        <p:txBody>
          <a:bodyPr wrap="square" lIns="0" tIns="0" rIns="0" bIns="0" rtlCol="0" anchor="ctr"/>
          <a:lstStyle/>
          <a:p>
            <a:pPr indent="0" marL="0">
              <a:buNone/>
            </a:pPr>
            <a:r>
              <a:rPr lang="en-US" sz="1900" b="1" dirty="0">
                <a:solidFill>
                  <a:schemeClr val="accent1"/>
                </a:solidFill>
              </a:rPr>
              <a:t>Fiori Elements</a:t>
            </a:r>
            <a:endParaRPr lang="en-US" sz="1900" dirty="0"/>
          </a:p>
        </p:txBody>
      </p:sp>
      <p:sp>
        <p:nvSpPr>
          <p:cNvPr id="7" name="Text 5"/>
          <p:cNvSpPr txBox="1"/>
          <p:nvPr/>
        </p:nvSpPr>
        <p:spPr>
          <a:xfrm>
            <a:off x="822960" y="2971800"/>
            <a:ext cx="2926080" cy="1097280"/>
          </a:xfrm>
          <a:prstGeom prst="rect">
            <a:avLst/>
          </a:prstGeom>
          <a:noFill/>
          <a:ln/>
        </p:spPr>
        <p:txBody>
          <a:bodyPr wrap="square" lIns="0" tIns="0" rIns="0" bIns="0" rtlCol="0" anchor="t"/>
          <a:lstStyle/>
          <a:p>
            <a:pPr indent="0" marL="0">
              <a:buNone/>
            </a:pPr>
            <a:r>
              <a:rPr lang="en-US" sz="1500" dirty="0">
                <a:solidFill>
                  <a:schemeClr val="tx1"/>
                </a:solidFill>
              </a:rPr>
              <a:t>mit RAP im Backend. Deckt Liste, Detail, Bearbeiten und Analyse ab.</a:t>
            </a:r>
            <a:endParaRPr lang="en-US" sz="1500" dirty="0"/>
          </a:p>
        </p:txBody>
      </p:sp>
      <p:sp>
        <p:nvSpPr>
          <p:cNvPr id="8" name="Pfeil 1"/>
          <p:cNvSpPr/>
          <p:nvPr/>
        </p:nvSpPr>
        <p:spPr>
          <a:xfrm>
            <a:off x="4050792" y="2606040"/>
            <a:ext cx="274320" cy="457200"/>
          </a:xfrm>
          <a:prstGeom prst="rightArrow">
            <a:avLst/>
          </a:prstGeom>
          <a:solidFill>
            <a:schemeClr val="accent4"/>
          </a:solidFill>
          <a:ln/>
        </p:spPr>
      </p:sp>
      <p:sp>
        <p:nvSpPr>
          <p:cNvPr id="9" name="Stufe 2"/>
          <p:cNvSpPr/>
          <p:nvPr/>
        </p:nvSpPr>
        <p:spPr>
          <a:xfrm>
            <a:off x="4343400" y="1463040"/>
            <a:ext cx="3474720" cy="2743200"/>
          </a:xfrm>
          <a:prstGeom prst="roundRect">
            <a:avLst>
              <a:gd name="adj" fmla="val 4000"/>
            </a:avLst>
          </a:prstGeom>
          <a:solidFill>
            <a:schemeClr val="accent6"/>
          </a:solidFill>
          <a:ln/>
        </p:spPr>
      </p:sp>
      <p:sp>
        <p:nvSpPr>
          <p:cNvPr id="10" name="Stufe 2 Nummer"/>
          <p:cNvSpPr/>
          <p:nvPr/>
        </p:nvSpPr>
        <p:spPr>
          <a:xfrm>
            <a:off x="4617720" y="1691640"/>
            <a:ext cx="640080" cy="640080"/>
          </a:xfrm>
          <a:prstGeom prst="ellipse">
            <a:avLst/>
          </a:prstGeom>
          <a:solidFill>
            <a:schemeClr val="accent1"/>
          </a:solidFill>
          <a:ln/>
        </p:spPr>
      </p:sp>
      <p:sp>
        <p:nvSpPr>
          <p:cNvPr id="11" name="Text 9"/>
          <p:cNvSpPr txBox="1"/>
          <p:nvPr/>
        </p:nvSpPr>
        <p:spPr>
          <a:xfrm>
            <a:off x="4617720" y="16916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2" name="Text 10"/>
          <p:cNvSpPr txBox="1"/>
          <p:nvPr/>
        </p:nvSpPr>
        <p:spPr>
          <a:xfrm>
            <a:off x="4617720" y="2468880"/>
            <a:ext cx="2926080" cy="457200"/>
          </a:xfrm>
          <a:prstGeom prst="rect">
            <a:avLst/>
          </a:prstGeom>
          <a:noFill/>
          <a:ln/>
        </p:spPr>
        <p:txBody>
          <a:bodyPr wrap="square" lIns="0" tIns="0" rIns="0" bIns="0" rtlCol="0" anchor="ctr"/>
          <a:lstStyle/>
          <a:p>
            <a:pPr indent="0" marL="0">
              <a:buNone/>
            </a:pPr>
            <a:r>
              <a:rPr lang="en-US" sz="1900" b="1" dirty="0">
                <a:solidFill>
                  <a:schemeClr val="accent1"/>
                </a:solidFill>
              </a:rPr>
              <a:t>Fiori Elements + Erweiterung</a:t>
            </a:r>
            <a:endParaRPr lang="en-US" sz="1900" dirty="0"/>
          </a:p>
        </p:txBody>
      </p:sp>
      <p:sp>
        <p:nvSpPr>
          <p:cNvPr id="13" name="Text 11"/>
          <p:cNvSpPr txBox="1"/>
          <p:nvPr/>
        </p:nvSpPr>
        <p:spPr>
          <a:xfrm>
            <a:off x="4617720" y="2971800"/>
            <a:ext cx="2926080" cy="1097280"/>
          </a:xfrm>
          <a:prstGeom prst="rect">
            <a:avLst/>
          </a:prstGeom>
          <a:noFill/>
          <a:ln/>
        </p:spPr>
        <p:txBody>
          <a:bodyPr wrap="square" lIns="0" tIns="0" rIns="0" bIns="0" rtlCol="0" anchor="t"/>
          <a:lstStyle/>
          <a:p>
            <a:pPr indent="0" marL="0">
              <a:buNone/>
            </a:pPr>
            <a:r>
              <a:rPr lang="en-US" sz="1500" dirty="0">
                <a:solidFill>
                  <a:schemeClr val="tx1"/>
                </a:solidFill>
              </a:rPr>
              <a:t>Flexible Programming Model: eigene Abschnitte und Bausteine, wo nötig.</a:t>
            </a:r>
            <a:endParaRPr lang="en-US" sz="1500" dirty="0"/>
          </a:p>
        </p:txBody>
      </p:sp>
      <p:sp>
        <p:nvSpPr>
          <p:cNvPr id="14" name="Pfeil 2"/>
          <p:cNvSpPr/>
          <p:nvPr/>
        </p:nvSpPr>
        <p:spPr>
          <a:xfrm>
            <a:off x="7845552" y="2606040"/>
            <a:ext cx="274320" cy="457200"/>
          </a:xfrm>
          <a:prstGeom prst="rightArrow">
            <a:avLst/>
          </a:prstGeom>
          <a:solidFill>
            <a:schemeClr val="accent4"/>
          </a:solidFill>
          <a:ln/>
        </p:spPr>
      </p:sp>
      <p:sp>
        <p:nvSpPr>
          <p:cNvPr id="15" name="Stufe 3"/>
          <p:cNvSpPr/>
          <p:nvPr/>
        </p:nvSpPr>
        <p:spPr>
          <a:xfrm>
            <a:off x="8138160" y="1463040"/>
            <a:ext cx="3474720" cy="2743200"/>
          </a:xfrm>
          <a:prstGeom prst="roundRect">
            <a:avLst>
              <a:gd name="adj" fmla="val 4000"/>
            </a:avLst>
          </a:prstGeom>
          <a:solidFill>
            <a:schemeClr val="accent5"/>
          </a:solidFill>
          <a:ln/>
        </p:spPr>
      </p:sp>
      <p:sp>
        <p:nvSpPr>
          <p:cNvPr id="16" name="Stufe 3 Nummer"/>
          <p:cNvSpPr/>
          <p:nvPr/>
        </p:nvSpPr>
        <p:spPr>
          <a:xfrm>
            <a:off x="8412480" y="1691640"/>
            <a:ext cx="640080" cy="640080"/>
          </a:xfrm>
          <a:prstGeom prst="ellipse">
            <a:avLst/>
          </a:prstGeom>
          <a:solidFill>
            <a:schemeClr val="accent2"/>
          </a:solidFill>
          <a:ln/>
        </p:spPr>
      </p:sp>
      <p:sp>
        <p:nvSpPr>
          <p:cNvPr id="17" name="Text 15"/>
          <p:cNvSpPr txBox="1"/>
          <p:nvPr/>
        </p:nvSpPr>
        <p:spPr>
          <a:xfrm>
            <a:off x="8412480" y="16916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8" name="Text 16"/>
          <p:cNvSpPr txBox="1"/>
          <p:nvPr/>
        </p:nvSpPr>
        <p:spPr>
          <a:xfrm>
            <a:off x="8412480" y="2468880"/>
            <a:ext cx="2926080" cy="457200"/>
          </a:xfrm>
          <a:prstGeom prst="rect">
            <a:avLst/>
          </a:prstGeom>
          <a:noFill/>
          <a:ln/>
        </p:spPr>
        <p:txBody>
          <a:bodyPr wrap="square" lIns="0" tIns="0" rIns="0" bIns="0" rtlCol="0" anchor="ctr"/>
          <a:lstStyle/>
          <a:p>
            <a:pPr indent="0" marL="0">
              <a:buNone/>
            </a:pPr>
            <a:r>
              <a:rPr lang="en-US" sz="1900" b="1" dirty="0">
                <a:solidFill>
                  <a:schemeClr val="accent2"/>
                </a:solidFill>
              </a:rPr>
              <a:t>SAPUI5 Freestyle</a:t>
            </a:r>
            <a:endParaRPr lang="en-US" sz="1900" dirty="0"/>
          </a:p>
        </p:txBody>
      </p:sp>
      <p:sp>
        <p:nvSpPr>
          <p:cNvPr id="19" name="Text 17"/>
          <p:cNvSpPr txBox="1"/>
          <p:nvPr/>
        </p:nvSpPr>
        <p:spPr>
          <a:xfrm>
            <a:off x="8412480" y="2971800"/>
            <a:ext cx="2926080" cy="1097280"/>
          </a:xfrm>
          <a:prstGeom prst="rect">
            <a:avLst/>
          </a:prstGeom>
          <a:noFill/>
          <a:ln/>
        </p:spPr>
        <p:txBody>
          <a:bodyPr wrap="square" lIns="0" tIns="0" rIns="0" bIns="0" rtlCol="0" anchor="t"/>
          <a:lstStyle/>
          <a:p>
            <a:pPr indent="0" marL="0">
              <a:buNone/>
            </a:pPr>
            <a:r>
              <a:rPr lang="en-US" sz="1500" dirty="0">
                <a:solidFill>
                  <a:schemeClr val="tx1"/>
                </a:solidFill>
              </a:rPr>
              <a:t>für klar abgegrenzte Abläufe wie Handheld-Scan – mit bewusst eingeplanter Wartung.</a:t>
            </a:r>
            <a:endParaRPr lang="en-US" sz="1500" dirty="0"/>
          </a:p>
        </p:txBody>
      </p:sp>
      <p:sp>
        <p:nvSpPr>
          <p:cNvPr id="20" name="Text 18"/>
          <p:cNvSpPr txBox="1"/>
          <p:nvPr/>
        </p:nvSpPr>
        <p:spPr>
          <a:xfrm>
            <a:off x="548640" y="4526280"/>
            <a:ext cx="11064240" cy="411480"/>
          </a:xfrm>
          <a:prstGeom prst="rect">
            <a:avLst/>
          </a:prstGeom>
          <a:noFill/>
          <a:ln/>
        </p:spPr>
        <p:txBody>
          <a:bodyPr wrap="square" lIns="0" tIns="0" rIns="0" bIns="0" rtlCol="0" anchor="ctr"/>
          <a:lstStyle/>
          <a:p>
            <a:pPr indent="0" marL="0">
              <a:buNone/>
            </a:pPr>
            <a:r>
              <a:rPr lang="en-US" sz="1800" b="1" dirty="0">
                <a:solidFill>
                  <a:schemeClr val="tx1"/>
                </a:solidFill>
              </a:rPr>
              <a:t>Fragen, die sich vor jedem Freestyle-Teil lohnen</a:t>
            </a:r>
            <a:endParaRPr lang="en-US" sz="1800" dirty="0"/>
          </a:p>
        </p:txBody>
      </p:sp>
      <p:sp>
        <p:nvSpPr>
          <p:cNvPr id="21" name="Text 19"/>
          <p:cNvSpPr txBox="1"/>
          <p:nvPr/>
        </p:nvSpPr>
        <p:spPr>
          <a:xfrm>
            <a:off x="548640" y="5029200"/>
            <a:ext cx="3474720" cy="914400"/>
          </a:xfrm>
          <a:prstGeom prst="rect">
            <a:avLst/>
          </a:prstGeom>
          <a:noFill/>
          <a:ln/>
        </p:spPr>
        <p:txBody>
          <a:bodyPr wrap="square" lIns="0" tIns="0" rIns="0" bIns="0" rtlCol="0" anchor="t"/>
          <a:lstStyle/>
          <a:p>
            <a:pPr indent="0" marL="0">
              <a:buNone/>
            </a:pPr>
            <a:r>
              <a:rPr lang="en-US" sz="1500" dirty="0">
                <a:solidFill>
                  <a:schemeClr val="tx1"/>
                </a:solidFill>
              </a:rPr>
              <a:t>Passt der Ablauf wirklich in keinen Floorplan – auch nicht mit Erweiterung?</a:t>
            </a:r>
            <a:endParaRPr lang="en-US" sz="1500" dirty="0"/>
          </a:p>
        </p:txBody>
      </p:sp>
      <p:sp>
        <p:nvSpPr>
          <p:cNvPr id="22" name="Text 20"/>
          <p:cNvSpPr txBox="1"/>
          <p:nvPr/>
        </p:nvSpPr>
        <p:spPr>
          <a:xfrm>
            <a:off x="4343400" y="5029200"/>
            <a:ext cx="3474720" cy="914400"/>
          </a:xfrm>
          <a:prstGeom prst="rect">
            <a:avLst/>
          </a:prstGeom>
          <a:noFill/>
          <a:ln/>
        </p:spPr>
        <p:txBody>
          <a:bodyPr wrap="square" lIns="0" tIns="0" rIns="0" bIns="0" rtlCol="0" anchor="t"/>
          <a:lstStyle/>
          <a:p>
            <a:pPr indent="0" marL="0">
              <a:buNone/>
            </a:pPr>
            <a:r>
              <a:rPr lang="en-US" sz="1500" dirty="0">
                <a:solidFill>
                  <a:schemeClr val="tx1"/>
                </a:solidFill>
              </a:rPr>
              <a:t>Wer verantwortet Updates, Tests und Upgrades?</a:t>
            </a:r>
            <a:endParaRPr lang="en-US" sz="1500" dirty="0"/>
          </a:p>
        </p:txBody>
      </p:sp>
      <p:sp>
        <p:nvSpPr>
          <p:cNvPr id="23" name="Text 21"/>
          <p:cNvSpPr txBox="1"/>
          <p:nvPr/>
        </p:nvSpPr>
        <p:spPr>
          <a:xfrm>
            <a:off x="8138160" y="5029200"/>
            <a:ext cx="3474720" cy="914400"/>
          </a:xfrm>
          <a:prstGeom prst="rect">
            <a:avLst/>
          </a:prstGeom>
          <a:noFill/>
          <a:ln/>
        </p:spPr>
        <p:txBody>
          <a:bodyPr wrap="square" lIns="0" tIns="0" rIns="0" bIns="0" rtlCol="0" anchor="t"/>
          <a:lstStyle/>
          <a:p>
            <a:pPr indent="0" marL="0">
              <a:buNone/>
            </a:pPr>
            <a:r>
              <a:rPr lang="en-US" sz="1500" dirty="0">
                <a:solidFill>
                  <a:schemeClr val="tx1"/>
                </a:solidFill>
              </a:rPr>
              <a:t>Ist der Wartungsaufwand für die nächsten Jahre eingeplant?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766560" cy="2011680"/>
          </a:xfrm>
          <a:prstGeom prst="rect">
            <a:avLst/>
          </a:prstGeom>
          <a:noFill/>
          <a:ln/>
        </p:spPr>
        <p:txBody>
          <a:bodyPr wrap="square" lIns="0" tIns="0" rIns="0" bIns="0" rtlCol="0" anchor="b"/>
          <a:lstStyle/>
          <a:p>
            <a:pPr algn="l" indent="0" marL="0">
              <a:buNone/>
            </a:pPr>
            <a:r>
              <a:rPr lang="en-US" sz="4800" b="1" dirty="0">
                <a:solidFill>
                  <a:schemeClr val="bg1"/>
                </a:solidFill>
              </a:rPr>
              <a:t>Nicht alles ist SAPUI5 – nicht alles ist Fiori Elements</a:t>
            </a:r>
            <a:endParaRPr lang="en-US" sz="4800" dirty="0"/>
          </a:p>
        </p:txBody>
      </p:sp>
      <p:sp>
        <p:nvSpPr>
          <p:cNvPr id="3" name="Text 0"/>
          <p:cNvSpPr/>
          <p:nvPr>
            <p:ph idx="101" type="body" hasCustomPrompt="1"/>
          </p:nvPr>
        </p:nvSpPr>
        <p:spPr>
          <a:xfrm>
            <a:off x="731520" y="3977640"/>
            <a:ext cx="6766560" cy="1371600"/>
          </a:xfrm>
          <a:prstGeom prst="rect">
            <a:avLst/>
          </a:prstGeom>
          <a:noFill/>
          <a:ln/>
        </p:spPr>
        <p:txBody>
          <a:bodyPr wrap="square" lIns="0" tIns="0" rIns="0" bIns="0" rtlCol="0" anchor="t"/>
          <a:lstStyle/>
          <a:p>
            <a:pPr indent="0" marL="0">
              <a:buNone/>
            </a:pPr>
            <a:r>
              <a:rPr lang="en-US" sz="2200" dirty="0">
                <a:solidFill>
                  <a:schemeClr val="accent6"/>
                </a:solidFill>
              </a:rPr>
              <a:t>Es geht nicht um Entweder-oder, sondern um die bewusste Wahl je Ablauf.</a:t>
            </a:r>
            <a:endParaRPr lang="en-US" sz="2200" dirty="0"/>
          </a:p>
        </p:txBody>
      </p:sp>
      <p:sp>
        <p:nvSpPr>
          <p:cNvPr id="4" name="Text 2"/>
          <p:cNvSpPr txBox="1"/>
          <p:nvPr/>
        </p:nvSpPr>
        <p:spPr>
          <a:xfrm>
            <a:off x="8138160" y="1554480"/>
            <a:ext cx="3474720" cy="457200"/>
          </a:xfrm>
          <a:prstGeom prst="rect">
            <a:avLst/>
          </a:prstGeom>
          <a:noFill/>
          <a:ln/>
        </p:spPr>
        <p:txBody>
          <a:bodyPr wrap="square" lIns="0" tIns="0" rIns="0" bIns="0" rtlCol="0" anchor="ctr"/>
          <a:lstStyle/>
          <a:p>
            <a:pPr indent="0" marL="0">
              <a:buNone/>
            </a:pPr>
            <a:r>
              <a:rPr lang="en-US" sz="2000" b="1" dirty="0">
                <a:solidFill>
                  <a:schemeClr val="bg1"/>
                </a:solidFill>
              </a:rPr>
              <a:t>Was ich mitgeben möchte</a:t>
            </a:r>
            <a:endParaRPr lang="en-US" sz="2000" dirty="0"/>
          </a:p>
        </p:txBody>
      </p:sp>
      <p:sp>
        <p:nvSpPr>
          <p:cNvPr id="5" name="Schritt 1"/>
          <p:cNvSpPr/>
          <p:nvPr/>
        </p:nvSpPr>
        <p:spPr>
          <a:xfrm>
            <a:off x="8138160" y="2194560"/>
            <a:ext cx="502920" cy="502920"/>
          </a:xfrm>
          <a:prstGeom prst="ellipse">
            <a:avLst/>
          </a:prstGeom>
          <a:solidFill>
            <a:schemeClr val="accent1"/>
          </a:solidFill>
          <a:ln/>
        </p:spPr>
      </p:sp>
      <p:sp>
        <p:nvSpPr>
          <p:cNvPr id="6" name="Text 4"/>
          <p:cNvSpPr txBox="1"/>
          <p:nvPr/>
        </p:nvSpPr>
        <p:spPr>
          <a:xfrm>
            <a:off x="8138160" y="21945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5"/>
          <p:cNvSpPr txBox="1"/>
          <p:nvPr/>
        </p:nvSpPr>
        <p:spPr>
          <a:xfrm>
            <a:off x="8823960" y="2148840"/>
            <a:ext cx="2834640" cy="685800"/>
          </a:xfrm>
          <a:prstGeom prst="rect">
            <a:avLst/>
          </a:prstGeom>
          <a:noFill/>
          <a:ln/>
        </p:spPr>
        <p:txBody>
          <a:bodyPr wrap="square" lIns="0" tIns="0" rIns="0" bIns="0" rtlCol="0" anchor="ctr"/>
          <a:lstStyle/>
          <a:p>
            <a:pPr indent="0" marL="0">
              <a:buNone/>
            </a:pPr>
            <a:r>
              <a:rPr lang="en-US" sz="1500" dirty="0">
                <a:solidFill>
                  <a:schemeClr val="bg1"/>
                </a:solidFill>
              </a:rPr>
              <a:t>Gleicher Look heißt nicht gleicher Aufwand</a:t>
            </a:r>
            <a:endParaRPr lang="en-US" sz="1500" dirty="0"/>
          </a:p>
        </p:txBody>
      </p:sp>
      <p:sp>
        <p:nvSpPr>
          <p:cNvPr id="8" name="Schritt 2"/>
          <p:cNvSpPr/>
          <p:nvPr/>
        </p:nvSpPr>
        <p:spPr>
          <a:xfrm>
            <a:off x="8138160" y="3108960"/>
            <a:ext cx="502920" cy="502920"/>
          </a:xfrm>
          <a:prstGeom prst="ellipse">
            <a:avLst/>
          </a:prstGeom>
          <a:solidFill>
            <a:schemeClr val="accent1"/>
          </a:solidFill>
          <a:ln/>
        </p:spPr>
      </p:sp>
      <p:sp>
        <p:nvSpPr>
          <p:cNvPr id="9" name="Text 7"/>
          <p:cNvSpPr txBox="1"/>
          <p:nvPr/>
        </p:nvSpPr>
        <p:spPr>
          <a:xfrm>
            <a:off x="8138160" y="31089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8"/>
          <p:cNvSpPr txBox="1"/>
          <p:nvPr/>
        </p:nvSpPr>
        <p:spPr>
          <a:xfrm>
            <a:off x="8823960" y="3063240"/>
            <a:ext cx="2834640" cy="685800"/>
          </a:xfrm>
          <a:prstGeom prst="rect">
            <a:avLst/>
          </a:prstGeom>
          <a:noFill/>
          <a:ln/>
        </p:spPr>
        <p:txBody>
          <a:bodyPr wrap="square" lIns="0" tIns="0" rIns="0" bIns="0" rtlCol="0" anchor="ctr"/>
          <a:lstStyle/>
          <a:p>
            <a:pPr indent="0" marL="0">
              <a:buNone/>
            </a:pPr>
            <a:r>
              <a:rPr lang="en-US" sz="1500" dirty="0">
                <a:solidFill>
                  <a:schemeClr val="bg1"/>
                </a:solidFill>
              </a:rPr>
              <a:t>Fiori Elements trägt die meisten Standardabläufe</a:t>
            </a:r>
            <a:endParaRPr lang="en-US" sz="1500" dirty="0"/>
          </a:p>
        </p:txBody>
      </p:sp>
      <p:sp>
        <p:nvSpPr>
          <p:cNvPr id="11" name="Schritt 3"/>
          <p:cNvSpPr/>
          <p:nvPr/>
        </p:nvSpPr>
        <p:spPr>
          <a:xfrm>
            <a:off x="8138160" y="4023360"/>
            <a:ext cx="502920" cy="502920"/>
          </a:xfrm>
          <a:prstGeom prst="ellipse">
            <a:avLst/>
          </a:prstGeom>
          <a:solidFill>
            <a:schemeClr val="accent2"/>
          </a:solidFill>
          <a:ln/>
        </p:spPr>
      </p:sp>
      <p:sp>
        <p:nvSpPr>
          <p:cNvPr id="12" name="Text 10"/>
          <p:cNvSpPr txBox="1"/>
          <p:nvPr/>
        </p:nvSpPr>
        <p:spPr>
          <a:xfrm>
            <a:off x="8138160" y="4023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8823960" y="3977640"/>
            <a:ext cx="2834640" cy="685800"/>
          </a:xfrm>
          <a:prstGeom prst="rect">
            <a:avLst/>
          </a:prstGeom>
          <a:noFill/>
          <a:ln/>
        </p:spPr>
        <p:txBody>
          <a:bodyPr wrap="square" lIns="0" tIns="0" rIns="0" bIns="0" rtlCol="0" anchor="ctr"/>
          <a:lstStyle/>
          <a:p>
            <a:pPr indent="0" marL="0">
              <a:buNone/>
            </a:pPr>
            <a:r>
              <a:rPr lang="en-US" sz="1500" dirty="0">
                <a:solidFill>
                  <a:schemeClr val="bg1"/>
                </a:solidFill>
              </a:rPr>
              <a:t>Freestyle ist richtig, wo ein Ablauf es braucht</a:t>
            </a:r>
            <a:endParaRPr lang="en-US" sz="1500" dirty="0"/>
          </a:p>
        </p:txBody>
      </p:sp>
      <p:sp>
        <p:nvSpPr>
          <p:cNvPr id="14" name="Schritt 4"/>
          <p:cNvSpPr/>
          <p:nvPr/>
        </p:nvSpPr>
        <p:spPr>
          <a:xfrm>
            <a:off x="8138160" y="4937760"/>
            <a:ext cx="502920" cy="502920"/>
          </a:xfrm>
          <a:prstGeom prst="ellipse">
            <a:avLst/>
          </a:prstGeom>
          <a:solidFill>
            <a:schemeClr val="accent1"/>
          </a:solidFill>
          <a:ln/>
        </p:spPr>
      </p:sp>
      <p:sp>
        <p:nvSpPr>
          <p:cNvPr id="15" name="Text 13"/>
          <p:cNvSpPr txBox="1"/>
          <p:nvPr/>
        </p:nvSpPr>
        <p:spPr>
          <a:xfrm>
            <a:off x="8138160" y="49377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6" name="Text 14"/>
          <p:cNvSpPr txBox="1"/>
          <p:nvPr/>
        </p:nvSpPr>
        <p:spPr>
          <a:xfrm>
            <a:off x="8823960" y="4892040"/>
            <a:ext cx="2834640" cy="685800"/>
          </a:xfrm>
          <a:prstGeom prst="rect">
            <a:avLst/>
          </a:prstGeom>
          <a:noFill/>
          <a:ln/>
        </p:spPr>
        <p:txBody>
          <a:bodyPr wrap="square" lIns="0" tIns="0" rIns="0" bIns="0" rtlCol="0" anchor="ctr"/>
          <a:lstStyle/>
          <a:p>
            <a:pPr indent="0" marL="0">
              <a:buNone/>
            </a:pPr>
            <a:r>
              <a:rPr lang="en-US" sz="1500" dirty="0">
                <a:solidFill>
                  <a:schemeClr val="bg1"/>
                </a:solidFill>
              </a:rPr>
              <a:t>Bei Angeboten nachfragen: Warum diese Technik?</a:t>
            </a:r>
            <a:endParaRPr lang="en-US" sz="1500" dirty="0"/>
          </a:p>
        </p:txBody>
      </p:sp>
    </p:spTree>
  </p:cSld>
  <p:clrMapOvr>
    <a:masterClrMapping/>
  </p:clrMapOvr>
</p:sld>
</file>

<file path=ppt/theme/theme1.xml><?xml version="1.0" encoding="utf-8"?>
<a:theme xmlns:a="http://schemas.openxmlformats.org/drawingml/2006/main" name="Fiori Klartext">
  <a:themeElements>
    <a:clrScheme name="Fiori Klartext">
      <a:dk1>
        <a:srgbClr val="1B2B34"/>
      </a:dk1>
      <a:lt1>
        <a:srgbClr val="FFFFFF"/>
      </a:lt1>
      <a:dk2>
        <a:srgbClr val="0B3C49"/>
      </a:dk2>
      <a:lt2>
        <a:srgbClr val="EEF4F5"/>
      </a:lt2>
      <a:accent1>
        <a:srgbClr val="1F8A70"/>
      </a:accent1>
      <a:accent2>
        <a:srgbClr val="D9661F"/>
      </a:accent2>
      <a:accent3>
        <a:srgbClr val="0B3C49"/>
      </a:accent3>
      <a:accent4>
        <a:srgbClr val="5E727B"/>
      </a:accent4>
      <a:accent5>
        <a:srgbClr val="FBEBDD"/>
      </a:accent5>
      <a:accent6>
        <a:srgbClr val="DDF0EA"/>
      </a:accent6>
      <a:hlink>
        <a:srgbClr val="1F8A70"/>
      </a:hlink>
      <a:folHlink>
        <a:srgbClr val="5E727B"/>
      </a:folHlink>
    </a:clrScheme>
    <a:fontScheme name="Fiori Klartex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Fiori ist nicht gleich Fiori</dc:title>
  <dc:subject>PptxGenJS Presentation</dc:subject>
  <dc:creator>PptxGenJS</dc:creator>
  <cp:lastModifiedBy>PptxGenJS</cp:lastModifiedBy>
  <cp:revision>1</cp:revision>
  <dcterms:created xsi:type="dcterms:W3CDTF">2026-10-16T08:10:35Z</dcterms:created>
  <dcterms:modified xsi:type="dcterms:W3CDTF">2026-10-16T08:10:35Z</dcterms:modified>
</cp:coreProperties>
</file>