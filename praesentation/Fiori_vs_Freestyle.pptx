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4b436fe5-7764-0181-dc9b-c8a93a63a829}">
          <p14:sldIdLst>
            <p14:sldId id="256"/>
            <p14:sldId id="257"/>
          </p14:sldIdLst>
        </p14:section>
        <p14:section name="Einordnung" id="{b06d7910-f65e-9c99-8bc3-23a9b06e8b46}">
          <p14:sldIdLst>
            <p14:sldId id="258"/>
          </p14:sldIdLst>
        </p14:section>
        <p14:section name="Demo" id="{58132ba1-630f-e66c-166d-ca6f07181804}">
          <p14:sldIdLst>
            <p14:sldId id="259"/>
            <p14:sldId id="260"/>
            <p14:sldId id="261"/>
            <p14:sldId id="262"/>
          </p14:sldIdLst>
        </p14:section>
        <p14:section name="Bewertung" id="{4b5ff7b9-13a3-a5e1-7cda-3121cd44dc8f}">
          <p14:sldIdLst>
            <p14:sldId id="263"/>
            <p14:sldId id="264"/>
            <p14:sldId id="265"/>
          </p14:sldIdLst>
        </p14:section>
        <p14:section name="Vorschlag" id="{0177bf7f-12ac-0e9e-7e5e-46309804d64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B34"/>
                </a:solidFill>
                <a:latin typeface="+mn-lt"/>
              </a:defRPr>
            </a:pPr>
            <a:r>
              <a:rPr sz="1400" b="0" i="0" u="none" strike="noStrike">
                <a:solidFill>
                  <a:srgbClr val="1B2B34"/>
                </a:solidFill>
                <a:latin typeface="+mn-lt"/>
              </a:rPr>
              <a:t>Codezeilen nach Art</a:t>
            </a:r>
          </a:p>
        </c:rich>
      </c:tx>
      <c:layout/>
      <c:overlay val="0"/>
    </c:title>
    <c:autoTitleDeleted val="0"/>
    <c:plotArea>
      <c:layout/>
      <c:barChart>
        <c:barDir val="bar"/>
        <c:grouping val="clustered"/>
        <c:varyColors val="0"/>
        <c:ser>
          <c:idx val="0"/>
          <c:order val="0"/>
          <c:tx>
            <c:strRef>
              <c:f>Sheet1!$B$1</c:f>
              <c:strCache>
                <c:ptCount val="1"/>
                <c:pt idx="0">
                  <c:v>Fiori Elements</c:v>
                </c:pt>
              </c:strCache>
            </c:strRef>
          </c:tx>
          <c:spPr>
            <a:solidFill>
              <a:srgbClr val="1F8A70"/>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Sheet1!$B$2:$B$6</c:f>
              <c:numCache>
                <c:formatCode>General</c:formatCode>
                <c:ptCount val="5"/>
                <c:pt idx="0">
                  <c:v>235</c:v>
                </c:pt>
                <c:pt idx="1">
                  <c:v>0</c:v>
                </c:pt>
                <c:pt idx="2">
                  <c:v>8</c:v>
                </c:pt>
                <c:pt idx="3">
                  <c:v>107</c:v>
                </c:pt>
                <c:pt idx="4">
                  <c:v>2</c:v>
                </c:pt>
              </c:numCache>
            </c:numRef>
          </c:val>
        </c:ser>
        <c:ser>
          <c:idx val="1"/>
          <c:order val="1"/>
          <c:tx>
            <c:strRef>
              <c:f>Sheet1!$C$1</c:f>
              <c:strCache>
                <c:ptCount val="1"/>
                <c:pt idx="0">
                  <c:v>Freestyle</c:v>
                </c:pt>
              </c:strCache>
            </c:strRef>
          </c:tx>
          <c:spPr>
            <a:solidFill>
              <a:srgbClr val="D9661F"/>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Sheet1!$A$2:$A$6</c:f>
              <c:multiLvlStrCache>
                <c:ptCount val="5"/>
                <c:lvl>
                  <c:pt idx="0">
                    <c:v>Annotationen</c:v>
                  </c:pt>
                  <c:pt idx="1">
                    <c:v>XML-Views</c:v>
                  </c:pt>
                  <c:pt idx="2">
                    <c:v>JavaScript</c:v>
                  </c:pt>
                  <c:pt idx="3">
                    <c:v>manifest.json</c:v>
                  </c:pt>
                  <c:pt idx="4">
                    <c:v>i18n-Texte</c:v>
                  </c:pt>
                </c:lvl>
              </c:multiLvlStrCache>
            </c:multiLvlStrRef>
          </c:cat>
          <c:val>
            <c:numRef>
              <c:f>Sheet1!$C$2:$C$6</c:f>
              <c:numCache>
                <c:formatCode>General</c:formatCode>
                <c:ptCount val="5"/>
                <c:pt idx="0">
                  <c:v>0</c:v>
                </c:pt>
                <c:pt idx="1">
                  <c:v>259</c:v>
                </c:pt>
                <c:pt idx="2">
                  <c:v>246</c:v>
                </c:pt>
                <c:pt idx="3">
                  <c:v>85</c:v>
                </c:pt>
                <c:pt idx="4">
                  <c:v>39</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E727B"/>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B3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vielen Gesprächen heißt es aktuell 'wir bauen das in Fiori' oder 'das wird eine SAPUI5-App'. Für Anwender sieht alles gleich aus, im Horizon-Design, mit Filterleiste und Tabelle. Technisch sind das aber drei sehr unterschiedliche Dinge mit sehr unterschiedlichem Aufwand. Heute zeige ich das an einer konkreten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Botschaften: 1) Das Aussehen sagt nichts über den Aufwand. 2) Eine Freestyle-App ist eigene Software, für die wir den kompletten Lebenszyklus tragen. 3) Mein Vorschlag: Fiori Elements ist der Standard, Freestyle die begründete Ausnahme.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drei Varianten: Bei Fiori Elements liefert SAP die komplette Oberflächenlogik, wir beschreiben nur per Annotation, was angezeigt wird. Bei RAP liegen diese Annotationen direkt im ABAP-Backend in CDS, die UI-Schicht ist praktisch leer – das ist der Weg, den SAP für S/4 empfiehlt. Bei Freestyle liefert SAP nur die Bausteine, also Buttons, Tabellen, Eingabefelder. Alles dazwischen bauen und warten wir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jetzt live die beiden Apps zeigen (beide laufen lokal). Gleiche Daten aus dem öffentlichen Northwind-OData-Service, gleiche Anforderung. Frage ans Publikum: Welche ist welche? – Man sieht es praktisch nicht. Dann zeigen, was Fiori Elements zusätzlich kann: Varianten speichern, Spalten anpassen, 'Filter anpassen'.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Gemessen mit einem Skript im Demo-Repo (compare.mjs), Leerzeilen und Kommentare nicht mitgezählt. Wichtig ist nicht die Gesamtzahl der Zeilen, sondern die Art: 235 Zeilen Annotationen bei Fiori Elements sind reine Beschreibung. Bei Freestyle sind es rund 500 Zeilen Views und JavaScript mit Event-Handlern, Filterlogik und Navigation – das ist Programmcode, den wir testen und bei jedem Upgrade prüfen müssen. Und das bei weniger Funktionsumfang, wie die nächste Folie zeigt. Mit RAP wären die Annotationen im Backend und deutlich kompakter.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Punkt, der oft übersehen wird: Die Freestyle-App hat schon mehr Code und kann trotzdem weniger. Varianten, Personalisierung, Filter anpassen – all das bekommt Fiori Elements geschenkt. In Freestyle wären das jeweils eigene Entwicklungen, mit eigenem Test- und Wartungsaufwand.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zeigen, wenn Zeit ist: Bei Fiori Elements ergänze ich die Region an drei Stellen in einer Datei, alles andere passiert automatisch. Bei Freestyle muss ich fünf Dateien an acht Stellen anfassen – und danach alles manuell testen, weil jede Stelle eine eigene Fehlerquelle ist. Das ist eine Mini-Änderung. Hochgerechnet auf den Lebenszyklus einer App mit vielen Change Requests wird der Unterschied erheblich.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der Kern meiner Botschaft: Mit Freestyle übernehmen wir die volle Verantwortung für eine eigene Frontend-Software. Paketmanagement: Jede App bringt ihre eigenen npm-Abhängigkeiten mit, die regelmäßig aktualisiert werden müssen, auch wegen Sicherheitslücken. Upgrades: SAP entfernt veraltete APIs, das betrifft unseren Code direkt. Bei Fiori Elements migriert SAP die Templates. Dazu kommen Tests, Know-how und Barrierefreiheit. Das ist ein Dauerauftrag, kein Einmalaufwand.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Früher war eine Oberfläche ein Objekt im System, transportiert und mit dem System aktualisiert. Fiori Elements mit RAP kommt diesem Modell am nächsten: Die Logik liegt wieder im Backend, SAP pflegt die Oberfläche. Freestyle dagegen ist klassische Webentwicklung mit eigenem Lebenszyklus neben dem SAP-System.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will Freestyle nicht schlechtreden: Es gibt Anforderungen, für die es genau richtig ist, etwa Planungstafeln oder sehr spezielle Abläufe. Und Fiori Elements hat Grenzen, man muss Annotationen und RAP lernen, und Sonderwünsche gehen nur über das Flexible Programming Model. Aber: Diese Grenzen sind meist kleiner als gedacht, und die Wartungslast von Freestyle ist meist größer als gedacht.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Mein Vorschlag als einfache Leitplanke: Wir prüfen immer zuerst Fiori Elements mit RAP. Reicht das nicht, erweitern wir Fiori Elements gezielt. Erst wenn beides nicht passt, wird Freestyle gebaut – und dann bewusst, mit Begründung, einem Owner und eingeplantem Wartungsbudget. Die drei Prüffragen können wir in jede Anforderungsklärung aufnehmen.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Zusammenfassung: Gleiches Aussehen heißt nicht gleicher Aufwand. Ich schlage vier konkrete Schritte vor und würde gerne heute festhalten, dass Fiori Elements mit RAP unser Standard ist und Freestyle-Apps künftig kurz begründet werden müssen.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Fiori Elements vs. SAPUI5 Freestyle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Fiori ist nicht gleich Fiori</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Warum nicht jede Anforderung SAPUI5 Freestyle bedeutet</a:t>
            </a:r>
            <a:endParaRPr lang="en-US" sz="2200" dirty="0"/>
          </a:p>
        </p:txBody>
      </p:sp>
      <p:sp>
        <p:nvSpPr>
          <p:cNvPr id="4" name="Variante 1"/>
          <p:cNvSpPr/>
          <p:nvPr/>
        </p:nvSpPr>
        <p:spPr>
          <a:xfrm>
            <a:off x="8138160" y="1828800"/>
            <a:ext cx="3474720" cy="960120"/>
          </a:xfrm>
          <a:prstGeom prst="roundRect">
            <a:avLst>
              <a:gd name="adj" fmla="val 11429"/>
            </a:avLst>
          </a:prstGeom>
          <a:solidFill>
            <a:schemeClr val="accent1"/>
          </a:solidFill>
          <a:ln/>
        </p:spPr>
      </p:sp>
      <p:sp>
        <p:nvSpPr>
          <p:cNvPr id="5" name="Variante 1 Text"/>
          <p:cNvSpPr txBox="1"/>
          <p:nvPr/>
        </p:nvSpPr>
        <p:spPr>
          <a:xfrm>
            <a:off x="8321040" y="182880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Fiori Elements</a:t>
            </a:r>
            <a:endParaRPr lang="en-US" sz="1800" dirty="0"/>
          </a:p>
          <a:p>
            <a:pPr indent="0" marL="0">
              <a:buNone/>
            </a:pPr>
            <a:r>
              <a:rPr lang="en-US" sz="1300" dirty="0">
                <a:solidFill>
                  <a:schemeClr val="bg1"/>
                </a:solidFill>
              </a:rPr>
              <a:t>SAP liefert die Oberfläche</a:t>
            </a:r>
            <a:endParaRPr lang="en-US" sz="1800" dirty="0"/>
          </a:p>
        </p:txBody>
      </p:sp>
      <p:sp>
        <p:nvSpPr>
          <p:cNvPr id="6" name="Variante 2"/>
          <p:cNvSpPr/>
          <p:nvPr/>
        </p:nvSpPr>
        <p:spPr>
          <a:xfrm>
            <a:off x="8138160" y="3017520"/>
            <a:ext cx="3474720" cy="960120"/>
          </a:xfrm>
          <a:prstGeom prst="roundRect">
            <a:avLst>
              <a:gd name="adj" fmla="val 11429"/>
            </a:avLst>
          </a:prstGeom>
          <a:solidFill>
            <a:schemeClr val="accent1"/>
          </a:solidFill>
          <a:ln/>
        </p:spPr>
      </p:sp>
      <p:sp>
        <p:nvSpPr>
          <p:cNvPr id="7" name="Variante 2 Text"/>
          <p:cNvSpPr txBox="1"/>
          <p:nvPr/>
        </p:nvSpPr>
        <p:spPr>
          <a:xfrm>
            <a:off x="8321040" y="301752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RAP + UI-Annotationen</a:t>
            </a:r>
            <a:endParaRPr lang="en-US" sz="1800" dirty="0"/>
          </a:p>
          <a:p>
            <a:pPr indent="0" marL="0">
              <a:buNone/>
            </a:pPr>
            <a:r>
              <a:rPr lang="en-US" sz="1300" dirty="0">
                <a:solidFill>
                  <a:schemeClr val="bg1"/>
                </a:solidFill>
              </a:rPr>
              <a:t>Fiori Elements auf eigenem Backend</a:t>
            </a:r>
            <a:endParaRPr lang="en-US" sz="1800" dirty="0"/>
          </a:p>
        </p:txBody>
      </p:sp>
      <p:sp>
        <p:nvSpPr>
          <p:cNvPr id="8" name="Variante 3"/>
          <p:cNvSpPr/>
          <p:nvPr/>
        </p:nvSpPr>
        <p:spPr>
          <a:xfrm>
            <a:off x="8138160" y="4206240"/>
            <a:ext cx="3474720" cy="960120"/>
          </a:xfrm>
          <a:prstGeom prst="roundRect">
            <a:avLst>
              <a:gd name="adj" fmla="val 11429"/>
            </a:avLst>
          </a:prstGeom>
          <a:solidFill>
            <a:schemeClr val="accent2"/>
          </a:solidFill>
          <a:ln/>
        </p:spPr>
      </p:sp>
      <p:sp>
        <p:nvSpPr>
          <p:cNvPr id="9" name="Variante 3 Text"/>
          <p:cNvSpPr txBox="1"/>
          <p:nvPr/>
        </p:nvSpPr>
        <p:spPr>
          <a:xfrm>
            <a:off x="8321040" y="4206240"/>
            <a:ext cx="3108960" cy="960120"/>
          </a:xfrm>
          <a:prstGeom prst="rect">
            <a:avLst/>
          </a:prstGeom>
          <a:noFill/>
          <a:ln/>
        </p:spPr>
        <p:txBody>
          <a:bodyPr wrap="square" lIns="0" tIns="0" rIns="0" bIns="0" rtlCol="0" anchor="ctr"/>
          <a:lstStyle/>
          <a:p>
            <a:pPr indent="0" marL="0">
              <a:buNone/>
            </a:pPr>
            <a:r>
              <a:rPr lang="en-US" sz="1800" b="1" dirty="0">
                <a:solidFill>
                  <a:schemeClr val="bg1"/>
                </a:solidFill>
              </a:rPr>
              <a:t>SAPUI5 Freestyle</a:t>
            </a:r>
            <a:endParaRPr lang="en-US" sz="1800" dirty="0"/>
          </a:p>
          <a:p>
            <a:pPr indent="0" marL="0">
              <a:buNone/>
            </a:pPr>
            <a:r>
              <a:rPr lang="en-US" sz="1300" dirty="0">
                <a:solidFill>
                  <a:schemeClr val="bg1"/>
                </a:solidFill>
              </a:rPr>
              <a:t>Wir bauen und warten alles selbst</a:t>
            </a:r>
            <a:endParaRPr lang="en-US" sz="1800" dirty="0"/>
          </a:p>
        </p:txBody>
      </p:sp>
      <p:sp>
        <p:nvSpPr>
          <p:cNvPr id="10" name="Text 8"/>
          <p:cNvSpPr txBox="1"/>
          <p:nvPr/>
        </p:nvSpPr>
        <p:spPr>
          <a:xfrm>
            <a:off x="8138160" y="5440680"/>
            <a:ext cx="3474720" cy="365760"/>
          </a:xfrm>
          <a:prstGeom prst="rect">
            <a:avLst/>
          </a:prstGeom>
          <a:noFill/>
          <a:ln/>
        </p:spPr>
        <p:txBody>
          <a:bodyPr wrap="square" lIns="0" tIns="0" rIns="0" bIns="0" rtlCol="0" anchor="ctr"/>
          <a:lstStyle/>
          <a:p>
            <a:pPr indent="0" marL="0">
              <a:buNone/>
            </a:pPr>
            <a:r>
              <a:rPr lang="en-US" sz="1300" i="1" dirty="0">
                <a:solidFill>
                  <a:schemeClr val="accent6"/>
                </a:solidFill>
              </a:rPr>
              <a:t>Alle drei sehen für Anwender gleich aus.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Wichtigste in 30 Sekunden</a:t>
            </a:r>
            <a:endParaRPr lang="en-US" sz="3400" dirty="0"/>
          </a:p>
        </p:txBody>
      </p:sp>
      <p:sp>
        <p:nvSpPr>
          <p:cNvPr id="3" name="Karte 1"/>
          <p:cNvSpPr/>
          <p:nvPr/>
        </p:nvSpPr>
        <p:spPr>
          <a:xfrm>
            <a:off x="548640" y="1737360"/>
            <a:ext cx="3474720" cy="4023360"/>
          </a:xfrm>
          <a:prstGeom prst="roundRect">
            <a:avLst>
              <a:gd name="adj" fmla="val 3158"/>
            </a:avLst>
          </a:prstGeom>
          <a:solidFill>
            <a:schemeClr val="bg2"/>
          </a:solidFill>
          <a:ln/>
        </p:spPr>
      </p:sp>
      <p:sp>
        <p:nvSpPr>
          <p:cNvPr id="4" name="Karte 1 Kreis"/>
          <p:cNvSpPr/>
          <p:nvPr/>
        </p:nvSpPr>
        <p:spPr>
          <a:xfrm>
            <a:off x="914400" y="2103120"/>
            <a:ext cx="914400" cy="914400"/>
          </a:xfrm>
          <a:prstGeom prst="ellipse">
            <a:avLst/>
          </a:prstGeom>
          <a:solidFill>
            <a:schemeClr val="tx2"/>
          </a:solidFill>
          <a:ln/>
        </p:spPr>
      </p:sp>
      <p:pic>
        <p:nvPicPr>
          <p:cNvPr id="5" name="Karte 1 Icon" descr="Karte 1">    </p:cNvPr>
          <p:cNvPicPr>
            <a:picLocks noChangeAspect="1"/>
          </p:cNvPicPr>
          <p:nvPr/>
        </p:nvPicPr>
        <p:blipFill>
          <a:blip r:embed="rId1"/>
          <a:stretch>
            <a:fillRect/>
          </a:stretch>
        </p:blipFill>
        <p:spPr>
          <a:xfrm>
            <a:off x="1143000" y="2331720"/>
            <a:ext cx="457200" cy="457200"/>
          </a:xfrm>
          <a:prstGeom prst="rect">
            <a:avLst/>
          </a:prstGeom>
        </p:spPr>
      </p:pic>
      <p:sp>
        <p:nvSpPr>
          <p:cNvPr id="6" name="Text 3"/>
          <p:cNvSpPr txBox="1"/>
          <p:nvPr/>
        </p:nvSpPr>
        <p:spPr>
          <a:xfrm>
            <a:off x="91440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Gleicher Look, anderer Aufwand</a:t>
            </a:r>
            <a:endParaRPr lang="en-US" sz="2100" dirty="0"/>
          </a:p>
        </p:txBody>
      </p:sp>
      <p:sp>
        <p:nvSpPr>
          <p:cNvPr id="7" name="Text 4"/>
          <p:cNvSpPr txBox="1"/>
          <p:nvPr/>
        </p:nvSpPr>
        <p:spPr>
          <a:xfrm>
            <a:off x="91440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Für Anwender sehen alle Fiori-Apps gleich aus. Technisch liegen Welten dazwischen.</a:t>
            </a:r>
            <a:endParaRPr lang="en-US" sz="1600" dirty="0"/>
          </a:p>
        </p:txBody>
      </p:sp>
      <p:sp>
        <p:nvSpPr>
          <p:cNvPr id="8" name="Karte 2"/>
          <p:cNvSpPr/>
          <p:nvPr/>
        </p:nvSpPr>
        <p:spPr>
          <a:xfrm>
            <a:off x="4343400" y="1737360"/>
            <a:ext cx="3474720" cy="4023360"/>
          </a:xfrm>
          <a:prstGeom prst="roundRect">
            <a:avLst>
              <a:gd name="adj" fmla="val 3158"/>
            </a:avLst>
          </a:prstGeom>
          <a:solidFill>
            <a:schemeClr val="bg2"/>
          </a:solidFill>
          <a:ln/>
        </p:spPr>
      </p:sp>
      <p:sp>
        <p:nvSpPr>
          <p:cNvPr id="9" name="Karte 2 Kreis"/>
          <p:cNvSpPr/>
          <p:nvPr/>
        </p:nvSpPr>
        <p:spPr>
          <a:xfrm>
            <a:off x="4709160" y="2103120"/>
            <a:ext cx="914400" cy="914400"/>
          </a:xfrm>
          <a:prstGeom prst="ellipse">
            <a:avLst/>
          </a:prstGeom>
          <a:solidFill>
            <a:schemeClr val="accent2"/>
          </a:solidFill>
          <a:ln/>
        </p:spPr>
      </p:sp>
      <p:pic>
        <p:nvPicPr>
          <p:cNvPr id="10" name="Karte 2 Icon" descr="Karte 2">    </p:cNvPr>
          <p:cNvPicPr>
            <a:picLocks noChangeAspect="1"/>
          </p:cNvPicPr>
          <p:nvPr/>
        </p:nvPicPr>
        <p:blipFill>
          <a:blip r:embed="rId2"/>
          <a:stretch>
            <a:fillRect/>
          </a:stretch>
        </p:blipFill>
        <p:spPr>
          <a:xfrm>
            <a:off x="4937760" y="2331720"/>
            <a:ext cx="457200" cy="457200"/>
          </a:xfrm>
          <a:prstGeom prst="rect">
            <a:avLst/>
          </a:prstGeom>
        </p:spPr>
      </p:pic>
      <p:sp>
        <p:nvSpPr>
          <p:cNvPr id="11" name="Text 7"/>
          <p:cNvSpPr txBox="1"/>
          <p:nvPr/>
        </p:nvSpPr>
        <p:spPr>
          <a:xfrm>
            <a:off x="470916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Freestyle = eigene Software</a:t>
            </a:r>
            <a:endParaRPr lang="en-US" sz="2100" dirty="0"/>
          </a:p>
        </p:txBody>
      </p:sp>
      <p:sp>
        <p:nvSpPr>
          <p:cNvPr id="12" name="Text 8"/>
          <p:cNvSpPr txBox="1"/>
          <p:nvPr/>
        </p:nvSpPr>
        <p:spPr>
          <a:xfrm>
            <a:off x="470916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Jede Zeile JavaScript gehört uns: entwickeln, testen, aktualisieren, absichern – über Jahre.</a:t>
            </a:r>
            <a:endParaRPr lang="en-US" sz="1600" dirty="0"/>
          </a:p>
        </p:txBody>
      </p:sp>
      <p:sp>
        <p:nvSpPr>
          <p:cNvPr id="13" name="Karte 3"/>
          <p:cNvSpPr/>
          <p:nvPr/>
        </p:nvSpPr>
        <p:spPr>
          <a:xfrm>
            <a:off x="8138160" y="1737360"/>
            <a:ext cx="3474720" cy="4023360"/>
          </a:xfrm>
          <a:prstGeom prst="roundRect">
            <a:avLst>
              <a:gd name="adj" fmla="val 3158"/>
            </a:avLst>
          </a:prstGeom>
          <a:solidFill>
            <a:schemeClr val="bg2"/>
          </a:solidFill>
          <a:ln/>
        </p:spPr>
      </p:sp>
      <p:sp>
        <p:nvSpPr>
          <p:cNvPr id="14" name="Karte 3 Kreis"/>
          <p:cNvSpPr/>
          <p:nvPr/>
        </p:nvSpPr>
        <p:spPr>
          <a:xfrm>
            <a:off x="8503920" y="2103120"/>
            <a:ext cx="914400" cy="914400"/>
          </a:xfrm>
          <a:prstGeom prst="ellipse">
            <a:avLst/>
          </a:prstGeom>
          <a:solidFill>
            <a:schemeClr val="accent1"/>
          </a:solidFill>
          <a:ln/>
        </p:spPr>
      </p:sp>
      <p:pic>
        <p:nvPicPr>
          <p:cNvPr id="15" name="Karte 3 Icon" descr="Karte 3">    </p:cNvPr>
          <p:cNvPicPr>
            <a:picLocks noChangeAspect="1"/>
          </p:cNvPicPr>
          <p:nvPr/>
        </p:nvPicPr>
        <p:blipFill>
          <a:blip r:embed="rId3"/>
          <a:stretch>
            <a:fillRect/>
          </a:stretch>
        </p:blipFill>
        <p:spPr>
          <a:xfrm>
            <a:off x="8732520" y="2331720"/>
            <a:ext cx="457200" cy="457200"/>
          </a:xfrm>
          <a:prstGeom prst="rect">
            <a:avLst/>
          </a:prstGeom>
        </p:spPr>
      </p:pic>
      <p:sp>
        <p:nvSpPr>
          <p:cNvPr id="16" name="Text 11"/>
          <p:cNvSpPr txBox="1"/>
          <p:nvPr/>
        </p:nvSpPr>
        <p:spPr>
          <a:xfrm>
            <a:off x="8503920" y="3246120"/>
            <a:ext cx="274320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Fiori Elements als Standard</a:t>
            </a:r>
            <a:endParaRPr lang="en-US" sz="2100" dirty="0"/>
          </a:p>
        </p:txBody>
      </p:sp>
      <p:sp>
        <p:nvSpPr>
          <p:cNvPr id="17" name="Text 12"/>
          <p:cNvSpPr txBox="1"/>
          <p:nvPr/>
        </p:nvSpPr>
        <p:spPr>
          <a:xfrm>
            <a:off x="8503920" y="4114800"/>
            <a:ext cx="2743200" cy="1463040"/>
          </a:xfrm>
          <a:prstGeom prst="rect">
            <a:avLst/>
          </a:prstGeom>
          <a:noFill/>
          <a:ln/>
        </p:spPr>
        <p:txBody>
          <a:bodyPr wrap="square" lIns="0" tIns="0" rIns="0" bIns="0" rtlCol="0" anchor="t"/>
          <a:lstStyle/>
          <a:p>
            <a:pPr indent="0" marL="0">
              <a:buNone/>
            </a:pPr>
            <a:r>
              <a:rPr lang="en-US" sz="1600" dirty="0">
                <a:solidFill>
                  <a:schemeClr val="tx1"/>
                </a:solidFill>
              </a:rPr>
              <a:t>Freestyle nur als begründete Ausnahme, mit Owner und eingeplantem Wartungsbudget.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Drei Wege – ein Look</a:t>
            </a:r>
            <a:endParaRPr lang="en-US" sz="3400" dirty="0"/>
          </a:p>
        </p:txBody>
      </p:sp>
      <p:sp>
        <p:nvSpPr>
          <p:cNvPr id="3" name="Text 1"/>
          <p:cNvSpPr txBox="1"/>
          <p:nvPr/>
        </p:nvSpPr>
        <p:spPr>
          <a:xfrm>
            <a:off x="54864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Fiori Elements</a:t>
            </a:r>
            <a:endParaRPr lang="en-US" sz="2000" dirty="0"/>
          </a:p>
        </p:txBody>
      </p:sp>
      <p:sp>
        <p:nvSpPr>
          <p:cNvPr id="4" name="Fiori Elements SAP"/>
          <p:cNvSpPr/>
          <p:nvPr/>
        </p:nvSpPr>
        <p:spPr>
          <a:xfrm>
            <a:off x="548640" y="1965960"/>
            <a:ext cx="3474720" cy="2651760"/>
          </a:xfrm>
          <a:prstGeom prst="rect">
            <a:avLst/>
          </a:prstGeom>
          <a:solidFill>
            <a:schemeClr val="accent6"/>
          </a:solidFill>
          <a:ln/>
        </p:spPr>
      </p:sp>
      <p:sp>
        <p:nvSpPr>
          <p:cNvPr id="5" name="Text 3"/>
          <p:cNvSpPr txBox="1"/>
          <p:nvPr/>
        </p:nvSpPr>
        <p:spPr>
          <a:xfrm>
            <a:off x="685800" y="2057400"/>
            <a:ext cx="3200400" cy="246888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Floorplans (Liste, Detail)</a:t>
            </a:r>
            <a:endParaRPr lang="en-US" sz="1400" dirty="0"/>
          </a:p>
          <a:p>
            <a:pPr marL="342900" indent="-342900">
              <a:spcAft>
                <a:spcPts val="200"/>
              </a:spcAft>
              <a:buSzPct val="100000"/>
              <a:buChar char="•"/>
            </a:pPr>
            <a:r>
              <a:rPr lang="en-US" sz="1400" dirty="0">
                <a:solidFill>
                  <a:schemeClr val="tx1"/>
                </a:solidFill>
              </a:rPr>
              <a:t>Filter, Tabellen, Export</a:t>
            </a:r>
            <a:endParaRPr lang="en-US" sz="1400" dirty="0"/>
          </a:p>
          <a:p>
            <a:pPr marL="342900" indent="-342900">
              <a:spcAft>
                <a:spcPts val="200"/>
              </a:spcAft>
              <a:buSzPct val="100000"/>
              <a:buChar char="•"/>
            </a:pPr>
            <a:r>
              <a:rPr lang="en-US" sz="1400" dirty="0">
                <a:solidFill>
                  <a:schemeClr val="tx1"/>
                </a:solidFill>
              </a:rPr>
              <a:t>Varianten, Personalisierung</a:t>
            </a:r>
            <a:endParaRPr lang="en-US" sz="1400" dirty="0"/>
          </a:p>
          <a:p>
            <a:pPr marL="342900" indent="-342900">
              <a:spcAft>
                <a:spcPts val="200"/>
              </a:spcAft>
              <a:buSzPct val="100000"/>
              <a:buChar char="•"/>
            </a:pPr>
            <a:r>
              <a:rPr lang="en-US" sz="1400" dirty="0">
                <a:solidFill>
                  <a:schemeClr val="tx1"/>
                </a:solidFill>
              </a:rPr>
              <a:t>Upgrades &amp; Barrierefreiheit</a:t>
            </a:r>
            <a:endParaRPr lang="en-US" sz="1400" dirty="0"/>
          </a:p>
        </p:txBody>
      </p:sp>
      <p:sp>
        <p:nvSpPr>
          <p:cNvPr id="6" name="Fiori Elements Wir"/>
          <p:cNvSpPr/>
          <p:nvPr/>
        </p:nvSpPr>
        <p:spPr>
          <a:xfrm>
            <a:off x="548640" y="4709160"/>
            <a:ext cx="3474720" cy="1325880"/>
          </a:xfrm>
          <a:prstGeom prst="rect">
            <a:avLst/>
          </a:prstGeom>
          <a:solidFill>
            <a:schemeClr val="accent5"/>
          </a:solidFill>
          <a:ln/>
        </p:spPr>
      </p:sp>
      <p:sp>
        <p:nvSpPr>
          <p:cNvPr id="7" name="Text 5"/>
          <p:cNvSpPr txBox="1"/>
          <p:nvPr/>
        </p:nvSpPr>
        <p:spPr>
          <a:xfrm>
            <a:off x="685800" y="4800600"/>
            <a:ext cx="3200400" cy="114300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Annotationen</a:t>
            </a:r>
            <a:endParaRPr lang="en-US" sz="1400" dirty="0"/>
          </a:p>
          <a:p>
            <a:pPr marL="342900" indent="-342900">
              <a:spcAft>
                <a:spcPts val="200"/>
              </a:spcAft>
              <a:buSzPct val="100000"/>
              <a:buChar char="•"/>
            </a:pPr>
            <a:r>
              <a:rPr lang="en-US" sz="1400" dirty="0">
                <a:solidFill>
                  <a:schemeClr val="tx1"/>
                </a:solidFill>
              </a:rPr>
              <a:t>manifest.json</a:t>
            </a:r>
            <a:endParaRPr lang="en-US" sz="1400" dirty="0"/>
          </a:p>
        </p:txBody>
      </p:sp>
      <p:sp>
        <p:nvSpPr>
          <p:cNvPr id="8" name="Text 6"/>
          <p:cNvSpPr txBox="1"/>
          <p:nvPr/>
        </p:nvSpPr>
        <p:spPr>
          <a:xfrm>
            <a:off x="4343400" y="1371600"/>
            <a:ext cx="347472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RAP + UI-Annotationen</a:t>
            </a:r>
            <a:endParaRPr lang="en-US" sz="2000" dirty="0"/>
          </a:p>
        </p:txBody>
      </p:sp>
      <p:sp>
        <p:nvSpPr>
          <p:cNvPr id="9" name="RAP + UI-Annotationen SAP"/>
          <p:cNvSpPr/>
          <p:nvPr/>
        </p:nvSpPr>
        <p:spPr>
          <a:xfrm>
            <a:off x="4343400" y="1965960"/>
            <a:ext cx="3474720" cy="2286000"/>
          </a:xfrm>
          <a:prstGeom prst="rect">
            <a:avLst/>
          </a:prstGeom>
          <a:solidFill>
            <a:schemeClr val="accent6"/>
          </a:solidFill>
          <a:ln/>
        </p:spPr>
      </p:sp>
      <p:sp>
        <p:nvSpPr>
          <p:cNvPr id="10" name="Text 8"/>
          <p:cNvSpPr txBox="1"/>
          <p:nvPr/>
        </p:nvSpPr>
        <p:spPr>
          <a:xfrm>
            <a:off x="4480560" y="2057400"/>
            <a:ext cx="3200400" cy="2103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Komplette Oberfläche</a:t>
            </a:r>
            <a:endParaRPr lang="en-US" sz="1400" dirty="0"/>
          </a:p>
          <a:p>
            <a:pPr marL="342900" indent="-342900">
              <a:spcAft>
                <a:spcPts val="200"/>
              </a:spcAft>
              <a:buSzPct val="100000"/>
              <a:buChar char="•"/>
            </a:pPr>
            <a:r>
              <a:rPr lang="en-US" sz="1400" dirty="0">
                <a:solidFill>
                  <a:schemeClr val="tx1"/>
                </a:solidFill>
              </a:rPr>
              <a:t>Draft, Sperren, Transaktion</a:t>
            </a:r>
            <a:endParaRPr lang="en-US" sz="1400" dirty="0"/>
          </a:p>
          <a:p>
            <a:pPr marL="342900" indent="-342900">
              <a:spcAft>
                <a:spcPts val="200"/>
              </a:spcAft>
              <a:buSzPct val="100000"/>
              <a:buChar char="•"/>
            </a:pPr>
            <a:r>
              <a:rPr lang="en-US" sz="1400" dirty="0">
                <a:solidFill>
                  <a:schemeClr val="tx1"/>
                </a:solidFill>
              </a:rPr>
              <a:t>OData-Service-Erzeugung</a:t>
            </a:r>
            <a:endParaRPr lang="en-US" sz="1400" dirty="0"/>
          </a:p>
        </p:txBody>
      </p:sp>
      <p:sp>
        <p:nvSpPr>
          <p:cNvPr id="11" name="RAP + UI-Annotationen Wir"/>
          <p:cNvSpPr/>
          <p:nvPr/>
        </p:nvSpPr>
        <p:spPr>
          <a:xfrm>
            <a:off x="4343400" y="4343400"/>
            <a:ext cx="3474720" cy="1691640"/>
          </a:xfrm>
          <a:prstGeom prst="rect">
            <a:avLst/>
          </a:prstGeom>
          <a:solidFill>
            <a:schemeClr val="accent5"/>
          </a:solidFill>
          <a:ln/>
        </p:spPr>
      </p:sp>
      <p:sp>
        <p:nvSpPr>
          <p:cNvPr id="12" name="Text 10"/>
          <p:cNvSpPr txBox="1"/>
          <p:nvPr/>
        </p:nvSpPr>
        <p:spPr>
          <a:xfrm>
            <a:off x="4480560" y="4434840"/>
            <a:ext cx="3200400" cy="1508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CDS-Modell &amp; Verhalten (ABAP)</a:t>
            </a:r>
            <a:endParaRPr lang="en-US" sz="1400" dirty="0"/>
          </a:p>
          <a:p>
            <a:pPr marL="342900" indent="-342900">
              <a:spcAft>
                <a:spcPts val="200"/>
              </a:spcAft>
              <a:buSzPct val="100000"/>
              <a:buChar char="•"/>
            </a:pPr>
            <a:r>
              <a:rPr lang="en-US" sz="1400" dirty="0">
                <a:solidFill>
                  <a:schemeClr val="tx1"/>
                </a:solidFill>
              </a:rPr>
              <a:t>UI-Annotationen im Backend</a:t>
            </a:r>
            <a:endParaRPr lang="en-US" sz="1400" dirty="0"/>
          </a:p>
        </p:txBody>
      </p:sp>
      <p:sp>
        <p:nvSpPr>
          <p:cNvPr id="13" name="Text 11"/>
          <p:cNvSpPr txBox="1"/>
          <p:nvPr/>
        </p:nvSpPr>
        <p:spPr>
          <a:xfrm>
            <a:off x="8138160" y="1371600"/>
            <a:ext cx="3474720" cy="45720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SAPUI5 Freestyle</a:t>
            </a:r>
            <a:endParaRPr lang="en-US" sz="2000" dirty="0"/>
          </a:p>
        </p:txBody>
      </p:sp>
      <p:sp>
        <p:nvSpPr>
          <p:cNvPr id="14" name="SAPUI5 Freestyle SAP"/>
          <p:cNvSpPr/>
          <p:nvPr/>
        </p:nvSpPr>
        <p:spPr>
          <a:xfrm>
            <a:off x="8138160" y="1965960"/>
            <a:ext cx="3474720" cy="1143000"/>
          </a:xfrm>
          <a:prstGeom prst="rect">
            <a:avLst/>
          </a:prstGeom>
          <a:solidFill>
            <a:schemeClr val="accent6"/>
          </a:solidFill>
          <a:ln/>
        </p:spPr>
      </p:sp>
      <p:sp>
        <p:nvSpPr>
          <p:cNvPr id="15" name="Text 13"/>
          <p:cNvSpPr txBox="1"/>
          <p:nvPr/>
        </p:nvSpPr>
        <p:spPr>
          <a:xfrm>
            <a:off x="8275320" y="2057400"/>
            <a:ext cx="3200400" cy="960120"/>
          </a:xfrm>
          <a:prstGeom prst="rect">
            <a:avLst/>
          </a:prstGeom>
          <a:noFill/>
          <a:ln/>
        </p:spPr>
        <p:txBody>
          <a:bodyPr wrap="square" lIns="0" tIns="0" rIns="0" bIns="0" rtlCol="0" anchor="t"/>
          <a:lstStyle/>
          <a:p>
            <a:pPr indent="0" marL="0">
              <a:spcAft>
                <a:spcPts val="200"/>
              </a:spcAft>
              <a:buNone/>
            </a:pPr>
            <a:r>
              <a:rPr lang="en-US" sz="1400" b="1" dirty="0">
                <a:solidFill>
                  <a:schemeClr val="accent1"/>
                </a:solidFill>
              </a:rPr>
              <a:t>SAP liefert</a:t>
            </a:r>
            <a:endParaRPr lang="en-US" sz="1400" dirty="0"/>
          </a:p>
          <a:p>
            <a:pPr marL="342900" indent="-342900">
              <a:spcAft>
                <a:spcPts val="200"/>
              </a:spcAft>
              <a:buSzPct val="100000"/>
              <a:buChar char="•"/>
            </a:pPr>
            <a:r>
              <a:rPr lang="en-US" sz="1400" dirty="0">
                <a:solidFill>
                  <a:schemeClr val="tx1"/>
                </a:solidFill>
              </a:rPr>
              <a:t>UI5-Bibliotheken (Controls)</a:t>
            </a:r>
            <a:endParaRPr lang="en-US" sz="1400" dirty="0"/>
          </a:p>
        </p:txBody>
      </p:sp>
      <p:sp>
        <p:nvSpPr>
          <p:cNvPr id="16" name="SAPUI5 Freestyle Wir"/>
          <p:cNvSpPr/>
          <p:nvPr/>
        </p:nvSpPr>
        <p:spPr>
          <a:xfrm>
            <a:off x="8138160" y="3200400"/>
            <a:ext cx="3474720" cy="2834640"/>
          </a:xfrm>
          <a:prstGeom prst="rect">
            <a:avLst/>
          </a:prstGeom>
          <a:solidFill>
            <a:schemeClr val="accent5"/>
          </a:solidFill>
          <a:ln/>
        </p:spPr>
      </p:sp>
      <p:sp>
        <p:nvSpPr>
          <p:cNvPr id="17" name="Text 15"/>
          <p:cNvSpPr txBox="1"/>
          <p:nvPr/>
        </p:nvSpPr>
        <p:spPr>
          <a:xfrm>
            <a:off x="8275320" y="3291840"/>
            <a:ext cx="3200400" cy="2651760"/>
          </a:xfrm>
          <a:prstGeom prst="rect">
            <a:avLst/>
          </a:prstGeom>
          <a:noFill/>
          <a:ln/>
        </p:spPr>
        <p:txBody>
          <a:bodyPr wrap="square" lIns="0" tIns="0" rIns="0" bIns="0" rtlCol="0" anchor="t"/>
          <a:lstStyle/>
          <a:p>
            <a:pPr indent="0" marL="0">
              <a:spcAft>
                <a:spcPts val="200"/>
              </a:spcAft>
              <a:buNone/>
            </a:pPr>
            <a:r>
              <a:rPr lang="en-US" sz="1400" b="1" dirty="0">
                <a:solidFill>
                  <a:schemeClr val="accent2"/>
                </a:solidFill>
              </a:rPr>
              <a:t>Wir entwickeln &amp; warten</a:t>
            </a:r>
            <a:endParaRPr lang="en-US" sz="1400" dirty="0"/>
          </a:p>
          <a:p>
            <a:pPr marL="342900" indent="-342900">
              <a:spcAft>
                <a:spcPts val="200"/>
              </a:spcAft>
              <a:buSzPct val="100000"/>
              <a:buChar char="•"/>
            </a:pPr>
            <a:r>
              <a:rPr lang="en-US" sz="1400" dirty="0">
                <a:solidFill>
                  <a:schemeClr val="tx1"/>
                </a:solidFill>
              </a:rPr>
              <a:t>Views, Controller, Fragmente</a:t>
            </a:r>
            <a:endParaRPr lang="en-US" sz="1400" dirty="0"/>
          </a:p>
          <a:p>
            <a:pPr marL="342900" indent="-342900">
              <a:spcAft>
                <a:spcPts val="200"/>
              </a:spcAft>
              <a:buSzPct val="100000"/>
              <a:buChar char="•"/>
            </a:pPr>
            <a:r>
              <a:rPr lang="en-US" sz="1400" dirty="0">
                <a:solidFill>
                  <a:schemeClr val="tx1"/>
                </a:solidFill>
              </a:rPr>
              <a:t>Routing, Filter-, Exportlogik</a:t>
            </a:r>
            <a:endParaRPr lang="en-US" sz="1400" dirty="0"/>
          </a:p>
          <a:p>
            <a:pPr marL="342900" indent="-342900">
              <a:spcAft>
                <a:spcPts val="200"/>
              </a:spcAft>
              <a:buSzPct val="100000"/>
              <a:buChar char="•"/>
            </a:pPr>
            <a:r>
              <a:rPr lang="en-US" sz="1400" dirty="0">
                <a:solidFill>
                  <a:schemeClr val="tx1"/>
                </a:solidFill>
              </a:rPr>
              <a:t>Wertehilfen, Fehlerbehandlung</a:t>
            </a:r>
            <a:endParaRPr lang="en-US" sz="1400" dirty="0"/>
          </a:p>
          <a:p>
            <a:pPr marL="342900" indent="-342900">
              <a:spcAft>
                <a:spcPts val="200"/>
              </a:spcAft>
              <a:buSzPct val="100000"/>
              <a:buChar char="•"/>
            </a:pPr>
            <a:r>
              <a:rPr lang="en-US" sz="1400" dirty="0">
                <a:solidFill>
                  <a:schemeClr val="tx1"/>
                </a:solidFill>
              </a:rPr>
              <a:t>Tests, npm-Pakete, Upgrades</a:t>
            </a:r>
            <a:endParaRPr lang="en-US" sz="1400" dirty="0"/>
          </a:p>
        </p:txBody>
      </p:sp>
      <p:sp>
        <p:nvSpPr>
          <p:cNvPr id="18" name="Text 16"/>
          <p:cNvSpPr txBox="1"/>
          <p:nvPr/>
        </p:nvSpPr>
        <p:spPr>
          <a:xfrm>
            <a:off x="548640" y="6080760"/>
            <a:ext cx="10972800" cy="274320"/>
          </a:xfrm>
          <a:prstGeom prst="rect">
            <a:avLst/>
          </a:prstGeom>
          <a:noFill/>
          <a:ln/>
        </p:spPr>
        <p:txBody>
          <a:bodyPr wrap="square" lIns="0" tIns="0" rIns="0" bIns="0" rtlCol="0" anchor="ctr"/>
          <a:lstStyle/>
          <a:p>
            <a:pPr indent="0" marL="0">
              <a:buNone/>
            </a:pPr>
            <a:r>
              <a:rPr lang="en-US" sz="1100" i="1" dirty="0">
                <a:solidFill>
                  <a:schemeClr val="accent4"/>
                </a:solidFill>
              </a:rPr>
              <a:t>Schematische Darstellung: Die Flächen zeigen, wer welchen Teil verantwortet.</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Die Demo: eine Anforderung, zwei Umsetzungen</a:t>
            </a:r>
            <a:endParaRPr lang="en-US" sz="3400" dirty="0"/>
          </a:p>
        </p:txBody>
      </p:sp>
      <p:sp>
        <p:nvSpPr>
          <p:cNvPr id="3" name="Anforderung"/>
          <p:cNvSpPr/>
          <p:nvPr/>
        </p:nvSpPr>
        <p:spPr>
          <a:xfrm>
            <a:off x="548640" y="1325880"/>
            <a:ext cx="11064240" cy="914400"/>
          </a:xfrm>
          <a:prstGeom prst="roundRect">
            <a:avLst>
              <a:gd name="adj" fmla="val 10000"/>
            </a:avLst>
          </a:prstGeom>
          <a:solidFill>
            <a:schemeClr val="bg2"/>
          </a:solidFill>
          <a:ln/>
        </p:spPr>
      </p:sp>
      <p:sp>
        <p:nvSpPr>
          <p:cNvPr id="4" name="Text 2"/>
          <p:cNvSpPr txBox="1"/>
          <p:nvPr/>
        </p:nvSpPr>
        <p:spPr>
          <a:xfrm>
            <a:off x="777240" y="1325880"/>
            <a:ext cx="10607040" cy="914400"/>
          </a:xfrm>
          <a:prstGeom prst="rect">
            <a:avLst/>
          </a:prstGeom>
          <a:noFill/>
          <a:ln/>
        </p:spPr>
        <p:txBody>
          <a:bodyPr wrap="square" lIns="0" tIns="0" rIns="0" bIns="0" rtlCol="0" anchor="ctr"/>
          <a:lstStyle/>
          <a:p>
            <a:pPr indent="0" marL="0">
              <a:buNone/>
            </a:pPr>
            <a:r>
              <a:rPr lang="en-US" sz="1600" i="1" dirty="0">
                <a:solidFill>
                  <a:schemeClr val="tx1"/>
                </a:solidFill>
              </a:rPr>
              <a:t>„Bestellübersicht mit Filter nach Kunde, Land und Datum, Sortierung und Excel-Export. Per Klick die Details mit Kopf-, Versand- und Positionsdaten.“</a:t>
            </a:r>
            <a:endParaRPr lang="en-US" sz="1600" dirty="0"/>
          </a:p>
        </p:txBody>
      </p:sp>
      <p:sp>
        <p:nvSpPr>
          <p:cNvPr id="5" name="Text 3"/>
          <p:cNvSpPr txBox="1"/>
          <p:nvPr/>
        </p:nvSpPr>
        <p:spPr>
          <a:xfrm>
            <a:off x="548640" y="2468880"/>
            <a:ext cx="5394960" cy="36576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pic>
        <p:nvPicPr>
          <p:cNvPr id="6" name="Screenshot Fiori Elements" descr="Screenshot Fiori Elements">    </p:cNvPr>
          <p:cNvPicPr>
            <a:picLocks noChangeAspect="1"/>
          </p:cNvPicPr>
          <p:nvPr/>
        </p:nvPicPr>
        <p:blipFill>
          <a:blip r:embed="rId1"/>
          <a:stretch>
            <a:fillRect/>
          </a:stretch>
        </p:blipFill>
        <p:spPr>
          <a:xfrm>
            <a:off x="548640" y="2880360"/>
            <a:ext cx="5394960" cy="3273552"/>
          </a:xfrm>
          <a:prstGeom prst="rect">
            <a:avLst/>
          </a:prstGeom>
        </p:spPr>
      </p:pic>
      <p:sp>
        <p:nvSpPr>
          <p:cNvPr id="7" name="Rahmen Fiori Elements"/>
          <p:cNvSpPr/>
          <p:nvPr/>
        </p:nvSpPr>
        <p:spPr>
          <a:xfrm>
            <a:off x="548640" y="2880360"/>
            <a:ext cx="5394960" cy="3273552"/>
          </a:xfrm>
          <a:prstGeom prst="rect">
            <a:avLst/>
          </a:prstGeom>
          <a:ln w="9525">
            <a:solidFill>
              <a:srgbClr val="5E727B"/>
            </a:solidFill>
            <a:prstDash val="solid"/>
          </a:ln>
        </p:spPr>
      </p:sp>
      <p:sp>
        <p:nvSpPr>
          <p:cNvPr id="8" name="Text 5"/>
          <p:cNvSpPr txBox="1"/>
          <p:nvPr/>
        </p:nvSpPr>
        <p:spPr>
          <a:xfrm>
            <a:off x="6217920" y="2468880"/>
            <a:ext cx="5394960" cy="36576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pic>
        <p:nvPicPr>
          <p:cNvPr id="9" name="Screenshot SAPUI5 Freestyle" descr="Screenshot SAPUI5 Freestyle">    </p:cNvPr>
          <p:cNvPicPr>
            <a:picLocks noChangeAspect="1"/>
          </p:cNvPicPr>
          <p:nvPr/>
        </p:nvPicPr>
        <p:blipFill>
          <a:blip r:embed="rId2"/>
          <a:stretch>
            <a:fillRect/>
          </a:stretch>
        </p:blipFill>
        <p:spPr>
          <a:xfrm>
            <a:off x="6217920" y="2880360"/>
            <a:ext cx="5394960" cy="3273552"/>
          </a:xfrm>
          <a:prstGeom prst="rect">
            <a:avLst/>
          </a:prstGeom>
        </p:spPr>
      </p:pic>
      <p:sp>
        <p:nvSpPr>
          <p:cNvPr id="10" name="Rahmen SAPUI5 Freestyle"/>
          <p:cNvSpPr/>
          <p:nvPr/>
        </p:nvSpPr>
        <p:spPr>
          <a:xfrm>
            <a:off x="6217920" y="2880360"/>
            <a:ext cx="5394960" cy="3273552"/>
          </a:xfrm>
          <a:prstGeom prst="rect">
            <a:avLst/>
          </a:prstGeom>
          <a:ln w="9525">
            <a:solidFill>
              <a:srgbClr val="5E727B"/>
            </a:solidFill>
            <a:prstDash val="solid"/>
          </a:ln>
        </p:spPr>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Was hinter der gleichen Oberfläche steckt</a:t>
            </a:r>
            <a:endParaRPr lang="en-US" sz="3400" dirty="0"/>
          </a:p>
        </p:txBody>
      </p:sp>
      <p:sp>
        <p:nvSpPr>
          <p:cNvPr id="3" name="Kennzahl 1"/>
          <p:cNvSpPr/>
          <p:nvPr/>
        </p:nvSpPr>
        <p:spPr>
          <a:xfrm>
            <a:off x="548640" y="1463040"/>
            <a:ext cx="4754880" cy="1965960"/>
          </a:xfrm>
          <a:prstGeom prst="roundRect">
            <a:avLst>
              <a:gd name="adj" fmla="val 5581"/>
            </a:avLst>
          </a:prstGeom>
          <a:solidFill>
            <a:schemeClr val="bg2"/>
          </a:solidFill>
          <a:ln/>
        </p:spPr>
      </p:sp>
      <p:sp>
        <p:nvSpPr>
          <p:cNvPr id="4" name="Text 2"/>
          <p:cNvSpPr txBox="1"/>
          <p:nvPr/>
        </p:nvSpPr>
        <p:spPr>
          <a:xfrm>
            <a:off x="777240" y="164592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8</a:t>
            </a:r>
            <a:endParaRPr lang="en-US" sz="6000" dirty="0"/>
          </a:p>
        </p:txBody>
      </p:sp>
      <p:sp>
        <p:nvSpPr>
          <p:cNvPr id="5" name="Text 3"/>
          <p:cNvSpPr txBox="1"/>
          <p:nvPr/>
        </p:nvSpPr>
        <p:spPr>
          <a:xfrm>
            <a:off x="2377440" y="187452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6" name="Text 4"/>
          <p:cNvSpPr txBox="1"/>
          <p:nvPr/>
        </p:nvSpPr>
        <p:spPr>
          <a:xfrm>
            <a:off x="2926080" y="164592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246</a:t>
            </a:r>
            <a:endParaRPr lang="en-US" sz="6000" dirty="0"/>
          </a:p>
        </p:txBody>
      </p:sp>
      <p:sp>
        <p:nvSpPr>
          <p:cNvPr id="7" name="Text 5"/>
          <p:cNvSpPr txBox="1"/>
          <p:nvPr/>
        </p:nvSpPr>
        <p:spPr>
          <a:xfrm>
            <a:off x="777240" y="269748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Zeilen eigenes JavaScript</a:t>
            </a:r>
            <a:endParaRPr lang="en-US" sz="1600" dirty="0"/>
          </a:p>
        </p:txBody>
      </p:sp>
      <p:sp>
        <p:nvSpPr>
          <p:cNvPr id="8" name="Text 6"/>
          <p:cNvSpPr txBox="1"/>
          <p:nvPr/>
        </p:nvSpPr>
        <p:spPr>
          <a:xfrm>
            <a:off x="777240" y="301752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sp>
        <p:nvSpPr>
          <p:cNvPr id="9" name="Kennzahl 2"/>
          <p:cNvSpPr/>
          <p:nvPr/>
        </p:nvSpPr>
        <p:spPr>
          <a:xfrm>
            <a:off x="548640" y="3703320"/>
            <a:ext cx="4754880" cy="1965960"/>
          </a:xfrm>
          <a:prstGeom prst="roundRect">
            <a:avLst>
              <a:gd name="adj" fmla="val 5581"/>
            </a:avLst>
          </a:prstGeom>
          <a:solidFill>
            <a:schemeClr val="bg2"/>
          </a:solidFill>
          <a:ln/>
        </p:spPr>
      </p:sp>
      <p:sp>
        <p:nvSpPr>
          <p:cNvPr id="10" name="Text 8"/>
          <p:cNvSpPr txBox="1"/>
          <p:nvPr/>
        </p:nvSpPr>
        <p:spPr>
          <a:xfrm>
            <a:off x="777240" y="3886200"/>
            <a:ext cx="2011680" cy="100584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5</a:t>
            </a:r>
            <a:endParaRPr lang="en-US" sz="6000" dirty="0"/>
          </a:p>
        </p:txBody>
      </p:sp>
      <p:sp>
        <p:nvSpPr>
          <p:cNvPr id="11" name="Text 9"/>
          <p:cNvSpPr txBox="1"/>
          <p:nvPr/>
        </p:nvSpPr>
        <p:spPr>
          <a:xfrm>
            <a:off x="2377440" y="4114800"/>
            <a:ext cx="548640" cy="640080"/>
          </a:xfrm>
          <a:prstGeom prst="rect">
            <a:avLst/>
          </a:prstGeom>
          <a:noFill/>
          <a:ln/>
        </p:spPr>
        <p:txBody>
          <a:bodyPr wrap="square" lIns="0" tIns="0" rIns="0" bIns="0" rtlCol="0" anchor="ctr"/>
          <a:lstStyle/>
          <a:p>
            <a:pPr indent="0" marL="0">
              <a:buNone/>
            </a:pPr>
            <a:r>
              <a:rPr lang="en-US" sz="1800" dirty="0">
                <a:solidFill>
                  <a:schemeClr val="accent4"/>
                </a:solidFill>
              </a:rPr>
              <a:t>vs.</a:t>
            </a:r>
            <a:endParaRPr lang="en-US" sz="1800" dirty="0"/>
          </a:p>
        </p:txBody>
      </p:sp>
      <p:sp>
        <p:nvSpPr>
          <p:cNvPr id="12" name="Text 10"/>
          <p:cNvSpPr txBox="1"/>
          <p:nvPr/>
        </p:nvSpPr>
        <p:spPr>
          <a:xfrm>
            <a:off x="2926080" y="3886200"/>
            <a:ext cx="2194560" cy="100584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a:t>
            </a:r>
            <a:endParaRPr lang="en-US" sz="6000" dirty="0"/>
          </a:p>
        </p:txBody>
      </p:sp>
      <p:sp>
        <p:nvSpPr>
          <p:cNvPr id="13" name="Text 11"/>
          <p:cNvSpPr txBox="1"/>
          <p:nvPr/>
        </p:nvSpPr>
        <p:spPr>
          <a:xfrm>
            <a:off x="777240" y="4937760"/>
            <a:ext cx="4389120" cy="365760"/>
          </a:xfrm>
          <a:prstGeom prst="rect">
            <a:avLst/>
          </a:prstGeom>
          <a:noFill/>
          <a:ln/>
        </p:spPr>
        <p:txBody>
          <a:bodyPr wrap="square" lIns="0" tIns="0" rIns="0" bIns="0" rtlCol="0" anchor="ctr"/>
          <a:lstStyle/>
          <a:p>
            <a:pPr indent="0" marL="0">
              <a:buNone/>
            </a:pPr>
            <a:r>
              <a:rPr lang="en-US" sz="1600" b="1" dirty="0">
                <a:solidFill>
                  <a:schemeClr val="tx1"/>
                </a:solidFill>
              </a:rPr>
              <a:t>Dateien in der App</a:t>
            </a:r>
            <a:endParaRPr lang="en-US" sz="1600" dirty="0"/>
          </a:p>
        </p:txBody>
      </p:sp>
      <p:sp>
        <p:nvSpPr>
          <p:cNvPr id="14" name="Text 12"/>
          <p:cNvSpPr txBox="1"/>
          <p:nvPr/>
        </p:nvSpPr>
        <p:spPr>
          <a:xfrm>
            <a:off x="777240" y="5257800"/>
            <a:ext cx="4389120" cy="274320"/>
          </a:xfrm>
          <a:prstGeom prst="rect">
            <a:avLst/>
          </a:prstGeom>
          <a:noFill/>
          <a:ln/>
        </p:spPr>
        <p:txBody>
          <a:bodyPr wrap="square" lIns="0" tIns="0" rIns="0" bIns="0" rtlCol="0" anchor="ctr"/>
          <a:lstStyle/>
          <a:p>
            <a:pPr indent="0" marL="0">
              <a:buNone/>
            </a:pPr>
            <a:r>
              <a:rPr lang="en-US" sz="1200" dirty="0">
                <a:solidFill>
                  <a:schemeClr val="accent1"/>
                </a:solidFill>
              </a:rPr>
              <a:t>Fiori Elements</a:t>
            </a:r>
            <a:pPr indent="0" marL="0">
              <a:buNone/>
            </a:pPr>
            <a:r>
              <a:rPr lang="en-US" sz="1200" dirty="0">
                <a:solidFill>
                  <a:schemeClr val="accent4"/>
                </a:solidFill>
              </a:rPr>
              <a:t>  vs.  </a:t>
            </a:r>
            <a:pPr indent="0" marL="0">
              <a:buNone/>
            </a:pPr>
            <a:r>
              <a:rPr lang="en-US" sz="1200" dirty="0">
                <a:solidFill>
                  <a:schemeClr val="accent2"/>
                </a:solidFill>
              </a:rPr>
              <a:t>Freestyle</a:t>
            </a:r>
            <a:endParaRPr lang="en-US" sz="1200" dirty="0"/>
          </a:p>
        </p:txBody>
      </p:sp>
      <p:graphicFrame>
        <p:nvGraphicFramePr>
          <p:cNvPr id="15" name="Diagramm Codezeilen" descr=""/>
          <p:cNvGraphicFramePr/>
          <p:nvPr/>
        </p:nvGraphicFramePr>
        <p:xfrm>
          <a:off x="5669280" y="1371600"/>
          <a:ext cx="5943600" cy="434340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669280" y="5760720"/>
            <a:ext cx="5943600" cy="457200"/>
          </a:xfrm>
          <a:prstGeom prst="rect">
            <a:avLst/>
          </a:prstGeom>
          <a:noFill/>
          <a:ln/>
        </p:spPr>
        <p:txBody>
          <a:bodyPr wrap="square" lIns="0" tIns="0" rIns="0" bIns="0" rtlCol="0" anchor="ctr"/>
          <a:lstStyle/>
          <a:p>
            <a:pPr indent="0" marL="0">
              <a:buNone/>
            </a:pPr>
            <a:r>
              <a:rPr lang="en-US" sz="1300" i="1" dirty="0">
                <a:solidFill>
                  <a:schemeClr val="accent4"/>
                </a:solidFill>
              </a:rPr>
              <a:t>Annotationen sind deklarativ („zeige Feld X“) – ohne Logik, die brechen kann.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Geschenkt vs. selbst gebaut</a:t>
            </a:r>
            <a:endParaRPr lang="en-US" sz="3400" dirty="0"/>
          </a:p>
        </p:txBody>
      </p:sp>
      <p:graphicFrame>
        <p:nvGraphicFramePr>
          <p:cNvPr id="7" name="Tabelle Funktionen"/>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97680"/>
                <a:gridCol w="2926080"/>
                <a:gridCol w="384048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Funktion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Fiori Elements</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SAPUI5 Freestyle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Varianten speichern („Meine Sicht“)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Spalten ein-/ausblenden, umsortieren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Weitere Filterfelder, Filter-Operatoren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fehlt – müsste gebaut werden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Excel-Export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(Spalten doppelt gepflegt)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Wertehilfe Kunde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1 Annotation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(Fragment + 3 Handler)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Sortieren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eingebaut, mehrstufig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Eigenbau, nur einstufig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Barrierefreiheit, Tastatur</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von SAP getestet</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unsere Verantwortung</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475488">
                <a:tc>
                  <a:txBody>
                    <a:bodyPr/>
                    <a:lstStyle/>
                    <a:p>
                      <a:pPr indent="0" marL="0">
                        <a:buNone/>
                      </a:pPr>
                      <a:r>
                        <a:rPr lang="en-US" sz="1500" dirty="0">
                          <a:solidFill>
                            <a:srgbClr val="1B2B34"/>
                          </a:solidFill>
                          <a:latin typeface="Calibri" pitchFamily="34" charset="0"/>
                          <a:ea typeface="Calibri" pitchFamily="34" charset="-122"/>
                          <a:cs typeface="Calibri" pitchFamily="34" charset="-120"/>
                        </a:rPr>
                        <a:t>Neue UX-Features bei Upgrade</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1"/>
                          </a:solidFill>
                          <a:latin typeface="Calibri" pitchFamily="34" charset="0"/>
                          <a:ea typeface="Calibri" pitchFamily="34" charset="-122"/>
                          <a:cs typeface="Calibri" pitchFamily="34" charset="-120"/>
                        </a:rPr>
                        <a:t>automatisch</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manuell nachbauen</a:t>
                      </a:r>
                      <a:endParaRPr lang="en-US" sz="15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Eine kleine Änderung: Feld „Region“ ergänzen</a:t>
            </a:r>
            <a:endParaRPr lang="en-US" sz="3400" dirty="0"/>
          </a:p>
        </p:txBody>
      </p:sp>
      <p:sp>
        <p:nvSpPr>
          <p:cNvPr id="3" name="Text 1"/>
          <p:cNvSpPr txBox="1"/>
          <p:nvPr/>
        </p:nvSpPr>
        <p:spPr>
          <a:xfrm>
            <a:off x="548640" y="1280160"/>
            <a:ext cx="11064240" cy="365760"/>
          </a:xfrm>
          <a:prstGeom prst="rect">
            <a:avLst/>
          </a:prstGeom>
          <a:noFill/>
          <a:ln/>
        </p:spPr>
        <p:txBody>
          <a:bodyPr wrap="square" lIns="0" tIns="0" rIns="0" bIns="0" rtlCol="0" anchor="ctr"/>
          <a:lstStyle/>
          <a:p>
            <a:pPr indent="0" marL="0">
              <a:buNone/>
            </a:pPr>
            <a:r>
              <a:rPr lang="en-US" sz="1600" dirty="0">
                <a:solidFill>
                  <a:schemeClr val="accent4"/>
                </a:solidFill>
              </a:rPr>
              <a:t>Anforderung: Region als Spalte, als Filter und auf der Detailseite.</a:t>
            </a:r>
            <a:endParaRPr lang="en-US" sz="1600" dirty="0"/>
          </a:p>
        </p:txBody>
      </p:sp>
      <p:sp>
        <p:nvSpPr>
          <p:cNvPr id="4" name="Änderung FE"/>
          <p:cNvSpPr/>
          <p:nvPr/>
        </p:nvSpPr>
        <p:spPr>
          <a:xfrm>
            <a:off x="548640" y="1828800"/>
            <a:ext cx="4206240" cy="4297680"/>
          </a:xfrm>
          <a:prstGeom prst="roundRect">
            <a:avLst>
              <a:gd name="adj" fmla="val 2609"/>
            </a:avLst>
          </a:prstGeom>
          <a:solidFill>
            <a:schemeClr val="accent6"/>
          </a:solidFill>
          <a:ln/>
        </p:spPr>
      </p:sp>
      <p:sp>
        <p:nvSpPr>
          <p:cNvPr id="5" name="Text 3"/>
          <p:cNvSpPr txBox="1"/>
          <p:nvPr/>
        </p:nvSpPr>
        <p:spPr>
          <a:xfrm>
            <a:off x="822960" y="2011680"/>
            <a:ext cx="3657600" cy="411480"/>
          </a:xfrm>
          <a:prstGeom prst="rect">
            <a:avLst/>
          </a:prstGeom>
          <a:noFill/>
          <a:ln/>
        </p:spPr>
        <p:txBody>
          <a:bodyPr wrap="square" lIns="0" tIns="0" rIns="0" bIns="0" rtlCol="0" anchor="ctr"/>
          <a:lstStyle/>
          <a:p>
            <a:pPr indent="0" marL="0">
              <a:buNone/>
            </a:pPr>
            <a:r>
              <a:rPr lang="en-US" sz="1800" b="1" dirty="0">
                <a:solidFill>
                  <a:schemeClr val="accent1"/>
                </a:solidFill>
              </a:rPr>
              <a:t>Fiori Elements</a:t>
            </a:r>
            <a:endParaRPr lang="en-US" sz="1800" dirty="0"/>
          </a:p>
        </p:txBody>
      </p:sp>
      <p:sp>
        <p:nvSpPr>
          <p:cNvPr id="6" name="Text 4"/>
          <p:cNvSpPr txBox="1"/>
          <p:nvPr/>
        </p:nvSpPr>
        <p:spPr>
          <a:xfrm>
            <a:off x="822960" y="2468880"/>
            <a:ext cx="365760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 Datei · 3 Stellen</a:t>
            </a:r>
            <a:endParaRPr lang="en-US" sz="3200" dirty="0"/>
          </a:p>
        </p:txBody>
      </p:sp>
      <p:sp>
        <p:nvSpPr>
          <p:cNvPr id="7" name="Text 5"/>
          <p:cNvSpPr txBox="1"/>
          <p:nvPr/>
        </p:nvSpPr>
        <p:spPr>
          <a:xfrm>
            <a:off x="822960" y="3383280"/>
            <a:ext cx="3657600" cy="22860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annotation.xml: Filter, Spalte, Detailfeld + Label</a:t>
            </a:r>
            <a:endParaRPr lang="en-US" sz="1500" dirty="0"/>
          </a:p>
          <a:p>
            <a:pPr marL="342900" indent="-342900">
              <a:spcAft>
                <a:spcPts val="600"/>
              </a:spcAft>
              <a:buSzPct val="100000"/>
              <a:buChar char="•"/>
            </a:pPr>
            <a:r>
              <a:rPr lang="en-US" sz="1500" dirty="0">
                <a:solidFill>
                  <a:schemeClr val="tx1"/>
                </a:solidFill>
              </a:rPr>
              <a:t>Export, Sortierung und Personalisierung kommen automatisch mit</a:t>
            </a:r>
            <a:endParaRPr lang="en-US" sz="1500" dirty="0"/>
          </a:p>
        </p:txBody>
      </p:sp>
      <p:sp>
        <p:nvSpPr>
          <p:cNvPr id="8" name="Änderung Freestyle"/>
          <p:cNvSpPr/>
          <p:nvPr/>
        </p:nvSpPr>
        <p:spPr>
          <a:xfrm>
            <a:off x="5029200" y="1828800"/>
            <a:ext cx="6583680" cy="4297680"/>
          </a:xfrm>
          <a:prstGeom prst="roundRect">
            <a:avLst>
              <a:gd name="adj" fmla="val 2553"/>
            </a:avLst>
          </a:prstGeom>
          <a:solidFill>
            <a:schemeClr val="accent5"/>
          </a:solidFill>
          <a:ln/>
        </p:spPr>
      </p:sp>
      <p:sp>
        <p:nvSpPr>
          <p:cNvPr id="9" name="Text 7"/>
          <p:cNvSpPr txBox="1"/>
          <p:nvPr/>
        </p:nvSpPr>
        <p:spPr>
          <a:xfrm>
            <a:off x="5303520" y="2011680"/>
            <a:ext cx="6035040" cy="411480"/>
          </a:xfrm>
          <a:prstGeom prst="rect">
            <a:avLst/>
          </a:prstGeom>
          <a:noFill/>
          <a:ln/>
        </p:spPr>
        <p:txBody>
          <a:bodyPr wrap="square" lIns="0" tIns="0" rIns="0" bIns="0" rtlCol="0" anchor="ctr"/>
          <a:lstStyle/>
          <a:p>
            <a:pPr indent="0" marL="0">
              <a:buNone/>
            </a:pPr>
            <a:r>
              <a:rPr lang="en-US" sz="1800" b="1" dirty="0">
                <a:solidFill>
                  <a:schemeClr val="accent2"/>
                </a:solidFill>
              </a:rPr>
              <a:t>SAPUI5 Freestyle</a:t>
            </a:r>
            <a:endParaRPr lang="en-US" sz="1800" dirty="0"/>
          </a:p>
        </p:txBody>
      </p:sp>
      <p:sp>
        <p:nvSpPr>
          <p:cNvPr id="10" name="Text 8"/>
          <p:cNvSpPr txBox="1"/>
          <p:nvPr/>
        </p:nvSpPr>
        <p:spPr>
          <a:xfrm>
            <a:off x="5303520" y="2468880"/>
            <a:ext cx="6035040" cy="73152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5 Dateien · 8 Stellen</a:t>
            </a:r>
            <a:endParaRPr lang="en-US" sz="3200" dirty="0"/>
          </a:p>
        </p:txBody>
      </p:sp>
      <p:sp>
        <p:nvSpPr>
          <p:cNvPr id="11" name="Datei i18n.properties"/>
          <p:cNvSpPr/>
          <p:nvPr/>
        </p:nvSpPr>
        <p:spPr>
          <a:xfrm>
            <a:off x="5303520" y="3337560"/>
            <a:ext cx="2743200" cy="420624"/>
          </a:xfrm>
          <a:prstGeom prst="roundRect">
            <a:avLst>
              <a:gd name="adj" fmla="val 17391"/>
            </a:avLst>
          </a:prstGeom>
          <a:solidFill>
            <a:schemeClr val="bg1"/>
          </a:solidFill>
          <a:ln/>
        </p:spPr>
      </p:sp>
      <p:sp>
        <p:nvSpPr>
          <p:cNvPr id="12" name="Text 10"/>
          <p:cNvSpPr txBox="1"/>
          <p:nvPr/>
        </p:nvSpPr>
        <p:spPr>
          <a:xfrm>
            <a:off x="5394960" y="3337560"/>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i18n.properties</a:t>
            </a:r>
            <a:endParaRPr lang="en-US" sz="1300" dirty="0"/>
          </a:p>
        </p:txBody>
      </p:sp>
      <p:sp>
        <p:nvSpPr>
          <p:cNvPr id="13" name="Text 11"/>
          <p:cNvSpPr txBox="1"/>
          <p:nvPr/>
        </p:nvSpPr>
        <p:spPr>
          <a:xfrm>
            <a:off x="8229600" y="3337560"/>
            <a:ext cx="3200400" cy="420624"/>
          </a:xfrm>
          <a:prstGeom prst="rect">
            <a:avLst/>
          </a:prstGeom>
          <a:noFill/>
          <a:ln/>
        </p:spPr>
        <p:txBody>
          <a:bodyPr wrap="square" lIns="0" tIns="0" rIns="0" bIns="0" rtlCol="0" anchor="ctr"/>
          <a:lstStyle/>
          <a:p>
            <a:pPr indent="0" marL="0">
              <a:buNone/>
            </a:pPr>
            <a:r>
              <a:rPr lang="en-US" sz="1400" dirty="0">
                <a:solidFill>
                  <a:schemeClr val="tx1"/>
                </a:solidFill>
              </a:rPr>
              <a:t>neuer Text</a:t>
            </a:r>
            <a:endParaRPr lang="en-US" sz="1400" dirty="0"/>
          </a:p>
        </p:txBody>
      </p:sp>
      <p:sp>
        <p:nvSpPr>
          <p:cNvPr id="14" name="Datei Worklist.view.xml"/>
          <p:cNvSpPr/>
          <p:nvPr/>
        </p:nvSpPr>
        <p:spPr>
          <a:xfrm>
            <a:off x="5303520" y="3867912"/>
            <a:ext cx="2743200" cy="420624"/>
          </a:xfrm>
          <a:prstGeom prst="roundRect">
            <a:avLst>
              <a:gd name="adj" fmla="val 17391"/>
            </a:avLst>
          </a:prstGeom>
          <a:solidFill>
            <a:schemeClr val="bg1"/>
          </a:solidFill>
          <a:ln/>
        </p:spPr>
      </p:sp>
      <p:sp>
        <p:nvSpPr>
          <p:cNvPr id="15" name="Text 13"/>
          <p:cNvSpPr txBox="1"/>
          <p:nvPr/>
        </p:nvSpPr>
        <p:spPr>
          <a:xfrm>
            <a:off x="5394960" y="3867912"/>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Worklist.view.xml</a:t>
            </a:r>
            <a:endParaRPr lang="en-US" sz="1300" dirty="0"/>
          </a:p>
        </p:txBody>
      </p:sp>
      <p:sp>
        <p:nvSpPr>
          <p:cNvPr id="16" name="Text 14"/>
          <p:cNvSpPr txBox="1"/>
          <p:nvPr/>
        </p:nvSpPr>
        <p:spPr>
          <a:xfrm>
            <a:off x="8229600" y="3867912"/>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Filterfeld, Spalte, Zelle</a:t>
            </a:r>
            <a:endParaRPr lang="en-US" sz="1400" dirty="0"/>
          </a:p>
        </p:txBody>
      </p:sp>
      <p:sp>
        <p:nvSpPr>
          <p:cNvPr id="17" name="Datei Worklist.controller.js"/>
          <p:cNvSpPr/>
          <p:nvPr/>
        </p:nvSpPr>
        <p:spPr>
          <a:xfrm>
            <a:off x="5303520" y="4398264"/>
            <a:ext cx="2743200" cy="420624"/>
          </a:xfrm>
          <a:prstGeom prst="roundRect">
            <a:avLst>
              <a:gd name="adj" fmla="val 17391"/>
            </a:avLst>
          </a:prstGeom>
          <a:solidFill>
            <a:schemeClr val="bg1"/>
          </a:solidFill>
          <a:ln/>
        </p:spPr>
      </p:sp>
      <p:sp>
        <p:nvSpPr>
          <p:cNvPr id="18" name="Text 16"/>
          <p:cNvSpPr txBox="1"/>
          <p:nvPr/>
        </p:nvSpPr>
        <p:spPr>
          <a:xfrm>
            <a:off x="5394960" y="4398264"/>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Worklist.controller.js</a:t>
            </a:r>
            <a:endParaRPr lang="en-US" sz="1300" dirty="0"/>
          </a:p>
        </p:txBody>
      </p:sp>
      <p:sp>
        <p:nvSpPr>
          <p:cNvPr id="19" name="Text 17"/>
          <p:cNvSpPr txBox="1"/>
          <p:nvPr/>
        </p:nvSpPr>
        <p:spPr>
          <a:xfrm>
            <a:off x="8229600" y="4398264"/>
            <a:ext cx="3200400" cy="420624"/>
          </a:xfrm>
          <a:prstGeom prst="rect">
            <a:avLst/>
          </a:prstGeom>
          <a:noFill/>
          <a:ln/>
        </p:spPr>
        <p:txBody>
          <a:bodyPr wrap="square" lIns="0" tIns="0" rIns="0" bIns="0" rtlCol="0" anchor="ctr"/>
          <a:lstStyle/>
          <a:p>
            <a:pPr indent="0" marL="0">
              <a:buNone/>
            </a:pPr>
            <a:r>
              <a:rPr lang="en-US" sz="1400" dirty="0">
                <a:solidFill>
                  <a:schemeClr val="tx1"/>
                </a:solidFill>
              </a:rPr>
              <a:t>Filterlogik, Reset, Export</a:t>
            </a:r>
            <a:endParaRPr lang="en-US" sz="1400" dirty="0"/>
          </a:p>
        </p:txBody>
      </p:sp>
      <p:sp>
        <p:nvSpPr>
          <p:cNvPr id="20" name="Datei SortDialog.fragment.xml"/>
          <p:cNvSpPr/>
          <p:nvPr/>
        </p:nvSpPr>
        <p:spPr>
          <a:xfrm>
            <a:off x="5303520" y="4928616"/>
            <a:ext cx="2743200" cy="420624"/>
          </a:xfrm>
          <a:prstGeom prst="roundRect">
            <a:avLst>
              <a:gd name="adj" fmla="val 17391"/>
            </a:avLst>
          </a:prstGeom>
          <a:solidFill>
            <a:schemeClr val="bg1"/>
          </a:solidFill>
          <a:ln/>
        </p:spPr>
      </p:sp>
      <p:sp>
        <p:nvSpPr>
          <p:cNvPr id="21" name="Text 19"/>
          <p:cNvSpPr txBox="1"/>
          <p:nvPr/>
        </p:nvSpPr>
        <p:spPr>
          <a:xfrm>
            <a:off x="5394960" y="4928616"/>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SortDialog.fragment.xml</a:t>
            </a:r>
            <a:endParaRPr lang="en-US" sz="1300" dirty="0"/>
          </a:p>
        </p:txBody>
      </p:sp>
      <p:sp>
        <p:nvSpPr>
          <p:cNvPr id="22" name="Text 20"/>
          <p:cNvSpPr txBox="1"/>
          <p:nvPr/>
        </p:nvSpPr>
        <p:spPr>
          <a:xfrm>
            <a:off x="8229600" y="4928616"/>
            <a:ext cx="3200400" cy="420624"/>
          </a:xfrm>
          <a:prstGeom prst="rect">
            <a:avLst/>
          </a:prstGeom>
          <a:noFill/>
          <a:ln/>
        </p:spPr>
        <p:txBody>
          <a:bodyPr wrap="square" lIns="0" tIns="0" rIns="0" bIns="0" rtlCol="0" anchor="ctr"/>
          <a:lstStyle/>
          <a:p>
            <a:pPr indent="0" marL="0">
              <a:buNone/>
            </a:pPr>
            <a:r>
              <a:rPr lang="en-US" sz="1400" dirty="0">
                <a:solidFill>
                  <a:schemeClr val="tx1"/>
                </a:solidFill>
              </a:rPr>
              <a:t>Sortieroption</a:t>
            </a:r>
            <a:endParaRPr lang="en-US" sz="1400" dirty="0"/>
          </a:p>
        </p:txBody>
      </p:sp>
      <p:sp>
        <p:nvSpPr>
          <p:cNvPr id="23" name="Datei Detail.view.xml"/>
          <p:cNvSpPr/>
          <p:nvPr/>
        </p:nvSpPr>
        <p:spPr>
          <a:xfrm>
            <a:off x="5303520" y="5458968"/>
            <a:ext cx="2743200" cy="420624"/>
          </a:xfrm>
          <a:prstGeom prst="roundRect">
            <a:avLst>
              <a:gd name="adj" fmla="val 17391"/>
            </a:avLst>
          </a:prstGeom>
          <a:solidFill>
            <a:schemeClr val="bg1"/>
          </a:solidFill>
          <a:ln/>
        </p:spPr>
      </p:sp>
      <p:sp>
        <p:nvSpPr>
          <p:cNvPr id="24" name="Text 22"/>
          <p:cNvSpPr txBox="1"/>
          <p:nvPr/>
        </p:nvSpPr>
        <p:spPr>
          <a:xfrm>
            <a:off x="5394960" y="5458968"/>
            <a:ext cx="2651760" cy="420624"/>
          </a:xfrm>
          <a:prstGeom prst="rect">
            <a:avLst/>
          </a:prstGeom>
          <a:noFill/>
          <a:ln/>
        </p:spPr>
        <p:txBody>
          <a:bodyPr wrap="square" lIns="0" tIns="0" rIns="0" bIns="0" rtlCol="0" anchor="ctr"/>
          <a:lstStyle/>
          <a:p>
            <a:pPr indent="0" marL="0">
              <a:buNone/>
            </a:pPr>
            <a:r>
              <a:rPr lang="en-US" sz="1300" b="1" dirty="0">
                <a:solidFill>
                  <a:schemeClr val="tx1"/>
                </a:solidFill>
                <a:latin typeface="Courier New" pitchFamily="34" charset="0"/>
                <a:ea typeface="Courier New" pitchFamily="34" charset="-122"/>
                <a:cs typeface="Courier New" pitchFamily="34" charset="-120"/>
              </a:rPr>
              <a:t>Detail.view.xml</a:t>
            </a:r>
            <a:endParaRPr lang="en-US" sz="1300" dirty="0"/>
          </a:p>
        </p:txBody>
      </p:sp>
      <p:sp>
        <p:nvSpPr>
          <p:cNvPr id="25" name="Text 23"/>
          <p:cNvSpPr txBox="1"/>
          <p:nvPr/>
        </p:nvSpPr>
        <p:spPr>
          <a:xfrm>
            <a:off x="8229600" y="5458968"/>
            <a:ext cx="3200400" cy="420624"/>
          </a:xfrm>
          <a:prstGeom prst="rect">
            <a:avLst/>
          </a:prstGeom>
          <a:noFill/>
          <a:ln/>
        </p:spPr>
        <p:txBody>
          <a:bodyPr wrap="square" lIns="0" tIns="0" rIns="0" bIns="0" rtlCol="0" anchor="ctr"/>
          <a:lstStyle/>
          <a:p>
            <a:pPr indent="0" marL="0">
              <a:buNone/>
            </a:pPr>
            <a:r>
              <a:rPr lang="en-US" sz="1400" dirty="0">
                <a:solidFill>
                  <a:schemeClr val="tx1"/>
                </a:solidFill>
              </a:rPr>
              <a:t>Label + Feld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Freestyle heißt: Wir sind in der Pflicht</a:t>
            </a:r>
            <a:endParaRPr lang="en-US" sz="3400" dirty="0"/>
          </a:p>
        </p:txBody>
      </p:sp>
      <p:sp>
        <p:nvSpPr>
          <p:cNvPr id="3" name="Paketmanagement Kreis"/>
          <p:cNvSpPr/>
          <p:nvPr/>
        </p:nvSpPr>
        <p:spPr>
          <a:xfrm>
            <a:off x="548640" y="1463040"/>
            <a:ext cx="731520" cy="731520"/>
          </a:xfrm>
          <a:prstGeom prst="ellipse">
            <a:avLst/>
          </a:prstGeom>
          <a:solidFill>
            <a:schemeClr val="accent2"/>
          </a:solidFill>
          <a:ln/>
        </p:spPr>
      </p:sp>
      <p:pic>
        <p:nvPicPr>
          <p:cNvPr id="4" name="Paketmanagement Icon" descr="Paketmanagement">    </p:cNvPr>
          <p:cNvPicPr>
            <a:picLocks noChangeAspect="1"/>
          </p:cNvPicPr>
          <p:nvPr/>
        </p:nvPicPr>
        <p:blipFill>
          <a:blip r:embed="rId1"/>
          <a:stretch>
            <a:fillRect/>
          </a:stretch>
        </p:blipFill>
        <p:spPr>
          <a:xfrm>
            <a:off x="731520" y="1645920"/>
            <a:ext cx="365760" cy="365760"/>
          </a:xfrm>
          <a:prstGeom prst="rect">
            <a:avLst/>
          </a:prstGeom>
        </p:spPr>
      </p:pic>
      <p:sp>
        <p:nvSpPr>
          <p:cNvPr id="5" name="Text 2"/>
          <p:cNvSpPr txBox="1"/>
          <p:nvPr/>
        </p:nvSpPr>
        <p:spPr>
          <a:xfrm>
            <a:off x="150876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Paketmanagement</a:t>
            </a:r>
            <a:endParaRPr lang="en-US" sz="1800" dirty="0"/>
          </a:p>
        </p:txBody>
      </p:sp>
      <p:sp>
        <p:nvSpPr>
          <p:cNvPr id="6" name="Text 3"/>
          <p:cNvSpPr txBox="1"/>
          <p:nvPr/>
        </p:nvSpPr>
        <p:spPr>
          <a:xfrm>
            <a:off x="150876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Jede App hat ihre eigene package.json. Schon das Tooling der Demo: 538 npm-Pakete, die aktuell gehalten werden müssen.</a:t>
            </a:r>
            <a:endParaRPr lang="en-US" sz="1400" dirty="0"/>
          </a:p>
        </p:txBody>
      </p:sp>
      <p:sp>
        <p:nvSpPr>
          <p:cNvPr id="7" name="UI5-Upgrades Kreis"/>
          <p:cNvSpPr/>
          <p:nvPr/>
        </p:nvSpPr>
        <p:spPr>
          <a:xfrm>
            <a:off x="6217920" y="1463040"/>
            <a:ext cx="731520" cy="731520"/>
          </a:xfrm>
          <a:prstGeom prst="ellipse">
            <a:avLst/>
          </a:prstGeom>
          <a:solidFill>
            <a:schemeClr val="accent2"/>
          </a:solidFill>
          <a:ln/>
        </p:spPr>
      </p:sp>
      <p:pic>
        <p:nvPicPr>
          <p:cNvPr id="8" name="UI5-Upgrades Icon" descr="UI5-Upgrades">    </p:cNvPr>
          <p:cNvPicPr>
            <a:picLocks noChangeAspect="1"/>
          </p:cNvPicPr>
          <p:nvPr/>
        </p:nvPicPr>
        <p:blipFill>
          <a:blip r:embed="rId2"/>
          <a:stretch>
            <a:fillRect/>
          </a:stretch>
        </p:blipFill>
        <p:spPr>
          <a:xfrm>
            <a:off x="6400800" y="1645920"/>
            <a:ext cx="365760" cy="365760"/>
          </a:xfrm>
          <a:prstGeom prst="rect">
            <a:avLst/>
          </a:prstGeom>
        </p:spPr>
      </p:pic>
      <p:sp>
        <p:nvSpPr>
          <p:cNvPr id="9" name="Text 5"/>
          <p:cNvSpPr txBox="1"/>
          <p:nvPr/>
        </p:nvSpPr>
        <p:spPr>
          <a:xfrm>
            <a:off x="7178040" y="14173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UI5-Upgrades</a:t>
            </a:r>
            <a:endParaRPr lang="en-US" sz="1800" dirty="0"/>
          </a:p>
        </p:txBody>
      </p:sp>
      <p:sp>
        <p:nvSpPr>
          <p:cNvPr id="10" name="Text 6"/>
          <p:cNvSpPr txBox="1"/>
          <p:nvPr/>
        </p:nvSpPr>
        <p:spPr>
          <a:xfrm>
            <a:off x="7178040" y="1828800"/>
            <a:ext cx="4389120" cy="960120"/>
          </a:xfrm>
          <a:prstGeom prst="rect">
            <a:avLst/>
          </a:prstGeom>
          <a:noFill/>
          <a:ln/>
        </p:spPr>
        <p:txBody>
          <a:bodyPr wrap="square" lIns="0" tIns="0" rIns="0" bIns="0" rtlCol="0" anchor="t"/>
          <a:lstStyle/>
          <a:p>
            <a:pPr indent="0" marL="0">
              <a:buNone/>
            </a:pPr>
            <a:r>
              <a:rPr lang="en-US" sz="1400" dirty="0">
                <a:solidFill>
                  <a:schemeClr val="tx1"/>
                </a:solidFill>
              </a:rPr>
              <a:t>Veraltete APIs fallen weg (UI5 2.x). Jede Freestyle-App muss geprüft und migriert werden.</a:t>
            </a:r>
            <a:endParaRPr lang="en-US" sz="1400" dirty="0"/>
          </a:p>
        </p:txBody>
      </p:sp>
      <p:sp>
        <p:nvSpPr>
          <p:cNvPr id="11" name="Custom-Code-Logik Kreis"/>
          <p:cNvSpPr/>
          <p:nvPr/>
        </p:nvSpPr>
        <p:spPr>
          <a:xfrm>
            <a:off x="548640" y="3063240"/>
            <a:ext cx="731520" cy="731520"/>
          </a:xfrm>
          <a:prstGeom prst="ellipse">
            <a:avLst/>
          </a:prstGeom>
          <a:solidFill>
            <a:schemeClr val="accent2"/>
          </a:solidFill>
          <a:ln/>
        </p:spPr>
      </p:sp>
      <p:pic>
        <p:nvPicPr>
          <p:cNvPr id="12" name="Custom-Code-Logik Icon" descr="Custom-Code-Logik">    </p:cNvPr>
          <p:cNvPicPr>
            <a:picLocks noChangeAspect="1"/>
          </p:cNvPicPr>
          <p:nvPr/>
        </p:nvPicPr>
        <p:blipFill>
          <a:blip r:embed="rId3"/>
          <a:stretch>
            <a:fillRect/>
          </a:stretch>
        </p:blipFill>
        <p:spPr>
          <a:xfrm>
            <a:off x="731520" y="3246120"/>
            <a:ext cx="365760" cy="365760"/>
          </a:xfrm>
          <a:prstGeom prst="rect">
            <a:avLst/>
          </a:prstGeom>
        </p:spPr>
      </p:pic>
      <p:sp>
        <p:nvSpPr>
          <p:cNvPr id="13" name="Text 8"/>
          <p:cNvSpPr txBox="1"/>
          <p:nvPr/>
        </p:nvSpPr>
        <p:spPr>
          <a:xfrm>
            <a:off x="150876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Custom-Code-Logik</a:t>
            </a:r>
            <a:endParaRPr lang="en-US" sz="1800" dirty="0"/>
          </a:p>
        </p:txBody>
      </p:sp>
      <p:sp>
        <p:nvSpPr>
          <p:cNvPr id="14" name="Text 9"/>
          <p:cNvSpPr txBox="1"/>
          <p:nvPr/>
        </p:nvSpPr>
        <p:spPr>
          <a:xfrm>
            <a:off x="150876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Filter, Export, Navigation, Fehlerbehandlung: alles selbst programmiert, alles selbst zu warten.</a:t>
            </a:r>
            <a:endParaRPr lang="en-US" sz="1400" dirty="0"/>
          </a:p>
        </p:txBody>
      </p:sp>
      <p:sp>
        <p:nvSpPr>
          <p:cNvPr id="15" name="Tests Kreis"/>
          <p:cNvSpPr/>
          <p:nvPr/>
        </p:nvSpPr>
        <p:spPr>
          <a:xfrm>
            <a:off x="6217920" y="3063240"/>
            <a:ext cx="731520" cy="731520"/>
          </a:xfrm>
          <a:prstGeom prst="ellipse">
            <a:avLst/>
          </a:prstGeom>
          <a:solidFill>
            <a:schemeClr val="accent2"/>
          </a:solidFill>
          <a:ln/>
        </p:spPr>
      </p:sp>
      <p:pic>
        <p:nvPicPr>
          <p:cNvPr id="16" name="Tests Icon" descr="Tests">    </p:cNvPr>
          <p:cNvPicPr>
            <a:picLocks noChangeAspect="1"/>
          </p:cNvPicPr>
          <p:nvPr/>
        </p:nvPicPr>
        <p:blipFill>
          <a:blip r:embed="rId4"/>
          <a:stretch>
            <a:fillRect/>
          </a:stretch>
        </p:blipFill>
        <p:spPr>
          <a:xfrm>
            <a:off x="6400800" y="3246120"/>
            <a:ext cx="365760" cy="365760"/>
          </a:xfrm>
          <a:prstGeom prst="rect">
            <a:avLst/>
          </a:prstGeom>
        </p:spPr>
      </p:pic>
      <p:sp>
        <p:nvSpPr>
          <p:cNvPr id="17" name="Text 11"/>
          <p:cNvSpPr txBox="1"/>
          <p:nvPr/>
        </p:nvSpPr>
        <p:spPr>
          <a:xfrm>
            <a:off x="7178040" y="30175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Tests</a:t>
            </a:r>
            <a:endParaRPr lang="en-US" sz="1800" dirty="0"/>
          </a:p>
        </p:txBody>
      </p:sp>
      <p:sp>
        <p:nvSpPr>
          <p:cNvPr id="18" name="Text 12"/>
          <p:cNvSpPr txBox="1"/>
          <p:nvPr/>
        </p:nvSpPr>
        <p:spPr>
          <a:xfrm>
            <a:off x="7178040" y="3429000"/>
            <a:ext cx="4389120" cy="960120"/>
          </a:xfrm>
          <a:prstGeom prst="rect">
            <a:avLst/>
          </a:prstGeom>
          <a:noFill/>
          <a:ln/>
        </p:spPr>
        <p:txBody>
          <a:bodyPr wrap="square" lIns="0" tIns="0" rIns="0" bIns="0" rtlCol="0" anchor="t"/>
          <a:lstStyle/>
          <a:p>
            <a:pPr indent="0" marL="0">
              <a:buNone/>
            </a:pPr>
            <a:r>
              <a:rPr lang="en-US" sz="1400" dirty="0">
                <a:solidFill>
                  <a:schemeClr val="tx1"/>
                </a:solidFill>
              </a:rPr>
              <a:t>Unit- und Oberflächentests (QUnit, OPA5) schreiben und pflegen – sonst bricht jedes Upgrade unbemerkt.</a:t>
            </a:r>
            <a:endParaRPr lang="en-US" sz="1400" dirty="0"/>
          </a:p>
        </p:txBody>
      </p:sp>
      <p:sp>
        <p:nvSpPr>
          <p:cNvPr id="19" name="Know-how Kreis"/>
          <p:cNvSpPr/>
          <p:nvPr/>
        </p:nvSpPr>
        <p:spPr>
          <a:xfrm>
            <a:off x="548640" y="4663440"/>
            <a:ext cx="731520" cy="731520"/>
          </a:xfrm>
          <a:prstGeom prst="ellipse">
            <a:avLst/>
          </a:prstGeom>
          <a:solidFill>
            <a:schemeClr val="accent2"/>
          </a:solidFill>
          <a:ln/>
        </p:spPr>
      </p:sp>
      <p:pic>
        <p:nvPicPr>
          <p:cNvPr id="20" name="Know-how Icon" descr="Know-how">    </p:cNvPr>
          <p:cNvPicPr>
            <a:picLocks noChangeAspect="1"/>
          </p:cNvPicPr>
          <p:nvPr/>
        </p:nvPicPr>
        <p:blipFill>
          <a:blip r:embed="rId5"/>
          <a:stretch>
            <a:fillRect/>
          </a:stretch>
        </p:blipFill>
        <p:spPr>
          <a:xfrm>
            <a:off x="731520" y="4846320"/>
            <a:ext cx="365760" cy="365760"/>
          </a:xfrm>
          <a:prstGeom prst="rect">
            <a:avLst/>
          </a:prstGeom>
        </p:spPr>
      </p:pic>
      <p:sp>
        <p:nvSpPr>
          <p:cNvPr id="21" name="Text 14"/>
          <p:cNvSpPr txBox="1"/>
          <p:nvPr/>
        </p:nvSpPr>
        <p:spPr>
          <a:xfrm>
            <a:off x="150876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Know-how</a:t>
            </a:r>
            <a:endParaRPr lang="en-US" sz="1800" dirty="0"/>
          </a:p>
        </p:txBody>
      </p:sp>
      <p:sp>
        <p:nvSpPr>
          <p:cNvPr id="22" name="Text 15"/>
          <p:cNvSpPr txBox="1"/>
          <p:nvPr/>
        </p:nvSpPr>
        <p:spPr>
          <a:xfrm>
            <a:off x="150876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JavaScript, UI5-Framework, Browser-Debugging und Node-Tooling – zusätzlich zu ABAP und OData.</a:t>
            </a:r>
            <a:endParaRPr lang="en-US" sz="1400" dirty="0"/>
          </a:p>
        </p:txBody>
      </p:sp>
      <p:sp>
        <p:nvSpPr>
          <p:cNvPr id="23" name="UX &amp; Barrierefreiheit Kreis"/>
          <p:cNvSpPr/>
          <p:nvPr/>
        </p:nvSpPr>
        <p:spPr>
          <a:xfrm>
            <a:off x="6217920" y="4663440"/>
            <a:ext cx="731520" cy="731520"/>
          </a:xfrm>
          <a:prstGeom prst="ellipse">
            <a:avLst/>
          </a:prstGeom>
          <a:solidFill>
            <a:schemeClr val="accent2"/>
          </a:solidFill>
          <a:ln/>
        </p:spPr>
      </p:sp>
      <p:pic>
        <p:nvPicPr>
          <p:cNvPr id="24" name="UX &amp; Barrierefreiheit Icon" descr="UX &amp; Barrierefreiheit">    </p:cNvPr>
          <p:cNvPicPr>
            <a:picLocks noChangeAspect="1"/>
          </p:cNvPicPr>
          <p:nvPr/>
        </p:nvPicPr>
        <p:blipFill>
          <a:blip r:embed="rId6"/>
          <a:stretch>
            <a:fillRect/>
          </a:stretch>
        </p:blipFill>
        <p:spPr>
          <a:xfrm>
            <a:off x="6400800" y="4846320"/>
            <a:ext cx="365760" cy="365760"/>
          </a:xfrm>
          <a:prstGeom prst="rect">
            <a:avLst/>
          </a:prstGeom>
        </p:spPr>
      </p:pic>
      <p:sp>
        <p:nvSpPr>
          <p:cNvPr id="25" name="Text 17"/>
          <p:cNvSpPr txBox="1"/>
          <p:nvPr/>
        </p:nvSpPr>
        <p:spPr>
          <a:xfrm>
            <a:off x="7178040" y="4617720"/>
            <a:ext cx="4389120" cy="384048"/>
          </a:xfrm>
          <a:prstGeom prst="rect">
            <a:avLst/>
          </a:prstGeom>
          <a:noFill/>
          <a:ln/>
        </p:spPr>
        <p:txBody>
          <a:bodyPr wrap="square" lIns="0" tIns="0" rIns="0" bIns="0" rtlCol="0" anchor="ctr"/>
          <a:lstStyle/>
          <a:p>
            <a:pPr indent="0" marL="0">
              <a:buNone/>
            </a:pPr>
            <a:r>
              <a:rPr lang="en-US" sz="1800" b="1" dirty="0">
                <a:solidFill>
                  <a:schemeClr val="tx1"/>
                </a:solidFill>
              </a:rPr>
              <a:t>UX &amp; Barrierefreiheit</a:t>
            </a:r>
            <a:endParaRPr lang="en-US" sz="1800" dirty="0"/>
          </a:p>
        </p:txBody>
      </p:sp>
      <p:sp>
        <p:nvSpPr>
          <p:cNvPr id="26" name="Text 18"/>
          <p:cNvSpPr txBox="1"/>
          <p:nvPr/>
        </p:nvSpPr>
        <p:spPr>
          <a:xfrm>
            <a:off x="7178040" y="5029200"/>
            <a:ext cx="4389120" cy="960120"/>
          </a:xfrm>
          <a:prstGeom prst="rect">
            <a:avLst/>
          </a:prstGeom>
          <a:noFill/>
          <a:ln/>
        </p:spPr>
        <p:txBody>
          <a:bodyPr wrap="square" lIns="0" tIns="0" rIns="0" bIns="0" rtlCol="0" anchor="t"/>
          <a:lstStyle/>
          <a:p>
            <a:pPr indent="0" marL="0">
              <a:buNone/>
            </a:pPr>
            <a:r>
              <a:rPr lang="en-US" sz="1400" dirty="0">
                <a:solidFill>
                  <a:schemeClr val="tx1"/>
                </a:solidFill>
              </a:rPr>
              <a:t>Fiori-Guidelines und Barrierefreiheit müssen wir selbst sicherstellen und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Das ist nicht mehr die klassische SAP-Welt</a:t>
            </a:r>
            <a:endParaRPr lang="en-US" sz="3400" dirty="0"/>
          </a:p>
        </p:txBody>
      </p:sp>
      <p:graphicFrame>
        <p:nvGraphicFramePr>
          <p:cNvPr id="10" name="Tabelle Vergleich"/>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2834640"/>
                <a:gridCol w="2926080"/>
                <a:gridCol w="3291840"/>
              </a:tblGrid>
              <a:tr h="731520">
                <a:tc>
                  <a:txBody>
                    <a:bodyPr/>
                    <a:lstStyle/>
                    <a:p>
                      <a:pPr indent="0" marL="0">
                        <a:buNone/>
                      </a:pP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B3C49"/>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Klassisch (Dynpro / Web Dynpro)</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5E727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Fiori Elements (+ RAP)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1F8A7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SAPUI5 Freestyle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D9661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UI-Logik liegt in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im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Annotationen (bei RAP im Backend)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JavaScript im Frontend</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Objekte pro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1 Programm / Komponente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wenige Dateien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viele: Views, Controller, Fragmente, Formatter …</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Lebenszyklus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Transport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Templates pflegt SAP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npm-Pakete &amp; UI5-Version pflegen wir</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Upgrade</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läuft mit dem System</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SAP testet die Templates</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wir prüfen und migrieren jede App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1B2B34"/>
                          </a:solidFill>
                          <a:latin typeface="Calibri" pitchFamily="34" charset="0"/>
                          <a:ea typeface="Calibri" pitchFamily="34" charset="-122"/>
                          <a:cs typeface="Calibri" pitchFamily="34" charset="-120"/>
                        </a:rPr>
                        <a:t>Know-how</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CDS, Annotationen</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c>
                  <a:txBody>
                    <a:bodyPr/>
                    <a:lstStyle/>
                    <a:p>
                      <a:pPr indent="0" marL="0">
                        <a:buNone/>
                      </a:pPr>
                      <a:r>
                        <a:rPr lang="en-US" sz="1600" dirty="0">
                          <a:solidFill>
                            <a:srgbClr val="1B2B34"/>
                          </a:solidFill>
                          <a:latin typeface="Calibri" pitchFamily="34" charset="0"/>
                          <a:ea typeface="Calibri" pitchFamily="34" charset="-122"/>
                          <a:cs typeface="Calibri" pitchFamily="34" charset="-120"/>
                        </a:rPr>
                        <a:t>ABAP + JavaScript + UI5 + Node-Tooling</a:t>
                      </a:r>
                      <a:endParaRPr lang="en-US" sz="1600" dirty="0">
                        <a:latin typeface="Calibri" charset="0"/>
                        <a:ea typeface="Calibri" charset="0"/>
                        <a:cs typeface="Calibri" charset="0"/>
                      </a:endParaRPr>
                    </a:p>
                  </a:txBody>
                  <a:tcPr marL="91440" marR="91440" marT="45720" marB="45720"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Ehrliche Bewertung: kein Schwarz-Weiß</a:t>
            </a:r>
            <a:endParaRPr lang="en-US" sz="3400" dirty="0"/>
          </a:p>
        </p:txBody>
      </p:sp>
      <p:sp>
        <p:nvSpPr>
          <p:cNvPr id="3" name="Wo Freestyle richtig ist"/>
          <p:cNvSpPr/>
          <p:nvPr/>
        </p:nvSpPr>
        <p:spPr>
          <a:xfrm>
            <a:off x="548640" y="1371600"/>
            <a:ext cx="5394960" cy="3200400"/>
          </a:xfrm>
          <a:prstGeom prst="roundRect">
            <a:avLst>
              <a:gd name="adj" fmla="val 3429"/>
            </a:avLst>
          </a:prstGeom>
          <a:solidFill>
            <a:schemeClr val="accent5"/>
          </a:solidFill>
          <a:ln/>
        </p:spPr>
      </p:sp>
      <p:sp>
        <p:nvSpPr>
          <p:cNvPr id="4" name="Wo Freestyle richtig ist Kreis"/>
          <p:cNvSpPr/>
          <p:nvPr/>
        </p:nvSpPr>
        <p:spPr>
          <a:xfrm>
            <a:off x="822960" y="1600200"/>
            <a:ext cx="685800" cy="685800"/>
          </a:xfrm>
          <a:prstGeom prst="ellipse">
            <a:avLst/>
          </a:prstGeom>
          <a:solidFill>
            <a:schemeClr val="accent2"/>
          </a:solidFill>
          <a:ln/>
        </p:spPr>
      </p:sp>
      <p:pic>
        <p:nvPicPr>
          <p:cNvPr id="5" name="Wo Freestyle richtig ist Icon" descr="Wo Freestyle richtig ist">    </p:cNvPr>
          <p:cNvPicPr>
            <a:picLocks noChangeAspect="1"/>
          </p:cNvPicPr>
          <p:nvPr/>
        </p:nvPicPr>
        <p:blipFill>
          <a:blip r:embed="rId1"/>
          <a:stretch>
            <a:fillRect/>
          </a:stretch>
        </p:blipFill>
        <p:spPr>
          <a:xfrm>
            <a:off x="994410" y="1771650"/>
            <a:ext cx="342900" cy="342900"/>
          </a:xfrm>
          <a:prstGeom prst="rect">
            <a:avLst/>
          </a:prstGeom>
        </p:spPr>
      </p:pic>
      <p:sp>
        <p:nvSpPr>
          <p:cNvPr id="6" name="Text 3"/>
          <p:cNvSpPr txBox="1"/>
          <p:nvPr/>
        </p:nvSpPr>
        <p:spPr>
          <a:xfrm>
            <a:off x="1691640" y="1600200"/>
            <a:ext cx="4023360" cy="685800"/>
          </a:xfrm>
          <a:prstGeom prst="rect">
            <a:avLst/>
          </a:prstGeom>
          <a:noFill/>
          <a:ln/>
        </p:spPr>
        <p:txBody>
          <a:bodyPr wrap="square" lIns="0" tIns="0" rIns="0" bIns="0" rtlCol="0" anchor="ctr"/>
          <a:lstStyle/>
          <a:p>
            <a:pPr indent="0" marL="0">
              <a:buNone/>
            </a:pPr>
            <a:r>
              <a:rPr lang="en-US" sz="2000" b="1" dirty="0">
                <a:solidFill>
                  <a:schemeClr val="accent2"/>
                </a:solidFill>
              </a:rPr>
              <a:t>Wo Freestyle richtig ist</a:t>
            </a:r>
            <a:endParaRPr lang="en-US" sz="2000" dirty="0"/>
          </a:p>
        </p:txBody>
      </p:sp>
      <p:sp>
        <p:nvSpPr>
          <p:cNvPr id="7" name="Text 4"/>
          <p:cNvSpPr txBox="1"/>
          <p:nvPr/>
        </p:nvSpPr>
        <p:spPr>
          <a:xfrm>
            <a:off x="82296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Drag &amp; Drop, Planungstafeln, Gantt</a:t>
            </a:r>
            <a:endParaRPr lang="en-US" sz="1600" dirty="0"/>
          </a:p>
          <a:p>
            <a:pPr marL="342900" indent="-342900">
              <a:spcAft>
                <a:spcPts val="800"/>
              </a:spcAft>
              <a:buSzPct val="100000"/>
              <a:buChar char="•"/>
            </a:pPr>
            <a:r>
              <a:rPr lang="en-US" sz="1600" dirty="0">
                <a:solidFill>
                  <a:schemeClr val="tx1"/>
                </a:solidFill>
              </a:rPr>
              <a:t>Stark grafische oder spielerische Oberflächen</a:t>
            </a:r>
            <a:endParaRPr lang="en-US" sz="1600" dirty="0"/>
          </a:p>
          <a:p>
            <a:pPr marL="342900" indent="-342900">
              <a:spcAft>
                <a:spcPts val="800"/>
              </a:spcAft>
              <a:buSzPct val="100000"/>
              <a:buChar char="•"/>
            </a:pPr>
            <a:r>
              <a:rPr lang="en-US" sz="1600" dirty="0">
                <a:solidFill>
                  <a:schemeClr val="tx1"/>
                </a:solidFill>
              </a:rPr>
              <a:t>Ungewöhnliche Abläufe, die in keinen Floorplan passen</a:t>
            </a:r>
            <a:endParaRPr lang="en-US" sz="1600" dirty="0"/>
          </a:p>
          <a:p>
            <a:pPr marL="342900" indent="-342900">
              <a:spcAft>
                <a:spcPts val="800"/>
              </a:spcAft>
              <a:buSzPct val="100000"/>
              <a:buChar char="•"/>
            </a:pPr>
            <a:r>
              <a:rPr lang="en-US" sz="1600" dirty="0">
                <a:solidFill>
                  <a:schemeClr val="tx1"/>
                </a:solidFill>
              </a:rPr>
              <a:t>Spezielle Geräte- oder Offline-Integration</a:t>
            </a:r>
            <a:endParaRPr lang="en-US" sz="1600" dirty="0"/>
          </a:p>
        </p:txBody>
      </p:sp>
      <p:sp>
        <p:nvSpPr>
          <p:cNvPr id="8" name="Wo Fiori Elements Grenzen hat"/>
          <p:cNvSpPr/>
          <p:nvPr/>
        </p:nvSpPr>
        <p:spPr>
          <a:xfrm>
            <a:off x="6217920" y="1371600"/>
            <a:ext cx="5394960" cy="3200400"/>
          </a:xfrm>
          <a:prstGeom prst="roundRect">
            <a:avLst>
              <a:gd name="adj" fmla="val 3429"/>
            </a:avLst>
          </a:prstGeom>
          <a:solidFill>
            <a:schemeClr val="accent6"/>
          </a:solidFill>
          <a:ln/>
        </p:spPr>
      </p:sp>
      <p:sp>
        <p:nvSpPr>
          <p:cNvPr id="9" name="Wo Fiori Elements Grenzen hat Kreis"/>
          <p:cNvSpPr/>
          <p:nvPr/>
        </p:nvSpPr>
        <p:spPr>
          <a:xfrm>
            <a:off x="6492240" y="1600200"/>
            <a:ext cx="685800" cy="685800"/>
          </a:xfrm>
          <a:prstGeom prst="ellipse">
            <a:avLst/>
          </a:prstGeom>
          <a:solidFill>
            <a:schemeClr val="accent1"/>
          </a:solidFill>
          <a:ln/>
        </p:spPr>
      </p:sp>
      <p:pic>
        <p:nvPicPr>
          <p:cNvPr id="10" name="Wo Fiori Elements Grenzen hat Icon" descr="Wo Fiori Elements Grenzen hat">    </p:cNvPr>
          <p:cNvPicPr>
            <a:picLocks noChangeAspect="1"/>
          </p:cNvPicPr>
          <p:nvPr/>
        </p:nvPicPr>
        <p:blipFill>
          <a:blip r:embed="rId2"/>
          <a:stretch>
            <a:fillRect/>
          </a:stretch>
        </p:blipFill>
        <p:spPr>
          <a:xfrm>
            <a:off x="6663690" y="1771650"/>
            <a:ext cx="342900" cy="342900"/>
          </a:xfrm>
          <a:prstGeom prst="rect">
            <a:avLst/>
          </a:prstGeom>
        </p:spPr>
      </p:pic>
      <p:sp>
        <p:nvSpPr>
          <p:cNvPr id="11" name="Text 7"/>
          <p:cNvSpPr txBox="1"/>
          <p:nvPr/>
        </p:nvSpPr>
        <p:spPr>
          <a:xfrm>
            <a:off x="7360920" y="1600200"/>
            <a:ext cx="4023360" cy="685800"/>
          </a:xfrm>
          <a:prstGeom prst="rect">
            <a:avLst/>
          </a:prstGeom>
          <a:noFill/>
          <a:ln/>
        </p:spPr>
        <p:txBody>
          <a:bodyPr wrap="square" lIns="0" tIns="0" rIns="0" bIns="0" rtlCol="0" anchor="ctr"/>
          <a:lstStyle/>
          <a:p>
            <a:pPr indent="0" marL="0">
              <a:buNone/>
            </a:pPr>
            <a:r>
              <a:rPr lang="en-US" sz="2000" b="1" dirty="0">
                <a:solidFill>
                  <a:schemeClr val="accent1"/>
                </a:solidFill>
              </a:rPr>
              <a:t>Wo Fiori Elements Grenzen hat</a:t>
            </a:r>
            <a:endParaRPr lang="en-US" sz="2000" dirty="0"/>
          </a:p>
        </p:txBody>
      </p:sp>
      <p:sp>
        <p:nvSpPr>
          <p:cNvPr id="12" name="Text 8"/>
          <p:cNvSpPr txBox="1"/>
          <p:nvPr/>
        </p:nvSpPr>
        <p:spPr>
          <a:xfrm>
            <a:off x="6492240" y="2514600"/>
            <a:ext cx="484632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Layout nur im Rahmen der Floorplans</a:t>
            </a:r>
            <a:endParaRPr lang="en-US" sz="1600" dirty="0"/>
          </a:p>
          <a:p>
            <a:pPr marL="342900" indent="-342900">
              <a:spcAft>
                <a:spcPts val="800"/>
              </a:spcAft>
              <a:buSzPct val="100000"/>
              <a:buChar char="•"/>
            </a:pPr>
            <a:r>
              <a:rPr lang="en-US" sz="1600" dirty="0">
                <a:solidFill>
                  <a:schemeClr val="tx1"/>
                </a:solidFill>
              </a:rPr>
              <a:t>Lernkurve: Annotationen, CDS, RAP</a:t>
            </a:r>
            <a:endParaRPr lang="en-US" sz="1600" dirty="0"/>
          </a:p>
          <a:p>
            <a:pPr marL="342900" indent="-342900">
              <a:spcAft>
                <a:spcPts val="800"/>
              </a:spcAft>
              <a:buSzPct val="100000"/>
              <a:buChar char="•"/>
            </a:pPr>
            <a:r>
              <a:rPr lang="en-US" sz="1600" dirty="0">
                <a:solidFill>
                  <a:schemeClr val="tx1"/>
                </a:solidFill>
              </a:rPr>
              <a:t>Sonderwünsche über Flexible Programming Model (Building Blocks, Custom Sections)</a:t>
            </a:r>
            <a:endParaRPr lang="en-US" sz="1600" dirty="0"/>
          </a:p>
          <a:p>
            <a:pPr marL="342900" indent="-342900">
              <a:spcAft>
                <a:spcPts val="800"/>
              </a:spcAft>
              <a:buSzPct val="100000"/>
              <a:buChar char="•"/>
            </a:pPr>
            <a:r>
              <a:rPr lang="en-US" sz="1600" dirty="0">
                <a:solidFill>
                  <a:schemeClr val="tx1"/>
                </a:solidFill>
              </a:rPr>
              <a:t>Braucht ein sauberes OData-/RAP-Modell</a:t>
            </a:r>
            <a:endParaRPr lang="en-US" sz="1600" dirty="0"/>
          </a:p>
        </p:txBody>
      </p:sp>
      <p:sp>
        <p:nvSpPr>
          <p:cNvPr id="13" name="Leitfrage"/>
          <p:cNvSpPr/>
          <p:nvPr/>
        </p:nvSpPr>
        <p:spPr>
          <a:xfrm>
            <a:off x="548640" y="4892040"/>
            <a:ext cx="11064240" cy="1005840"/>
          </a:xfrm>
          <a:prstGeom prst="roundRect">
            <a:avLst>
              <a:gd name="adj" fmla="val 9091"/>
            </a:avLst>
          </a:prstGeom>
          <a:solidFill>
            <a:schemeClr val="tx2"/>
          </a:solidFill>
          <a:ln/>
        </p:spPr>
      </p:sp>
      <p:sp>
        <p:nvSpPr>
          <p:cNvPr id="14" name="Text 10"/>
          <p:cNvSpPr txBox="1"/>
          <p:nvPr/>
        </p:nvSpPr>
        <p:spPr>
          <a:xfrm>
            <a:off x="777240" y="4892040"/>
            <a:ext cx="10607040" cy="1005840"/>
          </a:xfrm>
          <a:prstGeom prst="rect">
            <a:avLst/>
          </a:prstGeom>
          <a:noFill/>
          <a:ln/>
        </p:spPr>
        <p:txBody>
          <a:bodyPr wrap="square" lIns="0" tIns="0" rIns="0" bIns="0" rtlCol="0" anchor="ctr"/>
          <a:lstStyle/>
          <a:p>
            <a:pPr indent="0" marL="0">
              <a:buNone/>
            </a:pPr>
            <a:r>
              <a:rPr lang="en-US" sz="2000" b="1" dirty="0">
                <a:solidFill>
                  <a:schemeClr val="bg1"/>
                </a:solidFill>
              </a:rPr>
              <a:t>Die Frage ist nicht „Kann man das bauen?“, sondern „Wer wartet das die nächsten Jahre?“</a:t>
            </a:r>
            <a:endParaRPr lang="en-US" sz="2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Leitplanke: erst Standard, dann Ausnahme</a:t>
            </a:r>
            <a:endParaRPr lang="en-US" sz="3400" dirty="0"/>
          </a:p>
        </p:txBody>
      </p:sp>
      <p:sp>
        <p:nvSpPr>
          <p:cNvPr id="3" name="Stufe 1"/>
          <p:cNvSpPr/>
          <p:nvPr/>
        </p:nvSpPr>
        <p:spPr>
          <a:xfrm>
            <a:off x="548640" y="1463040"/>
            <a:ext cx="3474720" cy="2743200"/>
          </a:xfrm>
          <a:prstGeom prst="roundRect">
            <a:avLst>
              <a:gd name="adj" fmla="val 4000"/>
            </a:avLst>
          </a:prstGeom>
          <a:solidFill>
            <a:schemeClr val="accent6"/>
          </a:solidFill>
          <a:ln/>
        </p:spPr>
      </p:sp>
      <p:sp>
        <p:nvSpPr>
          <p:cNvPr id="4" name="Stufe 1 Nummer"/>
          <p:cNvSpPr/>
          <p:nvPr/>
        </p:nvSpPr>
        <p:spPr>
          <a:xfrm>
            <a:off x="822960" y="1691640"/>
            <a:ext cx="640080" cy="640080"/>
          </a:xfrm>
          <a:prstGeom prst="ellipse">
            <a:avLst/>
          </a:prstGeom>
          <a:solidFill>
            <a:schemeClr val="accent1"/>
          </a:solidFill>
          <a:ln/>
        </p:spPr>
      </p:sp>
      <p:sp>
        <p:nvSpPr>
          <p:cNvPr id="5" name="Text 3"/>
          <p:cNvSpPr txBox="1"/>
          <p:nvPr/>
        </p:nvSpPr>
        <p:spPr>
          <a:xfrm>
            <a:off x="82296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82296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a:t>
            </a:r>
            <a:endParaRPr lang="en-US" sz="1900" dirty="0"/>
          </a:p>
        </p:txBody>
      </p:sp>
      <p:sp>
        <p:nvSpPr>
          <p:cNvPr id="7" name="Text 5"/>
          <p:cNvSpPr txBox="1"/>
          <p:nvPr/>
        </p:nvSpPr>
        <p:spPr>
          <a:xfrm>
            <a:off x="82296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mit RAP im Backend. Deckt Liste, Detail, Bearbeiten und Analyse ab.</a:t>
            </a:r>
            <a:endParaRPr lang="en-US" sz="1500" dirty="0"/>
          </a:p>
        </p:txBody>
      </p:sp>
      <p:sp>
        <p:nvSpPr>
          <p:cNvPr id="8" name="Pfeil 1"/>
          <p:cNvSpPr/>
          <p:nvPr/>
        </p:nvSpPr>
        <p:spPr>
          <a:xfrm>
            <a:off x="4050792" y="2606040"/>
            <a:ext cx="274320" cy="457200"/>
          </a:xfrm>
          <a:prstGeom prst="rightArrow">
            <a:avLst/>
          </a:prstGeom>
          <a:solidFill>
            <a:schemeClr val="accent4"/>
          </a:solidFill>
          <a:ln/>
        </p:spPr>
      </p:sp>
      <p:sp>
        <p:nvSpPr>
          <p:cNvPr id="9" name="Stufe 2"/>
          <p:cNvSpPr/>
          <p:nvPr/>
        </p:nvSpPr>
        <p:spPr>
          <a:xfrm>
            <a:off x="4343400" y="1463040"/>
            <a:ext cx="3474720" cy="2743200"/>
          </a:xfrm>
          <a:prstGeom prst="roundRect">
            <a:avLst>
              <a:gd name="adj" fmla="val 4000"/>
            </a:avLst>
          </a:prstGeom>
          <a:solidFill>
            <a:schemeClr val="accent6"/>
          </a:solidFill>
          <a:ln/>
        </p:spPr>
      </p:sp>
      <p:sp>
        <p:nvSpPr>
          <p:cNvPr id="10" name="Stufe 2 Nummer"/>
          <p:cNvSpPr/>
          <p:nvPr/>
        </p:nvSpPr>
        <p:spPr>
          <a:xfrm>
            <a:off x="4617720" y="1691640"/>
            <a:ext cx="640080" cy="640080"/>
          </a:xfrm>
          <a:prstGeom prst="ellipse">
            <a:avLst/>
          </a:prstGeom>
          <a:solidFill>
            <a:schemeClr val="accent1"/>
          </a:solidFill>
          <a:ln/>
        </p:spPr>
      </p:sp>
      <p:sp>
        <p:nvSpPr>
          <p:cNvPr id="11" name="Text 9"/>
          <p:cNvSpPr txBox="1"/>
          <p:nvPr/>
        </p:nvSpPr>
        <p:spPr>
          <a:xfrm>
            <a:off x="461772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 10"/>
          <p:cNvSpPr txBox="1"/>
          <p:nvPr/>
        </p:nvSpPr>
        <p:spPr>
          <a:xfrm>
            <a:off x="4617720" y="2468880"/>
            <a:ext cx="2926080" cy="457200"/>
          </a:xfrm>
          <a:prstGeom prst="rect">
            <a:avLst/>
          </a:prstGeom>
          <a:noFill/>
          <a:ln/>
        </p:spPr>
        <p:txBody>
          <a:bodyPr wrap="square" lIns="0" tIns="0" rIns="0" bIns="0" rtlCol="0" anchor="ctr"/>
          <a:lstStyle/>
          <a:p>
            <a:pPr indent="0" marL="0">
              <a:buNone/>
            </a:pPr>
            <a:r>
              <a:rPr lang="en-US" sz="1900" b="1" dirty="0">
                <a:solidFill>
                  <a:schemeClr val="accent1"/>
                </a:solidFill>
              </a:rPr>
              <a:t>Fiori Elements + Erweiterung</a:t>
            </a:r>
            <a:endParaRPr lang="en-US" sz="1900" dirty="0"/>
          </a:p>
        </p:txBody>
      </p:sp>
      <p:sp>
        <p:nvSpPr>
          <p:cNvPr id="13" name="Text 11"/>
          <p:cNvSpPr txBox="1"/>
          <p:nvPr/>
        </p:nvSpPr>
        <p:spPr>
          <a:xfrm>
            <a:off x="461772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Flexible Programming Model: eigene Abschnitte und Bausteine, wo nötig.</a:t>
            </a:r>
            <a:endParaRPr lang="en-US" sz="1500" dirty="0"/>
          </a:p>
        </p:txBody>
      </p:sp>
      <p:sp>
        <p:nvSpPr>
          <p:cNvPr id="14" name="Pfeil 2"/>
          <p:cNvSpPr/>
          <p:nvPr/>
        </p:nvSpPr>
        <p:spPr>
          <a:xfrm>
            <a:off x="7845552" y="2606040"/>
            <a:ext cx="274320" cy="457200"/>
          </a:xfrm>
          <a:prstGeom prst="rightArrow">
            <a:avLst/>
          </a:prstGeom>
          <a:solidFill>
            <a:schemeClr val="accent4"/>
          </a:solidFill>
          <a:ln/>
        </p:spPr>
      </p:sp>
      <p:sp>
        <p:nvSpPr>
          <p:cNvPr id="15" name="Stufe 3"/>
          <p:cNvSpPr/>
          <p:nvPr/>
        </p:nvSpPr>
        <p:spPr>
          <a:xfrm>
            <a:off x="8138160" y="1463040"/>
            <a:ext cx="3474720" cy="2743200"/>
          </a:xfrm>
          <a:prstGeom prst="roundRect">
            <a:avLst>
              <a:gd name="adj" fmla="val 4000"/>
            </a:avLst>
          </a:prstGeom>
          <a:solidFill>
            <a:schemeClr val="accent5"/>
          </a:solidFill>
          <a:ln/>
        </p:spPr>
      </p:sp>
      <p:sp>
        <p:nvSpPr>
          <p:cNvPr id="16" name="Stufe 3 Nummer"/>
          <p:cNvSpPr/>
          <p:nvPr/>
        </p:nvSpPr>
        <p:spPr>
          <a:xfrm>
            <a:off x="8412480" y="1691640"/>
            <a:ext cx="640080" cy="640080"/>
          </a:xfrm>
          <a:prstGeom prst="ellipse">
            <a:avLst/>
          </a:prstGeom>
          <a:solidFill>
            <a:schemeClr val="accent2"/>
          </a:solidFill>
          <a:ln/>
        </p:spPr>
      </p:sp>
      <p:sp>
        <p:nvSpPr>
          <p:cNvPr id="17" name="Text 15"/>
          <p:cNvSpPr txBox="1"/>
          <p:nvPr/>
        </p:nvSpPr>
        <p:spPr>
          <a:xfrm>
            <a:off x="841248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Text 16"/>
          <p:cNvSpPr txBox="1"/>
          <p:nvPr/>
        </p:nvSpPr>
        <p:spPr>
          <a:xfrm>
            <a:off x="8412480" y="2468880"/>
            <a:ext cx="2926080" cy="457200"/>
          </a:xfrm>
          <a:prstGeom prst="rect">
            <a:avLst/>
          </a:prstGeom>
          <a:noFill/>
          <a:ln/>
        </p:spPr>
        <p:txBody>
          <a:bodyPr wrap="square" lIns="0" tIns="0" rIns="0" bIns="0" rtlCol="0" anchor="ctr"/>
          <a:lstStyle/>
          <a:p>
            <a:pPr indent="0" marL="0">
              <a:buNone/>
            </a:pPr>
            <a:r>
              <a:rPr lang="en-US" sz="1900" b="1" dirty="0">
                <a:solidFill>
                  <a:schemeClr val="accent2"/>
                </a:solidFill>
              </a:rPr>
              <a:t>SAPUI5 Freestyle</a:t>
            </a:r>
            <a:endParaRPr lang="en-US" sz="1900" dirty="0"/>
          </a:p>
        </p:txBody>
      </p:sp>
      <p:sp>
        <p:nvSpPr>
          <p:cNvPr id="19" name="Text 17"/>
          <p:cNvSpPr txBox="1"/>
          <p:nvPr/>
        </p:nvSpPr>
        <p:spPr>
          <a:xfrm>
            <a:off x="8412480" y="2971800"/>
            <a:ext cx="2926080" cy="1097280"/>
          </a:xfrm>
          <a:prstGeom prst="rect">
            <a:avLst/>
          </a:prstGeom>
          <a:noFill/>
          <a:ln/>
        </p:spPr>
        <p:txBody>
          <a:bodyPr wrap="square" lIns="0" tIns="0" rIns="0" bIns="0" rtlCol="0" anchor="t"/>
          <a:lstStyle/>
          <a:p>
            <a:pPr indent="0" marL="0">
              <a:buNone/>
            </a:pPr>
            <a:r>
              <a:rPr lang="en-US" sz="1500" dirty="0">
                <a:solidFill>
                  <a:schemeClr val="tx1"/>
                </a:solidFill>
              </a:rPr>
              <a:t>nur mit Begründung, verantwortlichem Owner und Wartungsbudget.</a:t>
            </a:r>
            <a:endParaRPr lang="en-US" sz="1500" dirty="0"/>
          </a:p>
        </p:txBody>
      </p:sp>
      <p:sp>
        <p:nvSpPr>
          <p:cNvPr id="20" name="Text 18"/>
          <p:cNvSpPr txBox="1"/>
          <p:nvPr/>
        </p:nvSpPr>
        <p:spPr>
          <a:xfrm>
            <a:off x="548640" y="4526280"/>
            <a:ext cx="11064240" cy="411480"/>
          </a:xfrm>
          <a:prstGeom prst="rect">
            <a:avLst/>
          </a:prstGeom>
          <a:noFill/>
          <a:ln/>
        </p:spPr>
        <p:txBody>
          <a:bodyPr wrap="square" lIns="0" tIns="0" rIns="0" bIns="0" rtlCol="0" anchor="ctr"/>
          <a:lstStyle/>
          <a:p>
            <a:pPr indent="0" marL="0">
              <a:buNone/>
            </a:pPr>
            <a:r>
              <a:rPr lang="en-US" sz="1800" b="1" dirty="0">
                <a:solidFill>
                  <a:schemeClr val="tx1"/>
                </a:solidFill>
              </a:rPr>
              <a:t>Prüffragen vor jeder Freestyle-Entscheidung</a:t>
            </a:r>
            <a:endParaRPr lang="en-US" sz="1800" dirty="0"/>
          </a:p>
        </p:txBody>
      </p:sp>
      <p:sp>
        <p:nvSpPr>
          <p:cNvPr id="21" name="Text 19"/>
          <p:cNvSpPr txBox="1"/>
          <p:nvPr/>
        </p:nvSpPr>
        <p:spPr>
          <a:xfrm>
            <a:off x="54864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Passt die Anforderung wirklich in keinen Floorplan?</a:t>
            </a:r>
            <a:endParaRPr lang="en-US" sz="1500" dirty="0"/>
          </a:p>
        </p:txBody>
      </p:sp>
      <p:sp>
        <p:nvSpPr>
          <p:cNvPr id="22" name="Text 20"/>
          <p:cNvSpPr txBox="1"/>
          <p:nvPr/>
        </p:nvSpPr>
        <p:spPr>
          <a:xfrm>
            <a:off x="434340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Wer verantwortet Updates, Tests und Upgrades?</a:t>
            </a:r>
            <a:endParaRPr lang="en-US" sz="1500" dirty="0"/>
          </a:p>
        </p:txBody>
      </p:sp>
      <p:sp>
        <p:nvSpPr>
          <p:cNvPr id="23" name="Text 21"/>
          <p:cNvSpPr txBox="1"/>
          <p:nvPr/>
        </p:nvSpPr>
        <p:spPr>
          <a:xfrm>
            <a:off x="8138160" y="5029200"/>
            <a:ext cx="3474720" cy="914400"/>
          </a:xfrm>
          <a:prstGeom prst="rect">
            <a:avLst/>
          </a:prstGeom>
          <a:noFill/>
          <a:ln/>
        </p:spPr>
        <p:txBody>
          <a:bodyPr wrap="square" lIns="0" tIns="0" rIns="0" bIns="0" rtlCol="0" anchor="t"/>
          <a:lstStyle/>
          <a:p>
            <a:pPr indent="0" marL="0">
              <a:buNone/>
            </a:pPr>
            <a:r>
              <a:rPr lang="en-US" sz="1500" dirty="0">
                <a:solidFill>
                  <a:schemeClr val="tx1"/>
                </a:solidFill>
              </a:rPr>
              <a:t>Ist der Wartungsaufwand für die nächsten Jahre eingeplant?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766560" cy="2011680"/>
          </a:xfrm>
          <a:prstGeom prst="rect">
            <a:avLst/>
          </a:prstGeom>
          <a:noFill/>
          <a:ln/>
        </p:spPr>
        <p:txBody>
          <a:bodyPr wrap="square" lIns="0" tIns="0" rIns="0" bIns="0" rtlCol="0" anchor="b"/>
          <a:lstStyle/>
          <a:p>
            <a:pPr algn="l" indent="0" marL="0">
              <a:buNone/>
            </a:pPr>
            <a:r>
              <a:rPr lang="en-US" sz="4800" b="1" dirty="0">
                <a:solidFill>
                  <a:schemeClr val="bg1"/>
                </a:solidFill>
              </a:rPr>
              <a:t>Nicht jede Anforderung bedeutet SAPUI5</a:t>
            </a:r>
            <a:endParaRPr lang="en-US" sz="4800" dirty="0"/>
          </a:p>
        </p:txBody>
      </p:sp>
      <p:sp>
        <p:nvSpPr>
          <p:cNvPr id="3" name="Text 0"/>
          <p:cNvSpPr/>
          <p:nvPr>
            <p:ph idx="101" type="body" hasCustomPrompt="1"/>
          </p:nvPr>
        </p:nvSpPr>
        <p:spPr>
          <a:xfrm>
            <a:off x="731520" y="3977640"/>
            <a:ext cx="6766560" cy="1371600"/>
          </a:xfrm>
          <a:prstGeom prst="rect">
            <a:avLst/>
          </a:prstGeom>
          <a:noFill/>
          <a:ln/>
        </p:spPr>
        <p:txBody>
          <a:bodyPr wrap="square" lIns="0" tIns="0" rIns="0" bIns="0" rtlCol="0" anchor="t"/>
          <a:lstStyle/>
          <a:p>
            <a:pPr indent="0" marL="0">
              <a:buNone/>
            </a:pPr>
            <a:r>
              <a:rPr lang="en-US" sz="2200" dirty="0">
                <a:solidFill>
                  <a:schemeClr val="accent6"/>
                </a:solidFill>
              </a:rPr>
              <a:t>Fiori Elements ist der Standard, Freestyle die bewusste Ausnahme.</a:t>
            </a:r>
            <a:endParaRPr lang="en-US" sz="2200" dirty="0"/>
          </a:p>
        </p:txBody>
      </p:sp>
      <p:sp>
        <p:nvSpPr>
          <p:cNvPr id="4" name="Text 2"/>
          <p:cNvSpPr txBox="1"/>
          <p:nvPr/>
        </p:nvSpPr>
        <p:spPr>
          <a:xfrm>
            <a:off x="8138160" y="1554480"/>
            <a:ext cx="3474720" cy="457200"/>
          </a:xfrm>
          <a:prstGeom prst="rect">
            <a:avLst/>
          </a:prstGeom>
          <a:noFill/>
          <a:ln/>
        </p:spPr>
        <p:txBody>
          <a:bodyPr wrap="square" lIns="0" tIns="0" rIns="0" bIns="0" rtlCol="0" anchor="ctr"/>
          <a:lstStyle/>
          <a:p>
            <a:pPr indent="0" marL="0">
              <a:buNone/>
            </a:pPr>
            <a:r>
              <a:rPr lang="en-US" sz="2000" b="1" dirty="0">
                <a:solidFill>
                  <a:schemeClr val="bg1"/>
                </a:solidFill>
              </a:rPr>
              <a:t>Nächste Schritte</a:t>
            </a:r>
            <a:endParaRPr lang="en-US" sz="2000" dirty="0"/>
          </a:p>
        </p:txBody>
      </p:sp>
      <p:sp>
        <p:nvSpPr>
          <p:cNvPr id="5" name="Schritt 1"/>
          <p:cNvSpPr/>
          <p:nvPr/>
        </p:nvSpPr>
        <p:spPr>
          <a:xfrm>
            <a:off x="8138160" y="2194560"/>
            <a:ext cx="502920" cy="502920"/>
          </a:xfrm>
          <a:prstGeom prst="ellipse">
            <a:avLst/>
          </a:prstGeom>
          <a:solidFill>
            <a:schemeClr val="accent1"/>
          </a:solidFill>
          <a:ln/>
        </p:spPr>
      </p:sp>
      <p:sp>
        <p:nvSpPr>
          <p:cNvPr id="6" name="Text 4"/>
          <p:cNvSpPr txBox="1"/>
          <p:nvPr/>
        </p:nvSpPr>
        <p:spPr>
          <a:xfrm>
            <a:off x="813816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8823960" y="21488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Fiori Elements + RAP als Standard festlegen</a:t>
            </a:r>
            <a:endParaRPr lang="en-US" sz="1500" dirty="0"/>
          </a:p>
        </p:txBody>
      </p:sp>
      <p:sp>
        <p:nvSpPr>
          <p:cNvPr id="8" name="Schritt 2"/>
          <p:cNvSpPr/>
          <p:nvPr/>
        </p:nvSpPr>
        <p:spPr>
          <a:xfrm>
            <a:off x="8138160" y="3108960"/>
            <a:ext cx="502920" cy="502920"/>
          </a:xfrm>
          <a:prstGeom prst="ellipse">
            <a:avLst/>
          </a:prstGeom>
          <a:solidFill>
            <a:schemeClr val="accent2"/>
          </a:solidFill>
          <a:ln/>
        </p:spPr>
      </p:sp>
      <p:sp>
        <p:nvSpPr>
          <p:cNvPr id="9" name="Text 7"/>
          <p:cNvSpPr txBox="1"/>
          <p:nvPr/>
        </p:nvSpPr>
        <p:spPr>
          <a:xfrm>
            <a:off x="8138160" y="31089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8823960" y="3063240"/>
            <a:ext cx="2834640" cy="685800"/>
          </a:xfrm>
          <a:prstGeom prst="rect">
            <a:avLst/>
          </a:prstGeom>
          <a:noFill/>
          <a:ln/>
        </p:spPr>
        <p:txBody>
          <a:bodyPr wrap="square" lIns="0" tIns="0" rIns="0" bIns="0" rtlCol="0" anchor="ctr"/>
          <a:lstStyle/>
          <a:p>
            <a:pPr indent="0" marL="0">
              <a:buNone/>
            </a:pPr>
            <a:r>
              <a:rPr lang="en-US" sz="1500" dirty="0">
                <a:solidFill>
                  <a:schemeClr val="bg1"/>
                </a:solidFill>
              </a:rPr>
              <a:t>Freestyle nur nach kurzem Architektur-Check</a:t>
            </a:r>
            <a:endParaRPr lang="en-US" sz="1500" dirty="0"/>
          </a:p>
        </p:txBody>
      </p:sp>
      <p:sp>
        <p:nvSpPr>
          <p:cNvPr id="11" name="Schritt 3"/>
          <p:cNvSpPr/>
          <p:nvPr/>
        </p:nvSpPr>
        <p:spPr>
          <a:xfrm>
            <a:off x="8138160" y="4023360"/>
            <a:ext cx="502920" cy="502920"/>
          </a:xfrm>
          <a:prstGeom prst="ellipse">
            <a:avLst/>
          </a:prstGeom>
          <a:solidFill>
            <a:schemeClr val="accent2"/>
          </a:solidFill>
          <a:ln/>
        </p:spPr>
      </p:sp>
      <p:sp>
        <p:nvSpPr>
          <p:cNvPr id="12" name="Text 10"/>
          <p:cNvSpPr txBox="1"/>
          <p:nvPr/>
        </p:nvSpPr>
        <p:spPr>
          <a:xfrm>
            <a:off x="8138160"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8823960" y="3977640"/>
            <a:ext cx="2834640" cy="685800"/>
          </a:xfrm>
          <a:prstGeom prst="rect">
            <a:avLst/>
          </a:prstGeom>
          <a:noFill/>
          <a:ln/>
        </p:spPr>
        <p:txBody>
          <a:bodyPr wrap="square" lIns="0" tIns="0" rIns="0" bIns="0" rtlCol="0" anchor="ctr"/>
          <a:lstStyle/>
          <a:p>
            <a:pPr indent="0" marL="0">
              <a:buNone/>
            </a:pPr>
            <a:r>
              <a:rPr lang="en-US" sz="1500" dirty="0">
                <a:solidFill>
                  <a:schemeClr val="bg1"/>
                </a:solidFill>
              </a:rPr>
              <a:t>Wartungsbudget je Freestyle-App einplanen</a:t>
            </a:r>
            <a:endParaRPr lang="en-US" sz="1500" dirty="0"/>
          </a:p>
        </p:txBody>
      </p:sp>
      <p:sp>
        <p:nvSpPr>
          <p:cNvPr id="14" name="Schritt 4"/>
          <p:cNvSpPr/>
          <p:nvPr/>
        </p:nvSpPr>
        <p:spPr>
          <a:xfrm>
            <a:off x="8138160" y="4937760"/>
            <a:ext cx="502920" cy="502920"/>
          </a:xfrm>
          <a:prstGeom prst="ellipse">
            <a:avLst/>
          </a:prstGeom>
          <a:solidFill>
            <a:schemeClr val="accent1"/>
          </a:solidFill>
          <a:ln/>
        </p:spPr>
      </p:sp>
      <p:sp>
        <p:nvSpPr>
          <p:cNvPr id="15" name="Text 13"/>
          <p:cNvSpPr txBox="1"/>
          <p:nvPr/>
        </p:nvSpPr>
        <p:spPr>
          <a:xfrm>
            <a:off x="8138160" y="4937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6" name="Text 14"/>
          <p:cNvSpPr txBox="1"/>
          <p:nvPr/>
        </p:nvSpPr>
        <p:spPr>
          <a:xfrm>
            <a:off x="8823960" y="4892040"/>
            <a:ext cx="2834640" cy="685800"/>
          </a:xfrm>
          <a:prstGeom prst="rect">
            <a:avLst/>
          </a:prstGeom>
          <a:noFill/>
          <a:ln/>
        </p:spPr>
        <p:txBody>
          <a:bodyPr wrap="square" lIns="0" tIns="0" rIns="0" bIns="0" rtlCol="0" anchor="ctr"/>
          <a:lstStyle/>
          <a:p>
            <a:pPr indent="0" marL="0">
              <a:buNone/>
            </a:pPr>
            <a:r>
              <a:rPr lang="en-US" sz="1500" dirty="0">
                <a:solidFill>
                  <a:schemeClr val="bg1"/>
                </a:solidFill>
              </a:rPr>
              <a:t>Know-how in RAP &amp; Annotationen aufbauen</a:t>
            </a:r>
            <a:endParaRPr lang="en-US" sz="1500" dirty="0"/>
          </a:p>
        </p:txBody>
      </p:sp>
    </p:spTree>
  </p:cSld>
  <p:clrMapOvr>
    <a:masterClrMapping/>
  </p:clrMapOvr>
</p:sld>
</file>

<file path=ppt/theme/theme1.xml><?xml version="1.0" encoding="utf-8"?>
<a:theme xmlns:a="http://schemas.openxmlformats.org/drawingml/2006/main" name="Fiori Klartext">
  <a:themeElements>
    <a:clrScheme name="Fiori Klartext">
      <a:dk1>
        <a:srgbClr val="1B2B34"/>
      </a:dk1>
      <a:lt1>
        <a:srgbClr val="FFFFFF"/>
      </a:lt1>
      <a:dk2>
        <a:srgbClr val="0B3C49"/>
      </a:dk2>
      <a:lt2>
        <a:srgbClr val="EEF4F5"/>
      </a:lt2>
      <a:accent1>
        <a:srgbClr val="1F8A70"/>
      </a:accent1>
      <a:accent2>
        <a:srgbClr val="D9661F"/>
      </a:accent2>
      <a:accent3>
        <a:srgbClr val="0B3C49"/>
      </a:accent3>
      <a:accent4>
        <a:srgbClr val="5E727B"/>
      </a:accent4>
      <a:accent5>
        <a:srgbClr val="FBEBDD"/>
      </a:accent5>
      <a:accent6>
        <a:srgbClr val="DDF0EA"/>
      </a:accent6>
      <a:hlink>
        <a:srgbClr val="1F8A70"/>
      </a:hlink>
      <a:folHlink>
        <a:srgbClr val="5E727B"/>
      </a:folHlink>
    </a:clrScheme>
    <a:fontScheme name="Fiori Klartex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Fiori ist nicht gleich Fiori</dc:title>
  <dc:subject>PptxGenJS Presentation</dc:subject>
  <dc:creator>PptxGenJS</dc:creator>
  <cp:lastModifiedBy>PptxGenJS</cp:lastModifiedBy>
  <cp:revision>1</cp:revision>
  <dcterms:created xsi:type="dcterms:W3CDTF">2026-10-15T21:10:11Z</dcterms:created>
  <dcterms:modified xsi:type="dcterms:W3CDTF">2026-10-15T21:10:11Z</dcterms:modified>
</cp:coreProperties>
</file>